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0" r:id="rId2"/>
    <p:sldId id="266" r:id="rId3"/>
    <p:sldId id="293" r:id="rId4"/>
    <p:sldId id="289" r:id="rId5"/>
    <p:sldId id="275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14" d="100"/>
          <a:sy n="114" d="100"/>
        </p:scale>
        <p:origin x="-155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E1A40-7F20-40D9-83A5-50069CCB18E6}" type="datetimeFigureOut">
              <a:rPr lang="ko-KR" altLang="en-US" smtClean="0"/>
              <a:pPr/>
              <a:t>2015-04-02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E56C0B-1B00-40FC-BF00-95068B1B6C5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7B6D-6C18-4DF1-8C7A-315B8D9140AC}" type="datetimeFigureOut">
              <a:rPr lang="ko-KR" altLang="en-US" smtClean="0"/>
              <a:pPr/>
              <a:t>2015-04-02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432D-A0DC-4E58-9460-76B4786C75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7B6D-6C18-4DF1-8C7A-315B8D9140AC}" type="datetimeFigureOut">
              <a:rPr lang="ko-KR" altLang="en-US" smtClean="0"/>
              <a:pPr/>
              <a:t>2015-04-02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432D-A0DC-4E58-9460-76B4786C75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7B6D-6C18-4DF1-8C7A-315B8D9140AC}" type="datetimeFigureOut">
              <a:rPr lang="ko-KR" altLang="en-US" smtClean="0"/>
              <a:pPr/>
              <a:t>2015-04-02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432D-A0DC-4E58-9460-76B4786C75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7B6D-6C18-4DF1-8C7A-315B8D9140AC}" type="datetimeFigureOut">
              <a:rPr lang="ko-KR" altLang="en-US" smtClean="0"/>
              <a:pPr/>
              <a:t>2015-04-02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432D-A0DC-4E58-9460-76B4786C75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7B6D-6C18-4DF1-8C7A-315B8D9140AC}" type="datetimeFigureOut">
              <a:rPr lang="ko-KR" altLang="en-US" smtClean="0"/>
              <a:pPr/>
              <a:t>2015-04-02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432D-A0DC-4E58-9460-76B4786C75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7B6D-6C18-4DF1-8C7A-315B8D9140AC}" type="datetimeFigureOut">
              <a:rPr lang="ko-KR" altLang="en-US" smtClean="0"/>
              <a:pPr/>
              <a:t>2015-04-02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432D-A0DC-4E58-9460-76B4786C75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7B6D-6C18-4DF1-8C7A-315B8D9140AC}" type="datetimeFigureOut">
              <a:rPr lang="ko-KR" altLang="en-US" smtClean="0"/>
              <a:pPr/>
              <a:t>2015-04-02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432D-A0DC-4E58-9460-76B4786C75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7B6D-6C18-4DF1-8C7A-315B8D9140AC}" type="datetimeFigureOut">
              <a:rPr lang="ko-KR" altLang="en-US" smtClean="0"/>
              <a:pPr/>
              <a:t>2015-04-02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432D-A0DC-4E58-9460-76B4786C75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7B6D-6C18-4DF1-8C7A-315B8D9140AC}" type="datetimeFigureOut">
              <a:rPr lang="ko-KR" altLang="en-US" smtClean="0"/>
              <a:pPr/>
              <a:t>2015-04-02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432D-A0DC-4E58-9460-76B4786C75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7B6D-6C18-4DF1-8C7A-315B8D9140AC}" type="datetimeFigureOut">
              <a:rPr lang="ko-KR" altLang="en-US" smtClean="0"/>
              <a:pPr/>
              <a:t>2015-04-02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432D-A0DC-4E58-9460-76B4786C75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17B6D-6C18-4DF1-8C7A-315B8D9140AC}" type="datetimeFigureOut">
              <a:rPr lang="ko-KR" altLang="en-US" smtClean="0"/>
              <a:pPr/>
              <a:t>2015-04-02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ED432D-A0DC-4E58-9460-76B4786C75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일반페이지">
    <p:bg>
      <p:bgPr>
        <a:gradFill flip="none" rotWithShape="1">
          <a:gsLst>
            <a:gs pos="0">
              <a:schemeClr val="bg1">
                <a:tint val="40000"/>
                <a:satMod val="350000"/>
              </a:schemeClr>
            </a:gs>
            <a:gs pos="65000">
              <a:schemeClr val="bg1"/>
            </a:gs>
            <a:gs pos="100000">
              <a:srgbClr val="DCDDDE"/>
            </a:gs>
          </a:gsLst>
          <a:lin ang="17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 bwMode="auto">
          <a:xfrm>
            <a:off x="360539" y="142876"/>
            <a:ext cx="8303811" cy="760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2400" b="1" baseline="0">
                <a:solidFill>
                  <a:schemeClr val="accent6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353617" y="1035844"/>
            <a:ext cx="8303493" cy="973336"/>
          </a:xfrm>
        </p:spPr>
        <p:txBody>
          <a:bodyPr/>
          <a:lstStyle>
            <a:lvl1pPr>
              <a:buClr>
                <a:schemeClr val="accent6">
                  <a:lumMod val="75000"/>
                  <a:lumOff val="25000"/>
                </a:schemeClr>
              </a:buClr>
              <a:defRPr sz="1600" baseline="0"/>
            </a:lvl1pPr>
            <a:lvl2pPr>
              <a:buClr>
                <a:srgbClr val="FF0000"/>
              </a:buClr>
              <a:defRPr sz="1400" baseline="0"/>
            </a:lvl2pPr>
            <a:lvl3pPr>
              <a:buClr>
                <a:srgbClr val="00B050"/>
              </a:buClr>
              <a:defRPr sz="1200"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6996403" y="6479354"/>
            <a:ext cx="2133078" cy="365001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0BBF4-2688-4489-8EB0-D33F1478656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cxnSp>
        <p:nvCxnSpPr>
          <p:cNvPr id="14" name="Straight Connector 5"/>
          <p:cNvCxnSpPr/>
          <p:nvPr userDrawn="1"/>
        </p:nvCxnSpPr>
        <p:spPr>
          <a:xfrm>
            <a:off x="362609" y="895524"/>
            <a:ext cx="8308413" cy="0"/>
          </a:xfrm>
          <a:prstGeom prst="line">
            <a:avLst/>
          </a:prstGeom>
          <a:ln>
            <a:solidFill>
              <a:schemeClr val="accent1">
                <a:shade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 userDrawn="1"/>
        </p:nvSpPr>
        <p:spPr>
          <a:xfrm>
            <a:off x="3239372" y="6524368"/>
            <a:ext cx="2243226" cy="333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7" name="Picture 3" descr="C:\Users\sunwoong\Desktop\각종 서류\logo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37595" y="6471811"/>
            <a:ext cx="737603" cy="283728"/>
          </a:xfrm>
          <a:prstGeom prst="rect">
            <a:avLst/>
          </a:prstGeom>
          <a:noFill/>
        </p:spPr>
      </p:pic>
      <p:grpSp>
        <p:nvGrpSpPr>
          <p:cNvPr id="2" name="그룹 15"/>
          <p:cNvGrpSpPr/>
          <p:nvPr userDrawn="1"/>
        </p:nvGrpSpPr>
        <p:grpSpPr>
          <a:xfrm>
            <a:off x="6801162" y="582706"/>
            <a:ext cx="1803152" cy="243698"/>
            <a:chOff x="397801" y="6323101"/>
            <a:chExt cx="2719964" cy="339328"/>
          </a:xfrm>
        </p:grpSpPr>
        <p:pic>
          <p:nvPicPr>
            <p:cNvPr id="8" name="Picture 6" descr="automate-icon.png"/>
            <p:cNvPicPr>
              <a:picLocks noChangeAspect="1"/>
            </p:cNvPicPr>
            <p:nvPr userDrawn="1"/>
          </p:nvPicPr>
          <p:blipFill>
            <a:blip r:embed="rId3" cstate="print"/>
            <a:stretch>
              <a:fillRect/>
            </a:stretch>
          </p:blipFill>
          <p:spPr>
            <a:xfrm>
              <a:off x="397801" y="6328124"/>
              <a:ext cx="403952" cy="3343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7" descr="cloud-icon.png"/>
            <p:cNvPicPr>
              <a:picLocks noChangeAspect="1"/>
            </p:cNvPicPr>
            <p:nvPr userDrawn="1"/>
          </p:nvPicPr>
          <p:blipFill>
            <a:blip r:embed="rId4" cstate="print"/>
            <a:stretch>
              <a:fillRect/>
            </a:stretch>
          </p:blipFill>
          <p:spPr>
            <a:xfrm>
              <a:off x="2135983" y="6439559"/>
              <a:ext cx="403952" cy="2228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" name="Picture 8" descr="tibbr-icon.png"/>
            <p:cNvPicPr>
              <a:picLocks noChangeAspect="1"/>
            </p:cNvPicPr>
            <p:nvPr userDrawn="1"/>
          </p:nvPicPr>
          <p:blipFill>
            <a:blip r:embed="rId5" cstate="print"/>
            <a:stretch>
              <a:fillRect/>
            </a:stretch>
          </p:blipFill>
          <p:spPr>
            <a:xfrm>
              <a:off x="2713813" y="6409557"/>
              <a:ext cx="403952" cy="2528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" name="Picture 9" descr="events.png"/>
            <p:cNvPicPr>
              <a:picLocks noChangeAspect="1"/>
            </p:cNvPicPr>
            <p:nvPr userDrawn="1"/>
          </p:nvPicPr>
          <p:blipFill>
            <a:blip r:embed="rId6" cstate="print"/>
            <a:stretch>
              <a:fillRect/>
            </a:stretch>
          </p:blipFill>
          <p:spPr>
            <a:xfrm>
              <a:off x="975629" y="6323101"/>
              <a:ext cx="406301" cy="3393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" name="Picture 10" descr="analytics.png"/>
            <p:cNvPicPr>
              <a:picLocks noChangeAspect="1"/>
            </p:cNvPicPr>
            <p:nvPr userDrawn="1"/>
          </p:nvPicPr>
          <p:blipFill>
            <a:blip r:embed="rId7" cstate="print"/>
            <a:stretch>
              <a:fillRect/>
            </a:stretch>
          </p:blipFill>
          <p:spPr>
            <a:xfrm>
              <a:off x="1555806" y="6323101"/>
              <a:ext cx="406301" cy="3393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흰색_뒷장표지_출력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D22F154-490D-45D5-A20C-E50D83C641B0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4" name="Picture 4" descr="tibco-logo-whit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63603" y="3191248"/>
            <a:ext cx="2216795" cy="4755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0" descr="e3-icon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35510" y="4225975"/>
            <a:ext cx="540246" cy="531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2" descr="two-second-icon.png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94574" y="4202535"/>
            <a:ext cx="312539" cy="506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8" descr="automate-icon.pn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3278279" y="4372523"/>
            <a:ext cx="372879" cy="334305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</p:spPr>
      </p:pic>
      <p:pic>
        <p:nvPicPr>
          <p:cNvPr id="8" name="Picture 9" descr="cloud-icon.png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4882755" y="4483957"/>
            <a:ext cx="372879" cy="222870"/>
          </a:xfrm>
          <a:prstGeom prst="rect">
            <a:avLst/>
          </a:prstGeom>
          <a:effectLst>
            <a:reflection blurRad="6350" stA="50000" endA="275" endPos="40000" dist="101600" dir="5400000" sy="-100000" algn="bl" rotWithShape="0"/>
          </a:effectLst>
        </p:spPr>
      </p:pic>
      <p:pic>
        <p:nvPicPr>
          <p:cNvPr id="9" name="Picture 10" descr="tibbr-icon.png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5416136" y="4453955"/>
            <a:ext cx="372879" cy="252872"/>
          </a:xfrm>
          <a:prstGeom prst="rect">
            <a:avLst/>
          </a:prstGeom>
          <a:effectLst>
            <a:reflection blurRad="6350" stA="50000" endA="300" endPos="38500" dist="50800" dir="5400000" sy="-100000" algn="bl" rotWithShape="0"/>
          </a:effectLst>
        </p:spPr>
      </p:pic>
      <p:pic>
        <p:nvPicPr>
          <p:cNvPr id="10" name="Picture 12" descr="events.png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3811659" y="4367499"/>
            <a:ext cx="375047" cy="339328"/>
          </a:xfrm>
          <a:prstGeom prst="rect">
            <a:avLst/>
          </a:prstGeom>
          <a:effectLst>
            <a:reflection stA="50000" endPos="40000" dist="38100" dir="5400000" sy="-100000" algn="bl" rotWithShape="0"/>
          </a:effectLst>
        </p:spPr>
      </p:pic>
      <p:pic>
        <p:nvPicPr>
          <p:cNvPr id="11" name="Picture 13" descr="analytics.png"/>
          <p:cNvPicPr>
            <a:picLocks noChangeAspect="1"/>
          </p:cNvPicPr>
          <p:nvPr userDrawn="1"/>
        </p:nvPicPr>
        <p:blipFill>
          <a:blip r:embed="rId9" cstate="print"/>
          <a:stretch>
            <a:fillRect/>
          </a:stretch>
        </p:blipFill>
        <p:spPr>
          <a:xfrm>
            <a:off x="4347207" y="4367499"/>
            <a:ext cx="375047" cy="339328"/>
          </a:xfrm>
          <a:prstGeom prst="rect">
            <a:avLst/>
          </a:prstGeom>
          <a:effectLst>
            <a:reflection stA="50000" endPos="40000" dist="25400" dir="5400000" sy="-100000" algn="bl" rotWithShape="0"/>
          </a:effectLst>
        </p:spPr>
      </p:pic>
      <p:sp>
        <p:nvSpPr>
          <p:cNvPr id="15" name="직사각형 14"/>
          <p:cNvSpPr/>
          <p:nvPr userDrawn="1"/>
        </p:nvSpPr>
        <p:spPr>
          <a:xfrm>
            <a:off x="3239372" y="6524368"/>
            <a:ext cx="2243226" cy="3336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417B6D-6C18-4DF1-8C7A-315B8D9140AC}" type="datetimeFigureOut">
              <a:rPr lang="ko-KR" altLang="en-US" smtClean="0"/>
              <a:pPr/>
              <a:t>2015-04-02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ED432D-A0DC-4E58-9460-76B4786C75E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>
          <a:xfrm>
            <a:off x="7010432" y="6492899"/>
            <a:ext cx="2133600" cy="365125"/>
          </a:xfrm>
        </p:spPr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1</a:t>
            </a:fld>
            <a:endParaRPr lang="en-US" altLang="ko-KR" dirty="0"/>
          </a:p>
        </p:txBody>
      </p:sp>
      <p:sp>
        <p:nvSpPr>
          <p:cNvPr id="15" name="TextBox 14"/>
          <p:cNvSpPr txBox="1"/>
          <p:nvPr/>
        </p:nvSpPr>
        <p:spPr>
          <a:xfrm>
            <a:off x="928662" y="1714488"/>
            <a:ext cx="7000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 smtClean="0"/>
              <a:t>TIBCO </a:t>
            </a:r>
            <a:r>
              <a:rPr lang="en-US" altLang="ko-KR" sz="3600" b="1" dirty="0" smtClean="0"/>
              <a:t>RVRD</a:t>
            </a:r>
            <a:endParaRPr lang="en-US" altLang="ko-KR" sz="3600" b="1" dirty="0" smtClean="0"/>
          </a:p>
          <a:p>
            <a:pPr algn="ctr"/>
            <a:r>
              <a:rPr lang="en-US" altLang="ko-KR" sz="3600" b="1" dirty="0" smtClean="0"/>
              <a:t>User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  <p:sp>
        <p:nvSpPr>
          <p:cNvPr id="3" name="Title 8"/>
          <p:cNvSpPr>
            <a:spLocks noGrp="1"/>
          </p:cNvSpPr>
          <p:nvPr>
            <p:ph type="title"/>
          </p:nvPr>
        </p:nvSpPr>
        <p:spPr>
          <a:xfrm>
            <a:off x="1379312" y="560178"/>
            <a:ext cx="3456937" cy="3487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ko-KR" sz="200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RVRD</a:t>
            </a:r>
            <a:endParaRPr lang="ko-KR" altLang="ko-KR" sz="2000" b="1" dirty="0" smtClean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8" name="Rectangle 3"/>
          <p:cNvSpPr>
            <a:spLocks noGrp="1" noChangeArrowheads="1"/>
          </p:cNvSpPr>
          <p:nvPr/>
        </p:nvSpPr>
        <p:spPr bwMode="auto">
          <a:xfrm>
            <a:off x="179512" y="980728"/>
            <a:ext cx="8280920" cy="2162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r>
              <a:rPr lang="en-US" altLang="ko-KR" dirty="0" smtClean="0"/>
              <a:t>RVRD</a:t>
            </a:r>
            <a:r>
              <a:rPr lang="ko-KR" altLang="en-US" dirty="0" smtClean="0"/>
              <a:t/>
            </a:r>
            <a:br>
              <a:rPr lang="ko-KR" altLang="en-US" dirty="0" smtClean="0"/>
            </a:br>
            <a:endParaRPr lang="en-US" altLang="ko-KR" sz="1600" dirty="0" smtClean="0"/>
          </a:p>
          <a:p>
            <a:pPr>
              <a:buNone/>
            </a:pPr>
            <a:r>
              <a:rPr lang="en-US" altLang="ko-KR" sz="1600" dirty="0" smtClean="0"/>
              <a:t>     - </a:t>
            </a:r>
            <a:r>
              <a:rPr lang="ko-KR" altLang="en-US" sz="1600" dirty="0" smtClean="0"/>
              <a:t>서로 다른 네트워크에 존재하는 시스템간 메시지 전달 담당</a:t>
            </a:r>
            <a:r>
              <a:rPr lang="en-US" altLang="ko-KR" sz="1600" dirty="0" smtClean="0"/>
              <a:t>.(RVD </a:t>
            </a:r>
            <a:r>
              <a:rPr lang="ko-KR" altLang="en-US" sz="1600" dirty="0" smtClean="0"/>
              <a:t>기능 포함</a:t>
            </a:r>
            <a:r>
              <a:rPr lang="en-US" altLang="ko-KR" sz="1600" dirty="0" smtClean="0"/>
              <a:t>)</a:t>
            </a:r>
            <a:endParaRPr lang="en-US" altLang="ko-KR" sz="1600" dirty="0" smtClean="0"/>
          </a:p>
          <a:p>
            <a:pPr>
              <a:buNone/>
            </a:pPr>
            <a:r>
              <a:rPr lang="en-US" altLang="ko-KR" sz="1600" dirty="0" smtClean="0"/>
              <a:t>     </a:t>
            </a:r>
            <a:r>
              <a:rPr lang="en-US" altLang="ko-KR" sz="1600" dirty="0" smtClean="0"/>
              <a:t>- RVD + Router </a:t>
            </a:r>
            <a:r>
              <a:rPr lang="ko-KR" altLang="en-US" sz="1600" dirty="0" smtClean="0"/>
              <a:t>기능</a:t>
            </a:r>
            <a:endParaRPr lang="en-US" altLang="ko-KR" sz="1600" dirty="0" smtClean="0"/>
          </a:p>
          <a:p>
            <a:pPr>
              <a:buNone/>
            </a:pPr>
            <a:r>
              <a:rPr lang="en-US" altLang="ko-KR" sz="1600" dirty="0" smtClean="0"/>
              <a:t> </a:t>
            </a:r>
            <a:r>
              <a:rPr lang="en-US" altLang="ko-KR" sz="1600" dirty="0" smtClean="0"/>
              <a:t>    - </a:t>
            </a:r>
            <a:r>
              <a:rPr lang="ko-KR" altLang="en-US" sz="1600" dirty="0" smtClean="0"/>
              <a:t>참여하는 네트워크가 방화벽으로 분리되어 있을 때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지역적으로 원거리에 떨어져 있는 네트워크 간 메시지 통신시 사용</a:t>
            </a:r>
            <a:endParaRPr lang="en-US" altLang="ko-KR" sz="1600" dirty="0"/>
          </a:p>
        </p:txBody>
      </p:sp>
      <p:grpSp>
        <p:nvGrpSpPr>
          <p:cNvPr id="10" name="그룹 9"/>
          <p:cNvGrpSpPr/>
          <p:nvPr/>
        </p:nvGrpSpPr>
        <p:grpSpPr>
          <a:xfrm>
            <a:off x="1428728" y="3214686"/>
            <a:ext cx="5867400" cy="1524000"/>
            <a:chOff x="638174" y="4641850"/>
            <a:chExt cx="5867400" cy="1524000"/>
          </a:xfrm>
        </p:grpSpPr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638174" y="4641850"/>
              <a:ext cx="5867400" cy="15240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pPr algn="ctr" eaLnBrk="1" latinLnBrk="1" hangingPunct="1">
                <a:lnSpc>
                  <a:spcPct val="100000"/>
                </a:lnSpc>
              </a:pPr>
              <a:endParaRPr kumimoji="1" lang="ko-KR" altLang="en-US" sz="2400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" name="Text Box 5"/>
            <p:cNvSpPr txBox="1">
              <a:spLocks noChangeArrowheads="1"/>
            </p:cNvSpPr>
            <p:nvPr/>
          </p:nvSpPr>
          <p:spPr bwMode="auto">
            <a:xfrm>
              <a:off x="1168253" y="4762500"/>
              <a:ext cx="1146468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pPr algn="ctr" eaLnBrk="1" latinLnBrk="1" hangingPunct="1">
                <a:lnSpc>
                  <a:spcPct val="100000"/>
                </a:lnSpc>
              </a:pPr>
              <a:r>
                <a:rPr kumimoji="1" lang="ko-KR" altLang="en-US" sz="1100" dirty="0" err="1">
                  <a:latin typeface="굴림" pitchFamily="50" charset="-127"/>
                  <a:ea typeface="굴림" pitchFamily="50" charset="-127"/>
                </a:rPr>
                <a:t>네트웍크</a:t>
              </a:r>
              <a:r>
                <a:rPr kumimoji="1" lang="ko-KR" altLang="en-US" sz="1100" dirty="0">
                  <a:latin typeface="굴림" pitchFamily="50" charset="-127"/>
                  <a:ea typeface="굴림" pitchFamily="50" charset="-127"/>
                </a:rPr>
                <a:t> </a:t>
              </a:r>
              <a:r>
                <a:rPr kumimoji="1" lang="en-US" altLang="ko-KR" sz="1100" dirty="0" err="1" smtClean="0">
                  <a:latin typeface="굴림" pitchFamily="50" charset="-127"/>
                  <a:ea typeface="굴림" pitchFamily="50" charset="-127"/>
                </a:rPr>
                <a:t>seoul</a:t>
              </a:r>
              <a:endParaRPr kumimoji="1" lang="en-US" altLang="ko-KR" sz="1100" dirty="0">
                <a:latin typeface="굴림" pitchFamily="50" charset="-127"/>
                <a:ea typeface="굴림" pitchFamily="50" charset="-127"/>
              </a:endParaRPr>
            </a:p>
            <a:p>
              <a:pPr algn="ctr" eaLnBrk="1" latinLnBrk="1" hangingPunct="1">
                <a:lnSpc>
                  <a:spcPct val="100000"/>
                </a:lnSpc>
              </a:pPr>
              <a:r>
                <a:rPr kumimoji="1" lang="en-US" altLang="ko-KR" sz="1100" dirty="0">
                  <a:latin typeface="굴림" pitchFamily="50" charset="-127"/>
                  <a:ea typeface="굴림" pitchFamily="50" charset="-127"/>
                </a:rPr>
                <a:t>UDP 7102</a:t>
              </a:r>
            </a:p>
          </p:txBody>
        </p:sp>
        <p:sp>
          <p:nvSpPr>
            <p:cNvPr id="13" name="Text Box 6"/>
            <p:cNvSpPr txBox="1">
              <a:spLocks noChangeArrowheads="1"/>
            </p:cNvSpPr>
            <p:nvPr/>
          </p:nvSpPr>
          <p:spPr bwMode="auto">
            <a:xfrm>
              <a:off x="3112700" y="4762500"/>
              <a:ext cx="1196161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pPr algn="ctr" eaLnBrk="1" latinLnBrk="1" hangingPunct="1">
                <a:lnSpc>
                  <a:spcPct val="100000"/>
                </a:lnSpc>
              </a:pPr>
              <a:r>
                <a:rPr kumimoji="1" lang="ko-KR" altLang="en-US" sz="1100" dirty="0">
                  <a:latin typeface="굴림" pitchFamily="50" charset="-127"/>
                  <a:ea typeface="굴림" pitchFamily="50" charset="-127"/>
                </a:rPr>
                <a:t>네트워크 </a:t>
              </a:r>
              <a:r>
                <a:rPr kumimoji="1" lang="en-US" altLang="ko-KR" sz="1100" dirty="0" err="1" smtClean="0">
                  <a:latin typeface="굴림" pitchFamily="50" charset="-127"/>
                  <a:ea typeface="굴림" pitchFamily="50" charset="-127"/>
                </a:rPr>
                <a:t>pusan</a:t>
              </a:r>
              <a:endParaRPr kumimoji="1" lang="en-US" altLang="ko-KR" sz="1100" dirty="0">
                <a:latin typeface="굴림" pitchFamily="50" charset="-127"/>
                <a:ea typeface="굴림" pitchFamily="50" charset="-127"/>
              </a:endParaRPr>
            </a:p>
            <a:p>
              <a:pPr algn="ctr" eaLnBrk="1" latinLnBrk="1" hangingPunct="1">
                <a:lnSpc>
                  <a:spcPct val="100000"/>
                </a:lnSpc>
              </a:pPr>
              <a:r>
                <a:rPr kumimoji="1" lang="en-US" altLang="ko-KR" sz="1100" dirty="0">
                  <a:latin typeface="굴림" pitchFamily="50" charset="-127"/>
                  <a:ea typeface="굴림" pitchFamily="50" charset="-127"/>
                </a:rPr>
                <a:t>UDP 3355</a:t>
              </a:r>
            </a:p>
          </p:txBody>
        </p:sp>
        <p:sp>
          <p:nvSpPr>
            <p:cNvPr id="14" name="Line 7"/>
            <p:cNvSpPr>
              <a:spLocks noChangeShapeType="1"/>
            </p:cNvSpPr>
            <p:nvPr/>
          </p:nvSpPr>
          <p:spPr bwMode="auto">
            <a:xfrm>
              <a:off x="1193800" y="5251450"/>
              <a:ext cx="107473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5" name="Line 8"/>
            <p:cNvSpPr>
              <a:spLocks noChangeShapeType="1"/>
            </p:cNvSpPr>
            <p:nvPr/>
          </p:nvSpPr>
          <p:spPr bwMode="auto">
            <a:xfrm>
              <a:off x="3178175" y="5251450"/>
              <a:ext cx="107315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6" name="Rectangle 9"/>
            <p:cNvSpPr>
              <a:spLocks noChangeArrowheads="1"/>
            </p:cNvSpPr>
            <p:nvPr/>
          </p:nvSpPr>
          <p:spPr bwMode="auto">
            <a:xfrm>
              <a:off x="1608138" y="5708650"/>
              <a:ext cx="165100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7" name="Rectangle 10"/>
            <p:cNvSpPr>
              <a:spLocks noChangeArrowheads="1"/>
            </p:cNvSpPr>
            <p:nvPr/>
          </p:nvSpPr>
          <p:spPr bwMode="auto">
            <a:xfrm>
              <a:off x="3673475" y="5708650"/>
              <a:ext cx="165100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8" name="Line 11"/>
            <p:cNvSpPr>
              <a:spLocks noChangeShapeType="1"/>
            </p:cNvSpPr>
            <p:nvPr/>
          </p:nvSpPr>
          <p:spPr bwMode="auto">
            <a:xfrm>
              <a:off x="1690688" y="5251450"/>
              <a:ext cx="0" cy="457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19" name="Line 12"/>
            <p:cNvSpPr>
              <a:spLocks noChangeShapeType="1"/>
            </p:cNvSpPr>
            <p:nvPr/>
          </p:nvSpPr>
          <p:spPr bwMode="auto">
            <a:xfrm>
              <a:off x="3756025" y="5251450"/>
              <a:ext cx="0" cy="457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0" name="Line 13"/>
            <p:cNvSpPr>
              <a:spLocks noChangeShapeType="1"/>
            </p:cNvSpPr>
            <p:nvPr/>
          </p:nvSpPr>
          <p:spPr bwMode="auto">
            <a:xfrm>
              <a:off x="1773238" y="5784850"/>
              <a:ext cx="1900237" cy="0"/>
            </a:xfrm>
            <a:prstGeom prst="line">
              <a:avLst/>
            </a:prstGeom>
            <a:noFill/>
            <a:ln w="19050">
              <a:solidFill>
                <a:srgbClr val="4994B9"/>
              </a:solidFill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1" name="Rectangle 14"/>
            <p:cNvSpPr>
              <a:spLocks noChangeArrowheads="1"/>
            </p:cNvSpPr>
            <p:nvPr/>
          </p:nvSpPr>
          <p:spPr bwMode="auto">
            <a:xfrm>
              <a:off x="4665663" y="4794250"/>
              <a:ext cx="1735137" cy="121920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pPr algn="r" eaLnBrk="1" latinLnBrk="1" hangingPunct="1">
                <a:lnSpc>
                  <a:spcPct val="100000"/>
                </a:lnSpc>
              </a:pPr>
              <a:r>
                <a:rPr kumimoji="1" lang="ko-KR" altLang="en-US" sz="1100" b="1">
                  <a:latin typeface="굴림" pitchFamily="50" charset="-127"/>
                  <a:ea typeface="굴림" pitchFamily="50" charset="-127"/>
                </a:rPr>
                <a:t>범례          </a:t>
              </a:r>
            </a:p>
            <a:p>
              <a:pPr algn="r" eaLnBrk="1" latinLnBrk="1" hangingPunct="1">
                <a:lnSpc>
                  <a:spcPct val="100000"/>
                </a:lnSpc>
              </a:pPr>
              <a:endParaRPr kumimoji="1" lang="ko-KR" altLang="en-US" sz="1100" b="1">
                <a:latin typeface="굴림" pitchFamily="50" charset="-127"/>
                <a:ea typeface="굴림" pitchFamily="50" charset="-127"/>
              </a:endParaRPr>
            </a:p>
            <a:p>
              <a:pPr algn="r" eaLnBrk="1" latinLnBrk="1" hangingPunct="1">
                <a:lnSpc>
                  <a:spcPct val="100000"/>
                </a:lnSpc>
              </a:pPr>
              <a:r>
                <a:rPr kumimoji="1" lang="en-US" altLang="ko-KR" sz="1100">
                  <a:latin typeface="굴림" pitchFamily="50" charset="-127"/>
                  <a:ea typeface="굴림" pitchFamily="50" charset="-127"/>
                </a:rPr>
                <a:t>Local Network</a:t>
              </a:r>
            </a:p>
            <a:p>
              <a:pPr algn="r" eaLnBrk="1" latinLnBrk="1" hangingPunct="1">
                <a:lnSpc>
                  <a:spcPct val="100000"/>
                </a:lnSpc>
              </a:pPr>
              <a:endParaRPr kumimoji="1" lang="en-US" altLang="ko-KR" sz="1100">
                <a:latin typeface="굴림" pitchFamily="50" charset="-127"/>
                <a:ea typeface="굴림" pitchFamily="50" charset="-127"/>
              </a:endParaRPr>
            </a:p>
            <a:p>
              <a:pPr algn="r" eaLnBrk="1" latinLnBrk="1" hangingPunct="1">
                <a:lnSpc>
                  <a:spcPct val="100000"/>
                </a:lnSpc>
              </a:pPr>
              <a:r>
                <a:rPr kumimoji="1" lang="en-US" altLang="ko-KR" sz="1100">
                  <a:latin typeface="굴림" pitchFamily="50" charset="-127"/>
                  <a:ea typeface="굴림" pitchFamily="50" charset="-127"/>
                </a:rPr>
                <a:t>Neighbor Link</a:t>
              </a:r>
            </a:p>
            <a:p>
              <a:pPr algn="r" eaLnBrk="1" latinLnBrk="1" hangingPunct="1">
                <a:lnSpc>
                  <a:spcPct val="100000"/>
                </a:lnSpc>
              </a:pPr>
              <a:endParaRPr kumimoji="1" lang="en-US" altLang="ko-KR" sz="1100">
                <a:latin typeface="굴림" pitchFamily="50" charset="-127"/>
                <a:ea typeface="굴림" pitchFamily="50" charset="-127"/>
              </a:endParaRPr>
            </a:p>
            <a:p>
              <a:pPr algn="r" eaLnBrk="1" latinLnBrk="1" hangingPunct="1">
                <a:lnSpc>
                  <a:spcPct val="100000"/>
                </a:lnSpc>
              </a:pPr>
              <a:r>
                <a:rPr kumimoji="1" lang="en-US" altLang="ko-KR" sz="1100">
                  <a:latin typeface="굴림" pitchFamily="50" charset="-127"/>
                  <a:ea typeface="굴림" pitchFamily="50" charset="-127"/>
                </a:rPr>
                <a:t>Routing Daemon</a:t>
              </a:r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>
              <a:off x="4748213" y="5251450"/>
              <a:ext cx="4953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3" name="Line 16"/>
            <p:cNvSpPr>
              <a:spLocks noChangeShapeType="1"/>
            </p:cNvSpPr>
            <p:nvPr/>
          </p:nvSpPr>
          <p:spPr bwMode="auto">
            <a:xfrm>
              <a:off x="4995863" y="5251450"/>
              <a:ext cx="0" cy="1524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4" name="Line 17"/>
            <p:cNvSpPr>
              <a:spLocks noChangeShapeType="1"/>
            </p:cNvSpPr>
            <p:nvPr/>
          </p:nvSpPr>
          <p:spPr bwMode="auto">
            <a:xfrm>
              <a:off x="4748213" y="5632450"/>
              <a:ext cx="495300" cy="0"/>
            </a:xfrm>
            <a:prstGeom prst="line">
              <a:avLst/>
            </a:prstGeom>
            <a:noFill/>
            <a:ln w="19050">
              <a:solidFill>
                <a:srgbClr val="4994B9"/>
              </a:solidFill>
              <a:round/>
              <a:headEnd/>
              <a:tailEnd/>
            </a:ln>
          </p:spPr>
          <p:txBody>
            <a:bodyPr/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5" name="Rectangle 18"/>
            <p:cNvSpPr>
              <a:spLocks noChangeArrowheads="1"/>
            </p:cNvSpPr>
            <p:nvPr/>
          </p:nvSpPr>
          <p:spPr bwMode="auto">
            <a:xfrm>
              <a:off x="4913313" y="5784850"/>
              <a:ext cx="165100" cy="152400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</p:grpSp>
      <p:sp>
        <p:nvSpPr>
          <p:cNvPr id="26" name="Rectangle 3"/>
          <p:cNvSpPr>
            <a:spLocks noGrp="1" noChangeArrowheads="1"/>
          </p:cNvSpPr>
          <p:nvPr/>
        </p:nvSpPr>
        <p:spPr bwMode="auto">
          <a:xfrm>
            <a:off x="214282" y="4929198"/>
            <a:ext cx="8280920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pPr>
              <a:buNone/>
            </a:pPr>
            <a:r>
              <a:rPr lang="en-US" altLang="ko-KR" sz="1600" dirty="0" smtClean="0"/>
              <a:t>     - Local Network : RVRD</a:t>
            </a:r>
            <a:r>
              <a:rPr lang="ko-KR" altLang="en-US" sz="1600" dirty="0" smtClean="0"/>
              <a:t>가 메시지 서로 다른 네트워크간 메시지 전달에 참여시킬 </a:t>
            </a:r>
            <a:r>
              <a:rPr lang="en-US" altLang="ko-KR" sz="1600" dirty="0" smtClean="0"/>
              <a:t>network</a:t>
            </a:r>
            <a:r>
              <a:rPr lang="ko-KR" altLang="en-US" sz="1600" dirty="0" smtClean="0"/>
              <a:t>와 </a:t>
            </a:r>
            <a:r>
              <a:rPr lang="en-US" altLang="ko-KR" sz="1600" dirty="0" smtClean="0"/>
              <a:t>UDP </a:t>
            </a:r>
            <a:r>
              <a:rPr lang="ko-KR" altLang="en-US" sz="1600" dirty="0" smtClean="0"/>
              <a:t>서비스의 조합을 지칭함</a:t>
            </a:r>
            <a:endParaRPr lang="en-US" altLang="ko-KR" sz="1600" dirty="0" smtClean="0"/>
          </a:p>
          <a:p>
            <a:pPr marL="361950" lvl="1" indent="-361950">
              <a:buClr>
                <a:srgbClr val="2A3166"/>
              </a:buClr>
              <a:buNone/>
            </a:pPr>
            <a:r>
              <a:rPr lang="en-US" altLang="ko-KR" sz="1600" dirty="0" smtClean="0">
                <a:ea typeface="+mn-ea"/>
              </a:rPr>
              <a:t>     - Neighbor : </a:t>
            </a:r>
            <a:r>
              <a:rPr lang="ko-KR" altLang="en-US" sz="1600" dirty="0" smtClean="0">
                <a:ea typeface="+mn-ea"/>
              </a:rPr>
              <a:t>메시지 전달을 위해 연결해야 할 상대 </a:t>
            </a:r>
            <a:r>
              <a:rPr lang="en-US" altLang="ko-KR" sz="1600" dirty="0" smtClean="0">
                <a:ea typeface="+mn-ea"/>
              </a:rPr>
              <a:t>RVRD</a:t>
            </a:r>
            <a:r>
              <a:rPr lang="ko-KR" altLang="en-US" sz="1600" dirty="0" smtClean="0">
                <a:ea typeface="+mn-ea"/>
              </a:rPr>
              <a:t>를 지칭함</a:t>
            </a:r>
            <a:r>
              <a:rPr lang="en-US" altLang="ko-KR" sz="1600" dirty="0" smtClean="0">
                <a:ea typeface="+mn-ea"/>
              </a:rPr>
              <a:t>.</a:t>
            </a:r>
            <a:endParaRPr lang="en-US" altLang="ko-KR" sz="1600" dirty="0"/>
          </a:p>
        </p:txBody>
      </p:sp>
    </p:spTree>
    <p:extLst>
      <p:ext uri="{BB962C8B-B14F-4D97-AF65-F5344CB8AC3E}">
        <p14:creationId xmlns="" xmlns:p14="http://schemas.microsoft.com/office/powerpoint/2010/main" val="2289474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3" name="Title 8"/>
          <p:cNvSpPr>
            <a:spLocks noGrp="1"/>
          </p:cNvSpPr>
          <p:nvPr>
            <p:ph type="title"/>
          </p:nvPr>
        </p:nvSpPr>
        <p:spPr>
          <a:xfrm>
            <a:off x="1379312" y="560178"/>
            <a:ext cx="3456937" cy="3487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ko-KR" sz="200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RVRD </a:t>
            </a:r>
            <a:r>
              <a:rPr lang="ko-KR" altLang="en-US" sz="2000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라우팅</a:t>
            </a:r>
            <a:endParaRPr lang="ko-KR" altLang="ko-KR" sz="2000" b="1" dirty="0" smtClean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39" name="Rectangle 3"/>
          <p:cNvSpPr>
            <a:spLocks noGrp="1" noChangeArrowheads="1"/>
          </p:cNvSpPr>
          <p:nvPr/>
        </p:nvSpPr>
        <p:spPr bwMode="auto">
          <a:xfrm>
            <a:off x="257175" y="1124744"/>
            <a:ext cx="8886825" cy="2161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pPr>
              <a:lnSpc>
                <a:spcPct val="80000"/>
              </a:lnSpc>
            </a:pPr>
            <a:r>
              <a:rPr lang="ko-KR" altLang="en-US" sz="1800" b="1" dirty="0" smtClean="0">
                <a:ea typeface="굴림" pitchFamily="50" charset="-127"/>
              </a:rPr>
              <a:t>통신 구성도 및 </a:t>
            </a:r>
            <a:r>
              <a:rPr lang="en-US" altLang="ko-KR" sz="1800" b="1" dirty="0" smtClean="0">
                <a:ea typeface="굴림" pitchFamily="50" charset="-127"/>
              </a:rPr>
              <a:t>Tibco</a:t>
            </a:r>
          </a:p>
          <a:p>
            <a:pPr marL="304800" indent="-304800" defTabSz="384175" eaLnBrk="1" hangingPunct="1">
              <a:spcBef>
                <a:spcPct val="10000"/>
              </a:spcBef>
              <a:spcAft>
                <a:spcPct val="10000"/>
              </a:spcAft>
              <a:buClr>
                <a:srgbClr val="000066"/>
              </a:buClr>
              <a:buSzPct val="120000"/>
              <a:buFont typeface="Wingdings 2" pitchFamily="18" charset="2"/>
              <a:buNone/>
            </a:pPr>
            <a:r>
              <a:rPr lang="en-US" altLang="ko-KR" sz="1800" b="1" dirty="0" smtClean="0">
                <a:ea typeface="굴림" pitchFamily="50" charset="-127"/>
              </a:rPr>
              <a:t> </a:t>
            </a:r>
            <a:r>
              <a:rPr lang="en-US" altLang="ko-KR" sz="1400" dirty="0" smtClean="0">
                <a:ea typeface="굴림" pitchFamily="50" charset="-127"/>
              </a:rPr>
              <a:t> </a:t>
            </a:r>
            <a:r>
              <a:rPr kumimoji="1" lang="en-US" altLang="ko-KR" sz="1400" dirty="0" smtClean="0"/>
              <a:t>- Pub side</a:t>
            </a:r>
            <a:r>
              <a:rPr kumimoji="1" lang="ko-KR" altLang="en-US" sz="1400" dirty="0" smtClean="0"/>
              <a:t>의 </a:t>
            </a:r>
            <a:r>
              <a:rPr kumimoji="1" lang="en-US" altLang="ko-KR" sz="1400" dirty="0" smtClean="0"/>
              <a:t>rvrd </a:t>
            </a:r>
            <a:r>
              <a:rPr kumimoji="1" lang="ko-KR" altLang="en-US" sz="1400" dirty="0" smtClean="0"/>
              <a:t>프로세스는 설정된 </a:t>
            </a:r>
            <a:r>
              <a:rPr kumimoji="1" lang="en-US" altLang="ko-KR" sz="1400" dirty="0" smtClean="0"/>
              <a:t>Local</a:t>
            </a:r>
            <a:r>
              <a:rPr kumimoji="1" lang="ko-KR" altLang="en-US" sz="1400" dirty="0" smtClean="0"/>
              <a:t>의 </a:t>
            </a:r>
            <a:r>
              <a:rPr kumimoji="1" lang="en-US" altLang="ko-KR" sz="1400" dirty="0" smtClean="0"/>
              <a:t>UDP packet</a:t>
            </a:r>
            <a:r>
              <a:rPr kumimoji="1" lang="ko-KR" altLang="en-US" sz="1400" dirty="0" smtClean="0"/>
              <a:t>을 </a:t>
            </a:r>
            <a:r>
              <a:rPr kumimoji="1" lang="en-US" altLang="ko-KR" sz="1400" dirty="0" smtClean="0"/>
              <a:t>TCP</a:t>
            </a:r>
            <a:r>
              <a:rPr kumimoji="1" lang="ko-KR" altLang="en-US" sz="1400" dirty="0" smtClean="0"/>
              <a:t>로 전송함</a:t>
            </a:r>
            <a:r>
              <a:rPr kumimoji="1" lang="en-US" altLang="ko-KR" sz="1400" dirty="0" smtClean="0"/>
              <a:t>.</a:t>
            </a:r>
          </a:p>
          <a:p>
            <a:pPr marL="304800" indent="-304800" defTabSz="384175" eaLnBrk="1" hangingPunct="1">
              <a:spcBef>
                <a:spcPct val="10000"/>
              </a:spcBef>
              <a:spcAft>
                <a:spcPct val="10000"/>
              </a:spcAft>
              <a:buClr>
                <a:srgbClr val="000066"/>
              </a:buClr>
              <a:buSzPct val="120000"/>
              <a:buFont typeface="Wingdings 2" pitchFamily="18" charset="2"/>
              <a:buNone/>
            </a:pPr>
            <a:r>
              <a:rPr kumimoji="1" lang="en-US" altLang="ko-KR" sz="1400" dirty="0" smtClean="0"/>
              <a:t> </a:t>
            </a:r>
            <a:r>
              <a:rPr kumimoji="1" lang="en-US" altLang="ko-KR" sz="1400" dirty="0" smtClean="0"/>
              <a:t> </a:t>
            </a:r>
            <a:r>
              <a:rPr kumimoji="1" lang="en-US" altLang="ko-KR" sz="1400" dirty="0" smtClean="0"/>
              <a:t>- Sub side</a:t>
            </a:r>
            <a:r>
              <a:rPr kumimoji="1" lang="ko-KR" altLang="en-US" sz="1400" dirty="0" smtClean="0"/>
              <a:t>의 </a:t>
            </a:r>
            <a:r>
              <a:rPr kumimoji="1" lang="en-US" altLang="ko-KR" sz="1400" dirty="0" smtClean="0"/>
              <a:t>rvrd </a:t>
            </a:r>
            <a:r>
              <a:rPr kumimoji="1" lang="ko-KR" altLang="en-US" sz="1400" dirty="0" smtClean="0"/>
              <a:t>프로세서는 </a:t>
            </a:r>
            <a:r>
              <a:rPr kumimoji="1" lang="en-US" altLang="ko-KR" sz="1400" dirty="0" smtClean="0"/>
              <a:t>TCP packet</a:t>
            </a:r>
            <a:r>
              <a:rPr kumimoji="1" lang="ko-KR" altLang="en-US" sz="1400" dirty="0" smtClean="0"/>
              <a:t>을 수신하여 설정된 </a:t>
            </a:r>
            <a:r>
              <a:rPr kumimoji="1" lang="en-US" altLang="ko-KR" sz="1400" dirty="0" smtClean="0"/>
              <a:t>Local Network</a:t>
            </a:r>
            <a:r>
              <a:rPr kumimoji="1" lang="ko-KR" altLang="en-US" sz="1400" dirty="0" smtClean="0"/>
              <a:t>으로 </a:t>
            </a:r>
          </a:p>
          <a:p>
            <a:pPr marL="304800" indent="-304800" defTabSz="384175" eaLnBrk="1" hangingPunct="1">
              <a:spcBef>
                <a:spcPct val="10000"/>
              </a:spcBef>
              <a:spcAft>
                <a:spcPct val="10000"/>
              </a:spcAft>
              <a:buClr>
                <a:srgbClr val="000066"/>
              </a:buClr>
              <a:buSzPct val="120000"/>
              <a:buFont typeface="Wingdings 2" pitchFamily="18" charset="2"/>
              <a:buNone/>
            </a:pPr>
            <a:r>
              <a:rPr kumimoji="1" lang="en-US" altLang="ko-KR" sz="1400" dirty="0" smtClean="0"/>
              <a:t> </a:t>
            </a:r>
            <a:r>
              <a:rPr kumimoji="1" lang="en-US" altLang="ko-KR" sz="1400" dirty="0" smtClean="0"/>
              <a:t>   </a:t>
            </a:r>
            <a:r>
              <a:rPr kumimoji="1" lang="en-US" altLang="ko-KR" sz="1400" dirty="0" smtClean="0"/>
              <a:t>UDP </a:t>
            </a:r>
            <a:r>
              <a:rPr kumimoji="1" lang="ko-KR" altLang="en-US" sz="1400" dirty="0" smtClean="0"/>
              <a:t>메시지를 송신함 </a:t>
            </a:r>
          </a:p>
          <a:p>
            <a:pPr marL="304800" indent="-304800" defTabSz="384175" eaLnBrk="1" hangingPunct="1">
              <a:spcBef>
                <a:spcPct val="10000"/>
              </a:spcBef>
              <a:spcAft>
                <a:spcPct val="10000"/>
              </a:spcAft>
              <a:buClr>
                <a:srgbClr val="000066"/>
              </a:buClr>
              <a:buSzPct val="120000"/>
              <a:buFont typeface="Wingdings 2" pitchFamily="18" charset="2"/>
              <a:buNone/>
            </a:pPr>
            <a:r>
              <a:rPr kumimoji="1" lang="ko-KR" altLang="en-US" sz="1400" dirty="0" smtClean="0"/>
              <a:t> </a:t>
            </a:r>
            <a:r>
              <a:rPr kumimoji="1" lang="ko-KR" altLang="en-US" sz="1400" dirty="0" smtClean="0"/>
              <a:t> </a:t>
            </a:r>
            <a:r>
              <a:rPr kumimoji="1" lang="en-US" altLang="ko-KR" sz="1400" dirty="0" smtClean="0"/>
              <a:t>- Pub</a:t>
            </a:r>
            <a:r>
              <a:rPr kumimoji="1" lang="ko-KR" altLang="en-US" sz="1400" dirty="0" smtClean="0"/>
              <a:t>은 </a:t>
            </a:r>
            <a:r>
              <a:rPr kumimoji="1" lang="en-US" altLang="ko-KR" sz="1400" dirty="0" smtClean="0"/>
              <a:t>export subject, Sub</a:t>
            </a:r>
            <a:r>
              <a:rPr kumimoji="1" lang="ko-KR" altLang="en-US" sz="1400" dirty="0" smtClean="0"/>
              <a:t>은 </a:t>
            </a:r>
            <a:r>
              <a:rPr kumimoji="1" lang="en-US" altLang="ko-KR" sz="1400" dirty="0" smtClean="0"/>
              <a:t>import subject</a:t>
            </a:r>
            <a:r>
              <a:rPr kumimoji="1" lang="ko-KR" altLang="en-US" sz="1400" dirty="0" smtClean="0"/>
              <a:t>를 기준으로 각각 </a:t>
            </a:r>
            <a:r>
              <a:rPr kumimoji="1" lang="en-US" altLang="ko-KR" sz="1400" dirty="0" smtClean="0"/>
              <a:t>filtering </a:t>
            </a:r>
            <a:r>
              <a:rPr kumimoji="1" lang="ko-KR" altLang="en-US" sz="1400" dirty="0" smtClean="0"/>
              <a:t>을 수행 함</a:t>
            </a:r>
            <a:r>
              <a:rPr kumimoji="1" lang="en-US" altLang="ko-KR" sz="1400" dirty="0" smtClean="0"/>
              <a:t>.</a:t>
            </a:r>
          </a:p>
          <a:p>
            <a:pPr marL="304800" indent="-304800" defTabSz="384175" eaLnBrk="1" hangingPunct="1">
              <a:spcBef>
                <a:spcPct val="10000"/>
              </a:spcBef>
              <a:spcAft>
                <a:spcPct val="10000"/>
              </a:spcAft>
              <a:buClr>
                <a:srgbClr val="000066"/>
              </a:buClr>
              <a:buSzPct val="120000"/>
              <a:buFont typeface="Wingdings 2" pitchFamily="18" charset="2"/>
              <a:buNone/>
            </a:pPr>
            <a:r>
              <a:rPr kumimoji="1" lang="en-US" altLang="ko-KR" sz="1400" dirty="0" smtClean="0"/>
              <a:t> </a:t>
            </a:r>
            <a:r>
              <a:rPr kumimoji="1" lang="en-US" altLang="ko-KR" sz="1400" dirty="0" smtClean="0"/>
              <a:t> </a:t>
            </a:r>
            <a:r>
              <a:rPr kumimoji="1" lang="en-US" altLang="ko-KR" sz="1400" dirty="0" smtClean="0"/>
              <a:t>- </a:t>
            </a:r>
            <a:r>
              <a:rPr kumimoji="1" lang="ko-KR" altLang="en-US" sz="1400" dirty="0" smtClean="0"/>
              <a:t>단</a:t>
            </a:r>
            <a:r>
              <a:rPr kumimoji="1" lang="en-US" altLang="ko-KR" sz="1400" dirty="0" smtClean="0"/>
              <a:t>, RVRD</a:t>
            </a:r>
            <a:r>
              <a:rPr kumimoji="1" lang="ko-KR" altLang="en-US" sz="1400" dirty="0" smtClean="0"/>
              <a:t>간 </a:t>
            </a:r>
            <a:r>
              <a:rPr kumimoji="1" lang="en-US" altLang="ko-KR" sz="1400" dirty="0" smtClean="0"/>
              <a:t>Neighbor </a:t>
            </a:r>
            <a:r>
              <a:rPr kumimoji="1" lang="ko-KR" altLang="en-US" sz="1400" dirty="0" smtClean="0"/>
              <a:t>연결과 </a:t>
            </a:r>
            <a:r>
              <a:rPr kumimoji="1" lang="en-US" altLang="ko-KR" sz="1400" dirty="0" smtClean="0"/>
              <a:t>subject </a:t>
            </a:r>
            <a:r>
              <a:rPr kumimoji="1" lang="ko-KR" altLang="en-US" sz="1400" dirty="0" smtClean="0"/>
              <a:t>설정을 해도</a:t>
            </a:r>
            <a:r>
              <a:rPr kumimoji="1" lang="en-US" altLang="ko-KR" sz="1400" dirty="0" smtClean="0"/>
              <a:t>, sub side</a:t>
            </a:r>
            <a:r>
              <a:rPr kumimoji="1" lang="ko-KR" altLang="en-US" sz="1400" dirty="0" smtClean="0"/>
              <a:t>의 수신 프로세스가 </a:t>
            </a:r>
          </a:p>
          <a:p>
            <a:pPr marL="304800" indent="-304800" defTabSz="384175" eaLnBrk="1" hangingPunct="1">
              <a:spcBef>
                <a:spcPct val="10000"/>
              </a:spcBef>
              <a:spcAft>
                <a:spcPct val="10000"/>
              </a:spcAft>
              <a:buClr>
                <a:srgbClr val="000066"/>
              </a:buClr>
              <a:buSzPct val="120000"/>
              <a:buFont typeface="Wingdings 2" pitchFamily="18" charset="2"/>
              <a:buNone/>
            </a:pPr>
            <a:r>
              <a:rPr kumimoji="1" lang="ko-KR" altLang="en-US" sz="1400" dirty="0" smtClean="0"/>
              <a:t> </a:t>
            </a:r>
            <a:r>
              <a:rPr kumimoji="1" lang="ko-KR" altLang="en-US" sz="1400" dirty="0" smtClean="0"/>
              <a:t>   </a:t>
            </a:r>
            <a:r>
              <a:rPr kumimoji="1" lang="ko-KR" altLang="en-US" sz="1400" dirty="0" smtClean="0"/>
              <a:t>존재하는 경우에만 메시지가 </a:t>
            </a:r>
            <a:r>
              <a:rPr kumimoji="1" lang="en-US" altLang="ko-KR" sz="1400" dirty="0" smtClean="0"/>
              <a:t>routing </a:t>
            </a:r>
            <a:r>
              <a:rPr kumimoji="1" lang="ko-KR" altLang="en-US" sz="1400" dirty="0" smtClean="0"/>
              <a:t>됨</a:t>
            </a:r>
            <a:r>
              <a:rPr kumimoji="1" lang="en-US" altLang="ko-KR" sz="1400" dirty="0" smtClean="0"/>
              <a:t>.</a:t>
            </a:r>
          </a:p>
          <a:p>
            <a:pPr>
              <a:lnSpc>
                <a:spcPct val="80000"/>
              </a:lnSpc>
              <a:buNone/>
            </a:pPr>
            <a:endParaRPr lang="en-US" altLang="ko-KR" sz="1400" dirty="0">
              <a:ea typeface="굴림" pitchFamily="50" charset="-127"/>
            </a:endParaRPr>
          </a:p>
        </p:txBody>
      </p:sp>
      <p:grpSp>
        <p:nvGrpSpPr>
          <p:cNvPr id="22" name="그룹 21"/>
          <p:cNvGrpSpPr/>
          <p:nvPr/>
        </p:nvGrpSpPr>
        <p:grpSpPr>
          <a:xfrm>
            <a:off x="1214414" y="3500438"/>
            <a:ext cx="6500858" cy="2811461"/>
            <a:chOff x="781050" y="2924175"/>
            <a:chExt cx="6403975" cy="3097213"/>
          </a:xfrm>
        </p:grpSpPr>
        <p:sp>
          <p:nvSpPr>
            <p:cNvPr id="23" name="Rectangle 4"/>
            <p:cNvSpPr>
              <a:spLocks noChangeArrowheads="1"/>
            </p:cNvSpPr>
            <p:nvPr/>
          </p:nvSpPr>
          <p:spPr bwMode="gray">
            <a:xfrm>
              <a:off x="1746250" y="3160713"/>
              <a:ext cx="638175" cy="328612"/>
            </a:xfrm>
            <a:prstGeom prst="rect">
              <a:avLst/>
            </a:prstGeom>
            <a:solidFill>
              <a:srgbClr val="0000FF"/>
            </a:solidFill>
            <a:ln w="12700" algn="ctr">
              <a:noFill/>
              <a:miter lim="800000"/>
              <a:headEnd/>
              <a:tailEnd/>
            </a:ln>
          </p:spPr>
          <p:txBody>
            <a:bodyPr lIns="18000" tIns="0" rIns="18000" bIns="0" anchor="ctr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4" name="Rectangle 5"/>
            <p:cNvSpPr>
              <a:spLocks noChangeArrowheads="1"/>
            </p:cNvSpPr>
            <p:nvPr/>
          </p:nvSpPr>
          <p:spPr bwMode="gray">
            <a:xfrm>
              <a:off x="5153025" y="3141663"/>
              <a:ext cx="696913" cy="347662"/>
            </a:xfrm>
            <a:prstGeom prst="rect">
              <a:avLst/>
            </a:prstGeom>
            <a:solidFill>
              <a:srgbClr val="0000FF"/>
            </a:solidFill>
            <a:ln w="12700" algn="ctr">
              <a:noFill/>
              <a:miter lim="800000"/>
              <a:headEnd/>
              <a:tailEnd/>
            </a:ln>
          </p:spPr>
          <p:txBody>
            <a:bodyPr lIns="18000" tIns="0" rIns="18000" bIns="0" anchor="ctr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5" name="Line 6"/>
            <p:cNvSpPr>
              <a:spLocks noChangeShapeType="1"/>
            </p:cNvSpPr>
            <p:nvPr/>
          </p:nvSpPr>
          <p:spPr bwMode="gray">
            <a:xfrm>
              <a:off x="2384425" y="3344863"/>
              <a:ext cx="2768600" cy="0"/>
            </a:xfrm>
            <a:prstGeom prst="line">
              <a:avLst/>
            </a:prstGeom>
            <a:noFill/>
            <a:ln w="19050">
              <a:solidFill>
                <a:srgbClr val="00FFFF"/>
              </a:solidFill>
              <a:round/>
              <a:headEnd/>
              <a:tailEnd/>
            </a:ln>
          </p:spPr>
          <p:txBody>
            <a:bodyPr lIns="18000" tIns="0" rIns="1800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6" name="Line 7"/>
            <p:cNvSpPr>
              <a:spLocks noChangeShapeType="1"/>
            </p:cNvSpPr>
            <p:nvPr/>
          </p:nvSpPr>
          <p:spPr bwMode="gray">
            <a:xfrm>
              <a:off x="1087438" y="3921125"/>
              <a:ext cx="17287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lIns="18000" tIns="0" rIns="1800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7" name="Line 8"/>
            <p:cNvSpPr>
              <a:spLocks noChangeShapeType="1"/>
            </p:cNvSpPr>
            <p:nvPr/>
          </p:nvSpPr>
          <p:spPr bwMode="gray">
            <a:xfrm flipV="1">
              <a:off x="2239963" y="3489325"/>
              <a:ext cx="0" cy="431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lIns="18000" tIns="0" rIns="1800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29" name="Line 9"/>
            <p:cNvSpPr>
              <a:spLocks noChangeShapeType="1"/>
            </p:cNvSpPr>
            <p:nvPr/>
          </p:nvSpPr>
          <p:spPr bwMode="gray">
            <a:xfrm flipV="1">
              <a:off x="5264150" y="3489325"/>
              <a:ext cx="0" cy="431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lIns="18000" tIns="0" rIns="1800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5" name="Line 10"/>
            <p:cNvSpPr>
              <a:spLocks noChangeShapeType="1"/>
            </p:cNvSpPr>
            <p:nvPr/>
          </p:nvSpPr>
          <p:spPr bwMode="gray">
            <a:xfrm>
              <a:off x="4732338" y="3921125"/>
              <a:ext cx="1728787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 lIns="18000" tIns="0" rIns="1800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6" name="Line 11"/>
            <p:cNvSpPr>
              <a:spLocks noChangeShapeType="1"/>
            </p:cNvSpPr>
            <p:nvPr/>
          </p:nvSpPr>
          <p:spPr bwMode="gray">
            <a:xfrm flipV="1">
              <a:off x="1663700" y="3921125"/>
              <a:ext cx="0" cy="43180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/>
            </a:ln>
          </p:spPr>
          <p:txBody>
            <a:bodyPr lIns="18000" tIns="0" rIns="1800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7" name="Line 12"/>
            <p:cNvSpPr>
              <a:spLocks noChangeShapeType="1"/>
            </p:cNvSpPr>
            <p:nvPr/>
          </p:nvSpPr>
          <p:spPr bwMode="gray">
            <a:xfrm flipV="1">
              <a:off x="5934075" y="3921125"/>
              <a:ext cx="0" cy="431800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round/>
              <a:headEnd/>
              <a:tailEnd/>
            </a:ln>
          </p:spPr>
          <p:txBody>
            <a:bodyPr lIns="18000" tIns="0" rIns="1800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endParaRPr lang="ko-KR" altLang="en-US"/>
            </a:p>
          </p:txBody>
        </p:sp>
        <p:sp>
          <p:nvSpPr>
            <p:cNvPr id="38" name="Rectangle 13"/>
            <p:cNvSpPr>
              <a:spLocks noChangeArrowheads="1"/>
            </p:cNvSpPr>
            <p:nvPr/>
          </p:nvSpPr>
          <p:spPr bwMode="gray">
            <a:xfrm>
              <a:off x="1027113" y="4352925"/>
              <a:ext cx="1273175" cy="363538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0" rIns="18000" bIns="0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pPr algn="ctr"/>
              <a:r>
                <a:rPr lang="en-US" altLang="ko-KR" sz="1400" b="1"/>
                <a:t>Pub</a:t>
              </a:r>
            </a:p>
          </p:txBody>
        </p:sp>
        <p:sp>
          <p:nvSpPr>
            <p:cNvPr id="40" name="Rectangle 14"/>
            <p:cNvSpPr>
              <a:spLocks noChangeArrowheads="1"/>
            </p:cNvSpPr>
            <p:nvPr/>
          </p:nvSpPr>
          <p:spPr bwMode="gray">
            <a:xfrm>
              <a:off x="5297488" y="4352925"/>
              <a:ext cx="1273175" cy="363538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18000" tIns="0" rIns="18000" bIns="0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pPr algn="ctr"/>
              <a:r>
                <a:rPr lang="en-US" altLang="ko-KR" sz="1400" b="1"/>
                <a:t>Sub</a:t>
              </a:r>
            </a:p>
          </p:txBody>
        </p:sp>
        <p:sp>
          <p:nvSpPr>
            <p:cNvPr id="41" name="Rectangle 15"/>
            <p:cNvSpPr>
              <a:spLocks noChangeArrowheads="1"/>
            </p:cNvSpPr>
            <p:nvPr/>
          </p:nvSpPr>
          <p:spPr bwMode="gray">
            <a:xfrm>
              <a:off x="5283200" y="3189288"/>
              <a:ext cx="433388" cy="20161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18000" tIns="0" rIns="1800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r>
                <a:rPr kumimoji="1" lang="en-US" altLang="ko-KR" b="1" dirty="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rPr>
                <a:t>RVRD</a:t>
              </a:r>
            </a:p>
          </p:txBody>
        </p:sp>
        <p:sp>
          <p:nvSpPr>
            <p:cNvPr id="42" name="Rectangle 16"/>
            <p:cNvSpPr>
              <a:spLocks noChangeArrowheads="1"/>
            </p:cNvSpPr>
            <p:nvPr/>
          </p:nvSpPr>
          <p:spPr bwMode="gray">
            <a:xfrm>
              <a:off x="1836738" y="3189288"/>
              <a:ext cx="433387" cy="201612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18000" tIns="0" rIns="1800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r>
                <a:rPr kumimoji="1" lang="en-US" altLang="ko-KR" b="1" dirty="0">
                  <a:solidFill>
                    <a:schemeClr val="bg1"/>
                  </a:solidFill>
                  <a:latin typeface="굴림" pitchFamily="50" charset="-127"/>
                  <a:ea typeface="굴림" pitchFamily="50" charset="-127"/>
                </a:rPr>
                <a:t>RVRD</a:t>
              </a:r>
            </a:p>
          </p:txBody>
        </p:sp>
        <p:sp>
          <p:nvSpPr>
            <p:cNvPr id="43" name="Rectangle 17"/>
            <p:cNvSpPr>
              <a:spLocks noChangeArrowheads="1"/>
            </p:cNvSpPr>
            <p:nvPr/>
          </p:nvSpPr>
          <p:spPr bwMode="gray">
            <a:xfrm>
              <a:off x="1014413" y="4854575"/>
              <a:ext cx="1722437" cy="8064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18000" tIns="0" rIns="1800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r>
                <a:rPr kumimoji="1" lang="en-US" altLang="ko-KR" b="1">
                  <a:latin typeface="굴림" pitchFamily="50" charset="-127"/>
                  <a:ea typeface="굴림" pitchFamily="50" charset="-127"/>
                </a:rPr>
                <a:t> PUB Transport </a:t>
              </a:r>
              <a:r>
                <a:rPr kumimoji="1" lang="ko-KR" altLang="en-US" b="1">
                  <a:latin typeface="굴림" pitchFamily="50" charset="-127"/>
                  <a:ea typeface="굴림" pitchFamily="50" charset="-127"/>
                </a:rPr>
                <a:t>정보</a:t>
              </a:r>
            </a:p>
            <a:p>
              <a:pPr>
                <a:buFontTx/>
                <a:buChar char="•"/>
              </a:pPr>
              <a:r>
                <a:rPr kumimoji="1" lang="en-US" altLang="ko-KR">
                  <a:latin typeface="굴림" pitchFamily="50" charset="-127"/>
                  <a:ea typeface="굴림" pitchFamily="50" charset="-127"/>
                </a:rPr>
                <a:t> Subject : KRX.KS.PUB</a:t>
              </a:r>
            </a:p>
            <a:p>
              <a:pPr>
                <a:buFontTx/>
                <a:buChar char="•"/>
              </a:pPr>
              <a:r>
                <a:rPr kumimoji="1" lang="en-US" altLang="ko-KR">
                  <a:latin typeface="굴림" pitchFamily="50" charset="-127"/>
                  <a:ea typeface="굴림" pitchFamily="50" charset="-127"/>
                </a:rPr>
                <a:t> Service : 1000</a:t>
              </a:r>
            </a:p>
            <a:p>
              <a:pPr>
                <a:buFontTx/>
                <a:buChar char="•"/>
              </a:pPr>
              <a:r>
                <a:rPr kumimoji="1" lang="en-US" altLang="ko-KR">
                  <a:latin typeface="굴림" pitchFamily="50" charset="-127"/>
                  <a:ea typeface="굴림" pitchFamily="50" charset="-127"/>
                </a:rPr>
                <a:t> Network: </a:t>
              </a:r>
              <a:r>
                <a:rPr kumimoji="1" lang="en-US" altLang="ko-KR">
                  <a:ea typeface="굴림" pitchFamily="50" charset="-127"/>
                </a:rPr>
                <a:t>“</a:t>
              </a:r>
              <a:r>
                <a:rPr kumimoji="1" lang="en-US" altLang="ko-KR">
                  <a:latin typeface="굴림" pitchFamily="50" charset="-127"/>
                  <a:ea typeface="굴림" pitchFamily="50" charset="-127"/>
                </a:rPr>
                <a:t>;239.1.0.0</a:t>
              </a:r>
              <a:r>
                <a:rPr kumimoji="1" lang="en-US" altLang="ko-KR">
                  <a:ea typeface="굴림" pitchFamily="50" charset="-127"/>
                </a:rPr>
                <a:t>”</a:t>
              </a:r>
              <a:endParaRPr kumimoji="1" lang="en-US" altLang="ko-KR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4" name="Rectangle 18"/>
            <p:cNvSpPr>
              <a:spLocks noChangeArrowheads="1"/>
            </p:cNvSpPr>
            <p:nvPr/>
          </p:nvSpPr>
          <p:spPr bwMode="gray">
            <a:xfrm>
              <a:off x="5153025" y="4767263"/>
              <a:ext cx="1671638" cy="806450"/>
            </a:xfrm>
            <a:prstGeom prst="rect">
              <a:avLst/>
            </a:prstGeom>
            <a:noFill/>
            <a:ln w="12700" algn="ctr">
              <a:noFill/>
              <a:miter lim="800000"/>
              <a:headEnd/>
              <a:tailEnd/>
            </a:ln>
          </p:spPr>
          <p:txBody>
            <a:bodyPr wrap="none" lIns="18000" tIns="0" rIns="18000" bIns="0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r>
                <a:rPr kumimoji="1" lang="en-US" altLang="ko-KR" b="1">
                  <a:latin typeface="굴림" pitchFamily="50" charset="-127"/>
                  <a:ea typeface="굴림" pitchFamily="50" charset="-127"/>
                </a:rPr>
                <a:t>SUB Transport </a:t>
              </a:r>
              <a:r>
                <a:rPr kumimoji="1" lang="ko-KR" altLang="en-US" b="1">
                  <a:latin typeface="굴림" pitchFamily="50" charset="-127"/>
                  <a:ea typeface="굴림" pitchFamily="50" charset="-127"/>
                </a:rPr>
                <a:t>정보</a:t>
              </a:r>
              <a:r>
                <a:rPr kumimoji="1" lang="ko-KR" altLang="en-US">
                  <a:latin typeface="굴림" pitchFamily="50" charset="-127"/>
                  <a:ea typeface="굴림" pitchFamily="50" charset="-127"/>
                </a:rPr>
                <a:t> </a:t>
              </a:r>
            </a:p>
            <a:p>
              <a:pPr>
                <a:buFontTx/>
                <a:buChar char="•"/>
              </a:pPr>
              <a:r>
                <a:rPr kumimoji="1" lang="en-US" altLang="ko-KR">
                  <a:latin typeface="굴림" pitchFamily="50" charset="-127"/>
                  <a:ea typeface="굴림" pitchFamily="50" charset="-127"/>
                </a:rPr>
                <a:t>Subject : KRX.KS.PUB</a:t>
              </a:r>
            </a:p>
            <a:p>
              <a:pPr>
                <a:buFontTx/>
                <a:buChar char="•"/>
              </a:pPr>
              <a:r>
                <a:rPr kumimoji="1" lang="en-US" altLang="ko-KR">
                  <a:latin typeface="굴림" pitchFamily="50" charset="-127"/>
                  <a:ea typeface="굴림" pitchFamily="50" charset="-127"/>
                </a:rPr>
                <a:t> Service : 2000</a:t>
              </a:r>
            </a:p>
            <a:p>
              <a:pPr>
                <a:buFontTx/>
                <a:buChar char="•"/>
              </a:pPr>
              <a:r>
                <a:rPr kumimoji="1" lang="en-US" altLang="ko-KR">
                  <a:latin typeface="굴림" pitchFamily="50" charset="-127"/>
                  <a:ea typeface="굴림" pitchFamily="50" charset="-127"/>
                </a:rPr>
                <a:t> Network: </a:t>
              </a:r>
              <a:r>
                <a:rPr kumimoji="1" lang="en-US" altLang="ko-KR">
                  <a:ea typeface="굴림" pitchFamily="50" charset="-127"/>
                </a:rPr>
                <a:t>“</a:t>
              </a:r>
              <a:r>
                <a:rPr kumimoji="1" lang="en-US" altLang="ko-KR">
                  <a:latin typeface="굴림" pitchFamily="50" charset="-127"/>
                  <a:ea typeface="굴림" pitchFamily="50" charset="-127"/>
                </a:rPr>
                <a:t>;239.2.0.0</a:t>
              </a:r>
              <a:r>
                <a:rPr kumimoji="1" lang="en-US" altLang="ko-KR">
                  <a:ea typeface="굴림" pitchFamily="50" charset="-127"/>
                </a:rPr>
                <a:t>”</a:t>
              </a:r>
              <a:endParaRPr kumimoji="1" lang="en-US" altLang="ko-KR"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5" name="AutoShape 19"/>
            <p:cNvSpPr>
              <a:spLocks noChangeArrowheads="1"/>
            </p:cNvSpPr>
            <p:nvPr/>
          </p:nvSpPr>
          <p:spPr bwMode="gray">
            <a:xfrm rot="16200000">
              <a:off x="1679576" y="3665537"/>
              <a:ext cx="709612" cy="576263"/>
            </a:xfrm>
            <a:prstGeom prst="rightArrow">
              <a:avLst>
                <a:gd name="adj1" fmla="val 50000"/>
                <a:gd name="adj2" fmla="val 30785"/>
              </a:avLst>
            </a:prstGeom>
            <a:solidFill>
              <a:srgbClr val="FFCC00"/>
            </a:solidFill>
            <a:ln w="12700" algn="ctr">
              <a:noFill/>
              <a:miter lim="800000"/>
              <a:headEnd/>
              <a:tailEnd/>
            </a:ln>
          </p:spPr>
          <p:txBody>
            <a:bodyPr wrap="none" lIns="0" tIns="36000" rIns="0" bIns="36000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pPr marL="657225" indent="-304800" algn="ctr" defTabSz="384175" eaLnBrk="1" latinLnBrk="1" hangingPunct="1">
                <a:lnSpc>
                  <a:spcPct val="100000"/>
                </a:lnSpc>
              </a:pPr>
              <a:r>
                <a:rPr kumimoji="1" lang="en-US" altLang="ko-KR" sz="1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rPr>
                <a:t>UDP</a:t>
              </a:r>
            </a:p>
          </p:txBody>
        </p:sp>
        <p:sp>
          <p:nvSpPr>
            <p:cNvPr id="46" name="AutoShape 20"/>
            <p:cNvSpPr>
              <a:spLocks noChangeArrowheads="1"/>
            </p:cNvSpPr>
            <p:nvPr/>
          </p:nvSpPr>
          <p:spPr bwMode="gray">
            <a:xfrm>
              <a:off x="2405063" y="3344863"/>
              <a:ext cx="709612" cy="576262"/>
            </a:xfrm>
            <a:prstGeom prst="rightArrow">
              <a:avLst>
                <a:gd name="adj1" fmla="val 50000"/>
                <a:gd name="adj2" fmla="val 30785"/>
              </a:avLst>
            </a:prstGeom>
            <a:solidFill>
              <a:srgbClr val="00FFFF"/>
            </a:solidFill>
            <a:ln w="12700" algn="ctr">
              <a:noFill/>
              <a:miter lim="800000"/>
              <a:headEnd/>
              <a:tailEnd/>
            </a:ln>
          </p:spPr>
          <p:txBody>
            <a:bodyPr wrap="none" lIns="0" tIns="36000" rIns="0" bIns="36000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pPr marL="657225" indent="-304800" algn="ctr" defTabSz="384175" eaLnBrk="1" latinLnBrk="1" hangingPunct="1">
                <a:lnSpc>
                  <a:spcPct val="100000"/>
                </a:lnSpc>
              </a:pPr>
              <a:r>
                <a:rPr kumimoji="1" lang="en-US" altLang="ko-KR" sz="1400" dirty="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rPr>
                <a:t>TCP</a:t>
              </a:r>
            </a:p>
          </p:txBody>
        </p:sp>
        <p:sp>
          <p:nvSpPr>
            <p:cNvPr id="47" name="AutoShape 21"/>
            <p:cNvSpPr>
              <a:spLocks noChangeArrowheads="1"/>
            </p:cNvSpPr>
            <p:nvPr/>
          </p:nvSpPr>
          <p:spPr bwMode="gray">
            <a:xfrm rot="5400000">
              <a:off x="5207001" y="3665537"/>
              <a:ext cx="709612" cy="576263"/>
            </a:xfrm>
            <a:prstGeom prst="rightArrow">
              <a:avLst>
                <a:gd name="adj1" fmla="val 50000"/>
                <a:gd name="adj2" fmla="val 30785"/>
              </a:avLst>
            </a:prstGeom>
            <a:solidFill>
              <a:srgbClr val="FFCC00"/>
            </a:solidFill>
            <a:ln w="12700" algn="ctr">
              <a:noFill/>
              <a:miter lim="800000"/>
              <a:headEnd/>
              <a:tailEnd/>
            </a:ln>
          </p:spPr>
          <p:txBody>
            <a:bodyPr wrap="none" lIns="0" tIns="36000" rIns="0" bIns="36000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pPr marL="657225" indent="-304800" algn="ctr" defTabSz="384175" eaLnBrk="1" latinLnBrk="1" hangingPunct="1">
                <a:lnSpc>
                  <a:spcPct val="100000"/>
                </a:lnSpc>
              </a:pPr>
              <a:r>
                <a:rPr kumimoji="1" lang="en-US" altLang="ko-KR" sz="140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rPr>
                <a:t>UDP</a:t>
              </a:r>
            </a:p>
          </p:txBody>
        </p:sp>
        <p:sp>
          <p:nvSpPr>
            <p:cNvPr id="48" name="AutoShape 22"/>
            <p:cNvSpPr>
              <a:spLocks noChangeArrowheads="1"/>
            </p:cNvSpPr>
            <p:nvPr/>
          </p:nvSpPr>
          <p:spPr bwMode="gray">
            <a:xfrm>
              <a:off x="4348163" y="3348038"/>
              <a:ext cx="709612" cy="576262"/>
            </a:xfrm>
            <a:prstGeom prst="rightArrow">
              <a:avLst>
                <a:gd name="adj1" fmla="val 50000"/>
                <a:gd name="adj2" fmla="val 30785"/>
              </a:avLst>
            </a:prstGeom>
            <a:solidFill>
              <a:srgbClr val="00FFFF"/>
            </a:solidFill>
            <a:ln w="12700" algn="ctr">
              <a:noFill/>
              <a:miter lim="800000"/>
              <a:headEnd/>
              <a:tailEnd/>
            </a:ln>
          </p:spPr>
          <p:txBody>
            <a:bodyPr wrap="none" lIns="0" tIns="36000" rIns="0" bIns="36000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pPr marL="657225" indent="-304800" algn="ctr" defTabSz="384175" eaLnBrk="1" latinLnBrk="1" hangingPunct="1">
                <a:lnSpc>
                  <a:spcPct val="100000"/>
                </a:lnSpc>
              </a:pPr>
              <a:r>
                <a:rPr kumimoji="1" lang="en-US" altLang="ko-KR" sz="1400" dirty="0">
                  <a:solidFill>
                    <a:schemeClr val="tx2"/>
                  </a:solidFill>
                  <a:latin typeface="굴림" pitchFamily="50" charset="-127"/>
                  <a:ea typeface="굴림" pitchFamily="50" charset="-127"/>
                </a:rPr>
                <a:t>TCP</a:t>
              </a:r>
            </a:p>
          </p:txBody>
        </p:sp>
        <p:sp>
          <p:nvSpPr>
            <p:cNvPr id="49" name="Rectangle 23"/>
            <p:cNvSpPr>
              <a:spLocks noChangeArrowheads="1"/>
            </p:cNvSpPr>
            <p:nvPr/>
          </p:nvSpPr>
          <p:spPr bwMode="auto">
            <a:xfrm>
              <a:off x="3001963" y="3068638"/>
              <a:ext cx="1685925" cy="26193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 lIns="79200" tIns="39600" rIns="79200" bIns="39600" anchorCtr="1">
              <a:spAutoFit/>
            </a:bodyPr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pPr defTabSz="785813">
                <a:lnSpc>
                  <a:spcPct val="100000"/>
                </a:lnSpc>
              </a:pPr>
              <a:r>
                <a:rPr kumimoji="1" lang="en-US" altLang="ko-KR" b="1"/>
                <a:t>Neighbor connection</a:t>
              </a:r>
            </a:p>
          </p:txBody>
        </p:sp>
        <p:sp>
          <p:nvSpPr>
            <p:cNvPr id="50" name="Rectangle 24"/>
            <p:cNvSpPr>
              <a:spLocks noChangeArrowheads="1"/>
            </p:cNvSpPr>
            <p:nvPr/>
          </p:nvSpPr>
          <p:spPr bwMode="auto">
            <a:xfrm>
              <a:off x="781050" y="2924175"/>
              <a:ext cx="6403975" cy="30972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defPPr>
                <a:defRPr lang="en-US"/>
              </a:defPPr>
              <a:lvl1pPr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1pPr>
              <a:lvl2pPr marL="4572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2pPr>
              <a:lvl3pPr marL="9144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3pPr>
              <a:lvl4pPr marL="13716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4pPr>
              <a:lvl5pPr marL="1828800" algn="l" rtl="0" eaLnBrk="0" fontAlgn="base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sz="1200" kern="1200">
                  <a:solidFill>
                    <a:schemeClr val="tx1"/>
                  </a:solidFill>
                  <a:latin typeface="Arial" charset="0"/>
                  <a:ea typeface="돋움" pitchFamily="50" charset="-127"/>
                  <a:cs typeface="+mn-cs"/>
                </a:defRPr>
              </a:lvl9pPr>
            </a:lstStyle>
            <a:p>
              <a:pPr algn="ctr" eaLnBrk="1" latinLnBrk="1" hangingPunct="1">
                <a:lnSpc>
                  <a:spcPct val="100000"/>
                </a:lnSpc>
              </a:pPr>
              <a:endParaRPr kumimoji="1" lang="ko-KR" altLang="en-US" sz="2400">
                <a:latin typeface="굴림" pitchFamily="50" charset="-127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2289474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sp>
        <p:nvSpPr>
          <p:cNvPr id="3" name="Title 8"/>
          <p:cNvSpPr>
            <a:spLocks noGrp="1"/>
          </p:cNvSpPr>
          <p:nvPr>
            <p:ph type="title"/>
          </p:nvPr>
        </p:nvSpPr>
        <p:spPr>
          <a:xfrm>
            <a:off x="1379312" y="560178"/>
            <a:ext cx="3456937" cy="3487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ko-KR" sz="2000" b="1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RVRD </a:t>
            </a:r>
            <a:r>
              <a:rPr lang="ko-KR" altLang="en-US" sz="2000" b="1" dirty="0" smtClean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기동</a:t>
            </a:r>
            <a:endParaRPr lang="ko-KR" altLang="ko-KR" sz="2000" b="1" dirty="0" smtClean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357158" y="1571612"/>
            <a:ext cx="7834313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  <a:sym typeface="Wingdings" pitchFamily="2" charset="2"/>
              </a:defRPr>
            </a:lvl1pPr>
            <a:lvl2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  <a:sym typeface="Wingdings" pitchFamily="2" charset="2"/>
              </a:defRPr>
            </a:lvl2pPr>
            <a:lvl3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  <a:sym typeface="Wingdings" pitchFamily="2" charset="2"/>
              </a:defRPr>
            </a:lvl3pPr>
            <a:lvl4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  <a:sym typeface="Wingdings" pitchFamily="2" charset="2"/>
              </a:defRPr>
            </a:lvl4pPr>
            <a:lvl5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  <a:sym typeface="Wingdings" pitchFamily="2" charset="2"/>
              </a:defRPr>
            </a:lvl5pPr>
            <a:lvl6pPr marL="2286000" algn="l" defTabSz="914400" rtl="0" eaLnBrk="1" latinLnBrk="1" hangingPunct="1">
              <a:defRPr sz="12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  <a:sym typeface="Wingdings" pitchFamily="2" charset="2"/>
              </a:defRPr>
            </a:lvl6pPr>
            <a:lvl7pPr marL="2743200" algn="l" defTabSz="914400" rtl="0" eaLnBrk="1" latinLnBrk="1" hangingPunct="1">
              <a:defRPr sz="12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  <a:sym typeface="Wingdings" pitchFamily="2" charset="2"/>
              </a:defRPr>
            </a:lvl7pPr>
            <a:lvl8pPr marL="3200400" algn="l" defTabSz="914400" rtl="0" eaLnBrk="1" latinLnBrk="1" hangingPunct="1">
              <a:defRPr sz="12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  <a:sym typeface="Wingdings" pitchFamily="2" charset="2"/>
              </a:defRPr>
            </a:lvl8pPr>
            <a:lvl9pPr marL="3657600" algn="l" defTabSz="914400" rtl="0" eaLnBrk="1" latinLnBrk="1" hangingPunct="1">
              <a:defRPr sz="1200" b="1" kern="1200">
                <a:solidFill>
                  <a:schemeClr val="bg1"/>
                </a:solidFill>
                <a:latin typeface="Arial" charset="0"/>
                <a:ea typeface="+mn-ea"/>
                <a:cs typeface="+mn-cs"/>
                <a:sym typeface="Wingdings" pitchFamily="2" charset="2"/>
              </a:defRPr>
            </a:lvl9pPr>
          </a:lstStyle>
          <a:p>
            <a:pPr algn="l">
              <a:buFont typeface="Arial" pitchFamily="34" charset="0"/>
              <a:buChar char="•"/>
            </a:pP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 rvrd 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–store /mw/</a:t>
            </a:r>
            <a:r>
              <a:rPr lang="en-US" altLang="ko-KR" sz="1600" b="0" dirty="0" err="1" smtClean="0">
                <a:solidFill>
                  <a:schemeClr val="tx1"/>
                </a:solidFill>
                <a:ea typeface="굴림" pitchFamily="50" charset="-127"/>
              </a:rPr>
              <a:t>tibco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/</a:t>
            </a:r>
            <a:r>
              <a:rPr lang="en-US" altLang="ko-KR" sz="1600" b="0" dirty="0" err="1" smtClean="0">
                <a:solidFill>
                  <a:schemeClr val="tx1"/>
                </a:solidFill>
                <a:ea typeface="굴림" pitchFamily="50" charset="-127"/>
              </a:rPr>
              <a:t>krx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/rvrd.cfg –listen tcp:7500 –http 7580 –https 7581 </a:t>
            </a:r>
          </a:p>
          <a:p>
            <a:pPr algn="l"/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   –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logfile /mw/</a:t>
            </a:r>
            <a:r>
              <a:rPr lang="en-US" altLang="ko-KR" sz="1600" b="0" dirty="0" err="1" smtClean="0">
                <a:solidFill>
                  <a:schemeClr val="tx1"/>
                </a:solidFill>
                <a:ea typeface="굴림" pitchFamily="50" charset="-127"/>
              </a:rPr>
              <a:t>tibco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/</a:t>
            </a:r>
            <a:r>
              <a:rPr lang="en-US" altLang="ko-KR" sz="1600" b="0" dirty="0" err="1" smtClean="0">
                <a:solidFill>
                  <a:schemeClr val="tx1"/>
                </a:solidFill>
                <a:ea typeface="굴림" pitchFamily="50" charset="-127"/>
              </a:rPr>
              <a:t>krx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/rvrd.log –log-max-size 10000 -log-max-rotations 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5</a:t>
            </a:r>
          </a:p>
          <a:p>
            <a:pPr algn="l"/>
            <a:endParaRPr lang="en-US" altLang="ko-KR" sz="1600" b="0" dirty="0" smtClean="0">
              <a:solidFill>
                <a:schemeClr val="tx1"/>
              </a:solidFill>
              <a:ea typeface="굴림" pitchFamily="50" charset="-127"/>
            </a:endParaRPr>
          </a:p>
          <a:p>
            <a:pPr algn="l"/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  -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store : rvrd</a:t>
            </a:r>
            <a:r>
              <a:rPr lang="ko-KR" altLang="en-US" sz="1600" b="0" dirty="0" smtClean="0">
                <a:solidFill>
                  <a:schemeClr val="tx1"/>
                </a:solidFill>
                <a:ea typeface="굴림" pitchFamily="50" charset="-127"/>
              </a:rPr>
              <a:t>에 설정되는 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routing table entry</a:t>
            </a:r>
            <a:r>
              <a:rPr lang="ko-KR" altLang="en-US" sz="1600" b="0" dirty="0" smtClean="0">
                <a:solidFill>
                  <a:schemeClr val="tx1"/>
                </a:solidFill>
                <a:ea typeface="굴림" pitchFamily="50" charset="-127"/>
              </a:rPr>
              <a:t>가 저장되는 파일</a:t>
            </a:r>
            <a:endParaRPr lang="en-US" altLang="ko-KR" sz="1600" b="0" dirty="0" smtClean="0">
              <a:solidFill>
                <a:schemeClr val="tx1"/>
              </a:solidFill>
              <a:ea typeface="굴림" pitchFamily="50" charset="-127"/>
            </a:endParaRPr>
          </a:p>
          <a:p>
            <a:pPr algn="l"/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  -http : rvrd </a:t>
            </a:r>
            <a:r>
              <a:rPr lang="ko-KR" altLang="en-US" sz="1600" b="0" dirty="0" smtClean="0">
                <a:solidFill>
                  <a:schemeClr val="tx1"/>
                </a:solidFill>
                <a:ea typeface="굴림" pitchFamily="50" charset="-127"/>
              </a:rPr>
              <a:t>프로세스는 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rvrd</a:t>
            </a:r>
            <a:r>
              <a:rPr lang="ko-KR" altLang="en-US" sz="1600" b="0" dirty="0" smtClean="0">
                <a:solidFill>
                  <a:schemeClr val="tx1"/>
                </a:solidFill>
                <a:ea typeface="굴림" pitchFamily="50" charset="-127"/>
              </a:rPr>
              <a:t>의 설정 및 정보를 제공하기 위해 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http interface </a:t>
            </a:r>
            <a:r>
              <a:rPr lang="ko-KR" altLang="en-US" sz="1600" b="0" dirty="0" smtClean="0">
                <a:solidFill>
                  <a:schemeClr val="tx1"/>
                </a:solidFill>
                <a:ea typeface="굴림" pitchFamily="50" charset="-127"/>
              </a:rPr>
              <a:t>를 제공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.</a:t>
            </a:r>
          </a:p>
          <a:p>
            <a:pPr algn="l"/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  -listen : application </a:t>
            </a:r>
            <a:r>
              <a:rPr lang="ko-KR" altLang="en-US" sz="1600" b="0" dirty="0" smtClean="0">
                <a:solidFill>
                  <a:schemeClr val="tx1"/>
                </a:solidFill>
                <a:ea typeface="굴림" pitchFamily="50" charset="-127"/>
              </a:rPr>
              <a:t>이 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transport</a:t>
            </a:r>
            <a:r>
              <a:rPr lang="ko-KR" altLang="en-US" sz="1600" b="0" dirty="0" smtClean="0">
                <a:solidFill>
                  <a:schemeClr val="tx1"/>
                </a:solidFill>
                <a:ea typeface="굴림" pitchFamily="50" charset="-127"/>
              </a:rPr>
              <a:t>를 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open</a:t>
            </a:r>
            <a:r>
              <a:rPr lang="ko-KR" altLang="en-US" sz="1600" b="0" dirty="0" smtClean="0">
                <a:solidFill>
                  <a:schemeClr val="tx1"/>
                </a:solidFill>
                <a:ea typeface="굴림" pitchFamily="50" charset="-127"/>
              </a:rPr>
              <a:t>할 시 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tcp connection</a:t>
            </a:r>
            <a:r>
              <a:rPr lang="ko-KR" altLang="en-US" sz="1600" b="0" dirty="0" smtClean="0">
                <a:solidFill>
                  <a:schemeClr val="tx1"/>
                </a:solidFill>
                <a:ea typeface="굴림" pitchFamily="50" charset="-127"/>
              </a:rPr>
              <a:t>을 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wait </a:t>
            </a:r>
            <a:r>
              <a:rPr lang="ko-KR" altLang="en-US" sz="1600" b="0" dirty="0" smtClean="0">
                <a:solidFill>
                  <a:schemeClr val="tx1"/>
                </a:solidFill>
                <a:ea typeface="굴림" pitchFamily="50" charset="-127"/>
              </a:rPr>
              <a:t>하고 있을 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tcp port. </a:t>
            </a:r>
            <a:endParaRPr lang="en-US" altLang="ko-KR" sz="1600" b="0" dirty="0" smtClean="0">
              <a:solidFill>
                <a:schemeClr val="tx1"/>
              </a:solidFill>
              <a:ea typeface="굴림" pitchFamily="50" charset="-127"/>
            </a:endParaRPr>
          </a:p>
          <a:p>
            <a:pPr algn="l"/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  - 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logfile 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: rvrd </a:t>
            </a:r>
            <a:r>
              <a:rPr lang="ko-KR" altLang="en-US" sz="1600" b="0" dirty="0" smtClean="0">
                <a:solidFill>
                  <a:schemeClr val="tx1"/>
                </a:solidFill>
                <a:ea typeface="굴림" pitchFamily="50" charset="-127"/>
              </a:rPr>
              <a:t>프로세스의 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log </a:t>
            </a:r>
            <a:r>
              <a:rPr lang="ko-KR" altLang="en-US" sz="1600" b="0" dirty="0" smtClean="0">
                <a:solidFill>
                  <a:schemeClr val="tx1"/>
                </a:solidFill>
                <a:ea typeface="굴림" pitchFamily="50" charset="-127"/>
              </a:rPr>
              <a:t>파일 설정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.</a:t>
            </a:r>
          </a:p>
          <a:p>
            <a:pPr algn="l"/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  - 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log-max-size 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&lt;size&gt;: log </a:t>
            </a:r>
            <a:r>
              <a:rPr lang="ko-KR" altLang="en-US" sz="1600" b="0" dirty="0" smtClean="0">
                <a:solidFill>
                  <a:schemeClr val="tx1"/>
                </a:solidFill>
                <a:ea typeface="굴림" pitchFamily="50" charset="-127"/>
              </a:rPr>
              <a:t>파일의 최대 로그 크기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.(size : kilobyte)</a:t>
            </a:r>
          </a:p>
          <a:p>
            <a:pPr algn="l"/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  - log-max-rotations [n] : log </a:t>
            </a:r>
            <a:r>
              <a:rPr lang="ko-KR" altLang="en-US" sz="1600" b="0" dirty="0" smtClean="0">
                <a:solidFill>
                  <a:schemeClr val="tx1"/>
                </a:solidFill>
                <a:ea typeface="굴림" pitchFamily="50" charset="-127"/>
              </a:rPr>
              <a:t>파일이 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log-max-size </a:t>
            </a:r>
            <a:r>
              <a:rPr lang="ko-KR" altLang="en-US" sz="1600" b="0" dirty="0" smtClean="0">
                <a:solidFill>
                  <a:schemeClr val="tx1"/>
                </a:solidFill>
                <a:ea typeface="굴림" pitchFamily="50" charset="-127"/>
              </a:rPr>
              <a:t>크기만큼 되었을 시 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rotation </a:t>
            </a:r>
            <a:r>
              <a:rPr lang="ko-KR" altLang="en-US" sz="1600" b="0" dirty="0" smtClean="0">
                <a:solidFill>
                  <a:schemeClr val="tx1"/>
                </a:solidFill>
                <a:ea typeface="굴림" pitchFamily="50" charset="-127"/>
              </a:rPr>
              <a:t>되는 파일의 개수</a:t>
            </a:r>
            <a:r>
              <a:rPr lang="en-US" altLang="ko-KR" sz="1600" b="0" dirty="0" smtClean="0">
                <a:solidFill>
                  <a:schemeClr val="tx1"/>
                </a:solidFill>
                <a:ea typeface="굴림" pitchFamily="50" charset="-127"/>
              </a:rPr>
              <a:t>.</a:t>
            </a:r>
          </a:p>
        </p:txBody>
      </p:sp>
      <p:sp>
        <p:nvSpPr>
          <p:cNvPr id="8" name="Rectangle 3"/>
          <p:cNvSpPr>
            <a:spLocks noGrp="1" noChangeArrowheads="1"/>
          </p:cNvSpPr>
          <p:nvPr/>
        </p:nvSpPr>
        <p:spPr bwMode="auto">
          <a:xfrm>
            <a:off x="257175" y="1124744"/>
            <a:ext cx="8886825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61950" indent="-361950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rgbClr val="2A3166"/>
              </a:buClr>
              <a:buFont typeface="Wingdings" pitchFamily="2" charset="2"/>
              <a:buBlip>
                <a:blip r:embed="rId3"/>
              </a:buBlip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268288" algn="l" rtl="0" eaLnBrk="0" fontAlgn="base" hangingPunct="0">
              <a:lnSpc>
                <a:spcPct val="110000"/>
              </a:lnSpc>
              <a:spcBef>
                <a:spcPct val="4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Blip>
                <a:blip r:embed="rId4"/>
              </a:buBlip>
              <a:defRPr>
                <a:solidFill>
                  <a:schemeClr val="tx1"/>
                </a:solidFill>
                <a:latin typeface="+mn-lt"/>
                <a:ea typeface="굴림" pitchFamily="50" charset="-127"/>
              </a:defRPr>
            </a:lvl2pPr>
            <a:lvl3pPr marL="1257300" indent="-268288" algn="l" rtl="0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5"/>
              </a:buBlip>
              <a:defRPr sz="1600">
                <a:solidFill>
                  <a:schemeClr val="tx1"/>
                </a:solidFill>
                <a:latin typeface="+mn-lt"/>
                <a:ea typeface="굴림" pitchFamily="50" charset="-127"/>
              </a:defRPr>
            </a:lvl3pPr>
            <a:lvl4pPr marL="1704975" indent="-2682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Blip>
                <a:blip r:embed="rId6"/>
              </a:buBlip>
              <a:defRPr sz="1400">
                <a:solidFill>
                  <a:schemeClr val="tx1"/>
                </a:solidFill>
                <a:latin typeface="+mn-lt"/>
                <a:ea typeface="굴림" pitchFamily="50" charset="-127"/>
              </a:defRPr>
            </a:lvl4pPr>
            <a:lvl5pPr marL="26463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5pPr>
            <a:lvl6pPr marL="31035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6pPr>
            <a:lvl7pPr marL="35607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7pPr>
            <a:lvl8pPr marL="40179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8pPr>
            <a:lvl9pPr marL="447516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굴림" pitchFamily="50" charset="-127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ko-KR" sz="1800" b="1" dirty="0" smtClean="0">
                <a:ea typeface="굴림" pitchFamily="50" charset="-127"/>
              </a:rPr>
              <a:t>RVRD </a:t>
            </a:r>
            <a:r>
              <a:rPr lang="ko-KR" altLang="en-US" sz="1800" b="1" dirty="0" smtClean="0">
                <a:ea typeface="굴림" pitchFamily="50" charset="-127"/>
              </a:rPr>
              <a:t>기동</a:t>
            </a:r>
            <a:endParaRPr lang="en-US" altLang="ko-KR" sz="1800" b="1" dirty="0">
              <a:ea typeface="굴림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289474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A0BBF4-2688-4489-8EB0-D33F14786568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pic>
        <p:nvPicPr>
          <p:cNvPr id="60" name="Picture 2" descr="C:\Users\sunwoong\Desktop\각종 서류\파트너사 로고\Tibco_logo-_Palo_Alto,_CA_company-_(PNG)_2013-11-24_16-00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565" y="543698"/>
            <a:ext cx="1025236" cy="317930"/>
          </a:xfrm>
          <a:prstGeom prst="rect">
            <a:avLst/>
          </a:prstGeom>
          <a:noFill/>
        </p:spPr>
      </p:pic>
      <p:sp>
        <p:nvSpPr>
          <p:cNvPr id="19" name="TextBox 18"/>
          <p:cNvSpPr txBox="1"/>
          <p:nvPr/>
        </p:nvSpPr>
        <p:spPr>
          <a:xfrm>
            <a:off x="2500298" y="2857496"/>
            <a:ext cx="383310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dirty="0" smtClean="0"/>
              <a:t>감사합니다</a:t>
            </a:r>
            <a:r>
              <a:rPr lang="en-US" altLang="ko-KR" sz="6600" dirty="0" smtClean="0"/>
              <a:t>.</a:t>
            </a:r>
            <a:endParaRPr lang="ko-KR" altLang="en-US" sz="6600" dirty="0"/>
          </a:p>
        </p:txBody>
      </p:sp>
    </p:spTree>
    <p:extLst>
      <p:ext uri="{BB962C8B-B14F-4D97-AF65-F5344CB8AC3E}">
        <p14:creationId xmlns="" xmlns:p14="http://schemas.microsoft.com/office/powerpoint/2010/main" val="2289474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71AB31AD1524274CA67EF487220B3624" ma:contentTypeVersion="16" ma:contentTypeDescription="새 문서를 만듭니다." ma:contentTypeScope="" ma:versionID="03f38e87ddbb59d5b2a79c464b550d19">
  <xsd:schema xmlns:xsd="http://www.w3.org/2001/XMLSchema" xmlns:xs="http://www.w3.org/2001/XMLSchema" xmlns:p="http://schemas.microsoft.com/office/2006/metadata/properties" xmlns:ns2="099969a0-a67b-4e72-9436-fcdf9fe95d6f" xmlns:ns3="1257d717-e82a-4e32-a46f-a1da56d84073" targetNamespace="http://schemas.microsoft.com/office/2006/metadata/properties" ma:root="true" ma:fieldsID="ce71bbbe06a304ad0ac6d0d487ff5c82" ns2:_="" ns3:_="">
    <xsd:import namespace="099969a0-a67b-4e72-9436-fcdf9fe95d6f"/>
    <xsd:import namespace="1257d717-e82a-4e32-a46f-a1da56d840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_xb9c1__xd06c_" minOccurs="0"/>
                <xsd:element ref="ns2:MediaServiceObjectDetectorVersion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9969a0-a67b-4e72-9436-fcdf9fe95d6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이미지 태그" ma:readOnly="false" ma:fieldId="{5cf76f15-5ced-4ddc-b409-7134ff3c332f}" ma:taxonomyMulti="true" ma:sspId="eeef45f1-0559-4220-940d-6395fa324f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xb9c1__xd06c_" ma:index="21" nillable="true" ma:displayName="링크" ma:format="Hyperlink" ma:internalName="_xb9c1__xd06c_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57d717-e82a-4e32-a46f-a1da56d84073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6aaadfb2-541b-4fa0-9f04-06305f547df5}" ma:internalName="TaxCatchAll" ma:showField="CatchAllData" ma:web="1257d717-e82a-4e32-a46f-a1da56d840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257d717-e82a-4e32-a46f-a1da56d84073" xsi:nil="true"/>
    <_xb9c1__xd06c_ xmlns="099969a0-a67b-4e72-9436-fcdf9fe95d6f">
      <Url xsi:nil="true"/>
      <Description xsi:nil="true"/>
    </_xb9c1__xd06c_>
    <lcf76f155ced4ddcb4097134ff3c332f xmlns="099969a0-a67b-4e72-9436-fcdf9fe95d6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2C2EC60-0B85-4BF5-B380-9F9B2FA81D5F}"/>
</file>

<file path=customXml/itemProps2.xml><?xml version="1.0" encoding="utf-8"?>
<ds:datastoreItem xmlns:ds="http://schemas.openxmlformats.org/officeDocument/2006/customXml" ds:itemID="{C7C3B0E6-AB32-47B9-B47E-7C7A9A7C57C5}"/>
</file>

<file path=customXml/itemProps3.xml><?xml version="1.0" encoding="utf-8"?>
<ds:datastoreItem xmlns:ds="http://schemas.openxmlformats.org/officeDocument/2006/customXml" ds:itemID="{8D61EA01-7571-4CF3-9396-BF660A13BA4B}"/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316</Words>
  <Application>Microsoft Office PowerPoint</Application>
  <PresentationFormat>화면 슬라이드 쇼(4:3)</PresentationFormat>
  <Paragraphs>62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슬라이드 1</vt:lpstr>
      <vt:lpstr>RVRD</vt:lpstr>
      <vt:lpstr>RVRD 라우팅</vt:lpstr>
      <vt:lpstr>RVRD 기동</vt:lpstr>
      <vt:lpstr>슬라이드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hojin</dc:creator>
  <cp:lastModifiedBy>Joon</cp:lastModifiedBy>
  <cp:revision>125</cp:revision>
  <dcterms:created xsi:type="dcterms:W3CDTF">2014-08-27T08:44:47Z</dcterms:created>
  <dcterms:modified xsi:type="dcterms:W3CDTF">2015-04-02T08:55:29Z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0x01010071AB31AD1524274CA67EF487220B3624</vt:lpwstr>
  </property>
</Properties>
</file>