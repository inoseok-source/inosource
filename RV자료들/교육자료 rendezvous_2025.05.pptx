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85" r:id="rId5"/>
    <p:sldId id="286" r:id="rId6"/>
    <p:sldId id="308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09" r:id="rId17"/>
    <p:sldId id="321" r:id="rId18"/>
    <p:sldId id="320" r:id="rId19"/>
    <p:sldId id="322" r:id="rId20"/>
    <p:sldId id="323" r:id="rId21"/>
    <p:sldId id="324" r:id="rId22"/>
    <p:sldId id="325" r:id="rId23"/>
    <p:sldId id="326" r:id="rId24"/>
    <p:sldId id="327" r:id="rId25"/>
    <p:sldId id="319" r:id="rId26"/>
    <p:sldId id="284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7240AE7-1668-4412-AEAC-4CF63D1824A3}">
          <p14:sldIdLst>
            <p14:sldId id="285"/>
            <p14:sldId id="286"/>
          </p14:sldIdLst>
        </p14:section>
        <p14:section name="MOM" id="{6400C67F-7984-40E2-881D-4FFFD5C69ECD}">
          <p14:sldIdLst>
            <p14:sldId id="308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Overview" id="{0A8F4221-92F2-4E92-8C69-642126CD13FE}">
          <p14:sldIdLst>
            <p14:sldId id="309"/>
          </p14:sldIdLst>
        </p14:section>
        <p14:section name="Messaging" id="{7CB67BFD-6ED1-49D4-B285-AB071108EF48}">
          <p14:sldIdLst>
            <p14:sldId id="321"/>
            <p14:sldId id="320"/>
            <p14:sldId id="322"/>
            <p14:sldId id="323"/>
          </p14:sldIdLst>
        </p14:section>
        <p14:section name="Transport" id="{DE6958DE-2503-43CE-B4C2-5FF854342AC5}">
          <p14:sldIdLst>
            <p14:sldId id="324"/>
            <p14:sldId id="325"/>
          </p14:sldIdLst>
        </p14:section>
        <p14:section name="Function" id="{2C63ABE3-7ABF-4060-8FC5-77204566B352}">
          <p14:sldIdLst>
            <p14:sldId id="326"/>
            <p14:sldId id="327"/>
          </p14:sldIdLst>
        </p14:section>
        <p14:section name="REF" id="{6BDE10C3-914D-403E-9D56-F9EA0B4B0D73}">
          <p14:sldIdLst>
            <p14:sldId id="319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857" userDrawn="1">
          <p15:clr>
            <a:srgbClr val="A4A3A4"/>
          </p15:clr>
        </p15:guide>
        <p15:guide id="3" pos="158" userDrawn="1">
          <p15:clr>
            <a:srgbClr val="A4A3A4"/>
          </p15:clr>
        </p15:guide>
        <p15:guide id="4" pos="56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송석찬" initials="송" lastIdx="1" clrIdx="0">
    <p:extLst>
      <p:ext uri="{19B8F6BF-5375-455C-9EA6-DF929625EA0E}">
        <p15:presenceInfo xmlns:p15="http://schemas.microsoft.com/office/powerpoint/2012/main" userId="S::ssch@kimids.co.kr::7800585c-e7c7-4a3c-9609-14859b22fca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DCE"/>
    <a:srgbClr val="0F9BB7"/>
    <a:srgbClr val="199DAC"/>
    <a:srgbClr val="55DBD8"/>
    <a:srgbClr val="69F7F4"/>
    <a:srgbClr val="0CDED9"/>
    <a:srgbClr val="22B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1" autoAdjust="0"/>
    <p:restoredTop sz="96353" autoAdjust="0"/>
  </p:normalViewPr>
  <p:slideViewPr>
    <p:cSldViewPr snapToGrid="0">
      <p:cViewPr>
        <p:scale>
          <a:sx n="110" d="100"/>
          <a:sy n="110" d="100"/>
        </p:scale>
        <p:origin x="1680" y="24"/>
      </p:cViewPr>
      <p:guideLst>
        <p:guide orient="horz" pos="890"/>
        <p:guide pos="2857"/>
        <p:guide pos="158"/>
        <p:guide pos="56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09571-F54F-4E0D-9BB9-962A0E225AAD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7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7" y="8685217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08315-94E2-4ACD-AF4F-39F9C6CCA4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84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FDEBC-C75A-4166-9B47-86B4417A882F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7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7" y="8685217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B78D8-6147-4C70-998A-848F7892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47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44000" cy="6858000"/>
          </a:xfrm>
          <a:prstGeom prst="rect">
            <a:avLst/>
          </a:prstGeom>
        </p:spPr>
      </p:pic>
      <p:pic>
        <p:nvPicPr>
          <p:cNvPr id="3" name="그림 2" descr="폰트, 그래픽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9540B70-8265-F51E-D02E-5AA07AD5C3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597" y="6386426"/>
            <a:ext cx="999830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3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1" name="텍스트 개체 틀 40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7854" y="389097"/>
            <a:ext cx="3116377" cy="593246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199DAC"/>
                </a:solidFill>
              </a:defRPr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3" name="내용 개체 틀 42"/>
          <p:cNvSpPr>
            <a:spLocks noGrp="1"/>
          </p:cNvSpPr>
          <p:nvPr userDrawn="1">
            <p:ph sz="quarter" idx="11" hasCustomPrompt="1"/>
          </p:nvPr>
        </p:nvSpPr>
        <p:spPr>
          <a:xfrm>
            <a:off x="4572000" y="1274619"/>
            <a:ext cx="4114201" cy="3745956"/>
          </a:xfrm>
        </p:spPr>
        <p:txBody>
          <a:bodyPr>
            <a:normAutofit/>
          </a:bodyPr>
          <a:lstStyle>
            <a:lvl1pPr marL="514350" indent="-514350">
              <a:lnSpc>
                <a:spcPts val="3600"/>
              </a:lnSpc>
              <a:buFont typeface="+mj-lt"/>
              <a:buAutoNum type="arabicPeriod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개요</a:t>
            </a:r>
            <a:endParaRPr lang="en-US" altLang="ko-KR" dirty="0"/>
          </a:p>
          <a:p>
            <a:pPr lvl="0"/>
            <a:r>
              <a:rPr lang="ko-KR" altLang="en-US" dirty="0"/>
              <a:t>도입목적</a:t>
            </a:r>
            <a:endParaRPr lang="en-US" altLang="ko-KR" dirty="0"/>
          </a:p>
          <a:p>
            <a:pPr lvl="0"/>
            <a:r>
              <a:rPr lang="ko-KR" altLang="en-US" dirty="0"/>
              <a:t>기대효과</a:t>
            </a:r>
            <a:endParaRPr lang="en-US" altLang="ko-KR" dirty="0"/>
          </a:p>
          <a:p>
            <a:pPr lvl="0"/>
            <a:r>
              <a:rPr lang="ko-KR" altLang="en-US" dirty="0"/>
              <a:t>주요기능</a:t>
            </a:r>
          </a:p>
        </p:txBody>
      </p:sp>
    </p:spTree>
    <p:extLst>
      <p:ext uri="{BB962C8B-B14F-4D97-AF65-F5344CB8AC3E}">
        <p14:creationId xmlns:p14="http://schemas.microsoft.com/office/powerpoint/2010/main" val="426617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 userDrawn="1"/>
        </p:nvSpPr>
        <p:spPr>
          <a:xfrm>
            <a:off x="0" y="72000"/>
            <a:ext cx="9144000" cy="74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47822" y="6390334"/>
            <a:ext cx="848356" cy="365125"/>
          </a:xfrm>
        </p:spPr>
        <p:txBody>
          <a:bodyPr/>
          <a:lstStyle>
            <a:lvl1pPr algn="ctr">
              <a:defRPr>
                <a:latin typeface="+mn-ea"/>
                <a:ea typeface="+mn-ea"/>
              </a:defRPr>
            </a:lvl1pPr>
          </a:lstStyle>
          <a:p>
            <a:fld id="{F54B6455-C081-4C2A-984E-83D1ADFA9D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21" name="bk object 21"/>
          <p:cNvSpPr/>
          <p:nvPr userDrawn="1"/>
        </p:nvSpPr>
        <p:spPr>
          <a:xfrm>
            <a:off x="761" y="814500"/>
            <a:ext cx="9144000" cy="0"/>
          </a:xfrm>
          <a:custGeom>
            <a:avLst/>
            <a:gdLst/>
            <a:ahLst/>
            <a:cxnLst/>
            <a:rect l="l" t="t" r="r" b="b"/>
            <a:pathLst>
              <a:path w="12801600">
                <a:moveTo>
                  <a:pt x="0" y="0"/>
                </a:moveTo>
                <a:lnTo>
                  <a:pt x="12801600" y="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0" y="860180"/>
            <a:ext cx="138710" cy="469856"/>
          </a:xfrm>
          <a:prstGeom prst="rect">
            <a:avLst/>
          </a:prstGeom>
          <a:gradFill>
            <a:gsLst>
              <a:gs pos="0">
                <a:srgbClr val="55DBD8"/>
              </a:gs>
              <a:gs pos="100000">
                <a:srgbClr val="1C7DCE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36" name="직사각형 35"/>
          <p:cNvSpPr/>
          <p:nvPr userDrawn="1"/>
        </p:nvSpPr>
        <p:spPr>
          <a:xfrm>
            <a:off x="138710" y="1330037"/>
            <a:ext cx="8866580" cy="5060296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7" name="텍스트 개체 틀 12">
            <a:extLst>
              <a:ext uri="{FF2B5EF4-FFF2-40B4-BE49-F238E27FC236}">
                <a16:creationId xmlns:a16="http://schemas.microsoft.com/office/drawing/2014/main" id="{27242B2B-DFFE-487E-A03D-991C7F41B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500" y="869441"/>
            <a:ext cx="8849790" cy="386793"/>
          </a:xfrm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100000"/>
              </a:lnSpc>
              <a:defRPr lang="ko-KR" altLang="en-US" sz="1400" b="1">
                <a:latin typeface="+mn-ea"/>
                <a:ea typeface="+mn-ea"/>
              </a:defRPr>
            </a:lvl1pPr>
          </a:lstStyle>
          <a:p>
            <a:pPr marL="0" lvl="0" indent="0">
              <a:lnSpc>
                <a:spcPts val="800"/>
              </a:lnSpc>
              <a:buNone/>
            </a:pPr>
            <a:r>
              <a:rPr lang="ko-KR" altLang="en-US" dirty="0" err="1"/>
              <a:t>중제목</a:t>
            </a:r>
            <a:r>
              <a:rPr lang="en-US" altLang="ko-KR" dirty="0"/>
              <a:t>, </a:t>
            </a:r>
            <a:r>
              <a:rPr lang="ko-KR" altLang="en-US" dirty="0"/>
              <a:t>소제목</a:t>
            </a:r>
            <a:r>
              <a:rPr lang="en-US" altLang="ko-KR" dirty="0"/>
              <a:t>, </a:t>
            </a:r>
            <a:r>
              <a:rPr lang="ko-KR" altLang="en-US" dirty="0"/>
              <a:t>세부제목을 입력합니다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2">
            <a:extLst>
              <a:ext uri="{FF2B5EF4-FFF2-40B4-BE49-F238E27FC236}">
                <a16:creationId xmlns:a16="http://schemas.microsoft.com/office/drawing/2014/main" id="{DC24E864-1266-4278-95ED-EB66B46C08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710" y="311048"/>
            <a:ext cx="8866580" cy="386793"/>
          </a:xfrm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100000"/>
              </a:lnSpc>
              <a:defRPr lang="ko-KR" altLang="en-US" sz="2400" b="1">
                <a:latin typeface="+mj-ea"/>
                <a:ea typeface="+mj-ea"/>
              </a:defRPr>
            </a:lvl1pPr>
          </a:lstStyle>
          <a:p>
            <a:pPr marL="0" lvl="0" indent="0">
              <a:lnSpc>
                <a:spcPts val="8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/>
              <a:t>제목</a:t>
            </a:r>
          </a:p>
        </p:txBody>
      </p:sp>
      <p:pic>
        <p:nvPicPr>
          <p:cNvPr id="3" name="그림 2" descr="폰트, 그래픽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6D79A3-63CF-1ED8-B7E8-D2E5873771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253" y="6390333"/>
            <a:ext cx="999830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7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47822" y="6390334"/>
            <a:ext cx="848356" cy="365125"/>
          </a:xfrm>
        </p:spPr>
        <p:txBody>
          <a:bodyPr/>
          <a:lstStyle>
            <a:lvl1pPr algn="ctr">
              <a:defRPr>
                <a:latin typeface="+mn-ea"/>
                <a:ea typeface="+mn-ea"/>
              </a:defRPr>
            </a:lvl1pPr>
          </a:lstStyle>
          <a:p>
            <a:fld id="{F54B6455-C081-4C2A-984E-83D1ADFA9D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6" name="직사각형 35"/>
          <p:cNvSpPr/>
          <p:nvPr userDrawn="1"/>
        </p:nvSpPr>
        <p:spPr>
          <a:xfrm>
            <a:off x="138710" y="1920236"/>
            <a:ext cx="8866580" cy="4336359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9" name="bk object 16">
            <a:extLst>
              <a:ext uri="{FF2B5EF4-FFF2-40B4-BE49-F238E27FC236}">
                <a16:creationId xmlns:a16="http://schemas.microsoft.com/office/drawing/2014/main" id="{912D6C6A-1FEB-4174-9BD7-D9CEC0810AB4}"/>
              </a:ext>
            </a:extLst>
          </p:cNvPr>
          <p:cNvSpPr/>
          <p:nvPr userDrawn="1"/>
        </p:nvSpPr>
        <p:spPr>
          <a:xfrm>
            <a:off x="0" y="72000"/>
            <a:ext cx="9144000" cy="74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985544-4DAE-472B-8CF7-E4CA453B3124}"/>
              </a:ext>
            </a:extLst>
          </p:cNvPr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26" name="bk object 21">
            <a:extLst>
              <a:ext uri="{FF2B5EF4-FFF2-40B4-BE49-F238E27FC236}">
                <a16:creationId xmlns:a16="http://schemas.microsoft.com/office/drawing/2014/main" id="{2FC26575-5D93-4F1F-BD55-CC8CE6C71088}"/>
              </a:ext>
            </a:extLst>
          </p:cNvPr>
          <p:cNvSpPr/>
          <p:nvPr userDrawn="1"/>
        </p:nvSpPr>
        <p:spPr>
          <a:xfrm>
            <a:off x="761" y="814500"/>
            <a:ext cx="9144000" cy="0"/>
          </a:xfrm>
          <a:custGeom>
            <a:avLst/>
            <a:gdLst/>
            <a:ahLst/>
            <a:cxnLst/>
            <a:rect l="l" t="t" r="r" b="b"/>
            <a:pathLst>
              <a:path w="12801600">
                <a:moveTo>
                  <a:pt x="0" y="0"/>
                </a:moveTo>
                <a:lnTo>
                  <a:pt x="12801600" y="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029862C-CF77-478D-839D-CD07F37338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55500" y="1332397"/>
            <a:ext cx="8849790" cy="532010"/>
          </a:xfrm>
        </p:spPr>
        <p:txBody>
          <a:bodyPr tIns="0">
            <a:normAutofit/>
          </a:bodyPr>
          <a:lstStyle>
            <a:lvl1pPr marL="0" marR="0" indent="0" algn="l" defTabSz="914400" rtl="0" eaLnBrk="1" fontAlgn="auto" latinLnBrk="1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184F1E-A242-4A2E-84D7-FC61D65FA863}"/>
              </a:ext>
            </a:extLst>
          </p:cNvPr>
          <p:cNvSpPr/>
          <p:nvPr userDrawn="1"/>
        </p:nvSpPr>
        <p:spPr>
          <a:xfrm>
            <a:off x="0" y="860179"/>
            <a:ext cx="155500" cy="1014379"/>
          </a:xfrm>
          <a:prstGeom prst="rect">
            <a:avLst/>
          </a:prstGeom>
          <a:gradFill>
            <a:gsLst>
              <a:gs pos="0">
                <a:srgbClr val="55DBD8"/>
              </a:gs>
              <a:gs pos="100000">
                <a:srgbClr val="1C7DCE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29" name="텍스트 개체 틀 12">
            <a:extLst>
              <a:ext uri="{FF2B5EF4-FFF2-40B4-BE49-F238E27FC236}">
                <a16:creationId xmlns:a16="http://schemas.microsoft.com/office/drawing/2014/main" id="{A0F43F93-F46C-4E47-BED9-CECD24E8F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500" y="869441"/>
            <a:ext cx="8849790" cy="386793"/>
          </a:xfrm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100000"/>
              </a:lnSpc>
              <a:defRPr lang="ko-KR" altLang="en-US" sz="1400" b="1">
                <a:latin typeface="+mn-ea"/>
                <a:ea typeface="+mn-ea"/>
              </a:defRPr>
            </a:lvl1pPr>
          </a:lstStyle>
          <a:p>
            <a:pPr marL="0" lvl="0" indent="0">
              <a:lnSpc>
                <a:spcPts val="800"/>
              </a:lnSpc>
              <a:buNone/>
            </a:pPr>
            <a:r>
              <a:rPr lang="ko-KR" altLang="en-US" dirty="0" err="1"/>
              <a:t>중제목</a:t>
            </a:r>
            <a:r>
              <a:rPr lang="en-US" altLang="ko-KR" dirty="0"/>
              <a:t>, </a:t>
            </a:r>
            <a:r>
              <a:rPr lang="ko-KR" altLang="en-US" dirty="0"/>
              <a:t>소제목</a:t>
            </a:r>
            <a:r>
              <a:rPr lang="en-US" altLang="ko-KR" dirty="0"/>
              <a:t>, </a:t>
            </a:r>
            <a:r>
              <a:rPr lang="ko-KR" altLang="en-US" dirty="0"/>
              <a:t>세부제목을 입력합니다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3FB918-EF87-40C5-ABF6-8F5E2C2FD1FC}"/>
              </a:ext>
            </a:extLst>
          </p:cNvPr>
          <p:cNvSpPr/>
          <p:nvPr userDrawn="1"/>
        </p:nvSpPr>
        <p:spPr>
          <a:xfrm>
            <a:off x="155499" y="235233"/>
            <a:ext cx="87206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+mj-ea"/>
                <a:ea typeface="+mj-ea"/>
              </a:rPr>
              <a:t>2. </a:t>
            </a:r>
            <a:r>
              <a:rPr lang="ko-KR" altLang="en-US" sz="2400" b="1" dirty="0">
                <a:latin typeface="+mj-ea"/>
                <a:ea typeface="+mj-ea"/>
              </a:rPr>
              <a:t>구성도</a:t>
            </a:r>
          </a:p>
        </p:txBody>
      </p:sp>
      <p:pic>
        <p:nvPicPr>
          <p:cNvPr id="2" name="그림 1" descr="폰트, 그래픽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0BE5280-BFDD-8B5C-4344-36DA85FAE1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314" y="6390334"/>
            <a:ext cx="999830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5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 userDrawn="1"/>
        </p:nvSpPr>
        <p:spPr>
          <a:xfrm>
            <a:off x="0" y="72000"/>
            <a:ext cx="9144000" cy="74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47822" y="6390334"/>
            <a:ext cx="848356" cy="365125"/>
          </a:xfrm>
        </p:spPr>
        <p:txBody>
          <a:bodyPr/>
          <a:lstStyle>
            <a:lvl1pPr algn="ctr">
              <a:defRPr>
                <a:latin typeface="+mn-ea"/>
                <a:ea typeface="+mn-ea"/>
              </a:defRPr>
            </a:lvl1pPr>
          </a:lstStyle>
          <a:p>
            <a:fld id="{F54B6455-C081-4C2A-984E-83D1ADFA9D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21" name="bk object 21"/>
          <p:cNvSpPr/>
          <p:nvPr userDrawn="1"/>
        </p:nvSpPr>
        <p:spPr>
          <a:xfrm>
            <a:off x="761" y="814500"/>
            <a:ext cx="9144000" cy="0"/>
          </a:xfrm>
          <a:custGeom>
            <a:avLst/>
            <a:gdLst/>
            <a:ahLst/>
            <a:cxnLst/>
            <a:rect l="l" t="t" r="r" b="b"/>
            <a:pathLst>
              <a:path w="12801600">
                <a:moveTo>
                  <a:pt x="0" y="0"/>
                </a:moveTo>
                <a:lnTo>
                  <a:pt x="12801600" y="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0" y="860179"/>
            <a:ext cx="155500" cy="466113"/>
          </a:xfrm>
          <a:prstGeom prst="rect">
            <a:avLst/>
          </a:prstGeom>
          <a:gradFill>
            <a:gsLst>
              <a:gs pos="0">
                <a:srgbClr val="55DBD8"/>
              </a:gs>
              <a:gs pos="100000">
                <a:srgbClr val="1C7DCE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36" name="직사각형 35"/>
          <p:cNvSpPr/>
          <p:nvPr userDrawn="1"/>
        </p:nvSpPr>
        <p:spPr>
          <a:xfrm>
            <a:off x="138710" y="1381232"/>
            <a:ext cx="8866580" cy="4875364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7" name="텍스트 개체 틀 12">
            <a:extLst>
              <a:ext uri="{FF2B5EF4-FFF2-40B4-BE49-F238E27FC236}">
                <a16:creationId xmlns:a16="http://schemas.microsoft.com/office/drawing/2014/main" id="{27242B2B-DFFE-487E-A03D-991C7F41B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500" y="869441"/>
            <a:ext cx="8849790" cy="466112"/>
          </a:xfrm>
        </p:spPr>
        <p:txBody>
          <a:bodyPr vert="horz" lIns="91440" tIns="45720" rIns="91440" bIns="45720" rtlCol="0" anchor="ctr" anchorCtr="0">
            <a:noAutofit/>
          </a:bodyPr>
          <a:lstStyle>
            <a:lvl1pPr>
              <a:lnSpc>
                <a:spcPct val="100000"/>
              </a:lnSpc>
              <a:defRPr lang="ko-KR" altLang="en-US" sz="1400" b="1">
                <a:latin typeface="+mn-ea"/>
                <a:ea typeface="+mn-ea"/>
              </a:defRPr>
            </a:lvl1pPr>
          </a:lstStyle>
          <a:p>
            <a:pPr marL="0" lvl="0" indent="0">
              <a:lnSpc>
                <a:spcPts val="800"/>
              </a:lnSpc>
              <a:buNone/>
            </a:pPr>
            <a:r>
              <a:rPr lang="ko-KR" altLang="en-US" dirty="0" err="1"/>
              <a:t>중제목</a:t>
            </a:r>
            <a:r>
              <a:rPr lang="en-US" altLang="ko-KR" dirty="0"/>
              <a:t>, </a:t>
            </a:r>
            <a:r>
              <a:rPr lang="ko-KR" altLang="en-US" dirty="0"/>
              <a:t>소제목</a:t>
            </a:r>
            <a:r>
              <a:rPr lang="en-US" altLang="ko-KR" dirty="0"/>
              <a:t>, </a:t>
            </a:r>
            <a:r>
              <a:rPr lang="ko-KR" altLang="en-US" dirty="0"/>
              <a:t>세부제목을 입력합니다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그림 1" descr="폰트, 그래픽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ADFEACB-34BC-A3A8-D75F-C85D8F1D29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253" y="6390334"/>
            <a:ext cx="999830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7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935" y="6423117"/>
            <a:ext cx="848356" cy="30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1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lvl1pPr>
          </a:lstStyle>
          <a:p>
            <a:fld id="{F54B6455-C081-4C2A-984E-83D1ADFA9D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1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6" r:id="rId4"/>
    <p:sldLayoutId id="2147483676" r:id="rId5"/>
    <p:sldLayoutId id="2147483667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ix고딕 L" panose="02020603020101020101" pitchFamily="18" charset="-127"/>
          <a:ea typeface="Rix고딕 L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ix고딕 L" panose="02020603020101020101" pitchFamily="18" charset="-127"/>
          <a:ea typeface="Rix고딕 L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ix고딕 L" panose="02020603020101020101" pitchFamily="18" charset="-127"/>
          <a:ea typeface="Rix고딕 L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ix고딕 L" panose="02020603020101020101" pitchFamily="18" charset="-127"/>
          <a:ea typeface="Rix고딕 L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ix고딕 L" panose="02020603020101020101" pitchFamily="18" charset="-127"/>
          <a:ea typeface="Rix고딕 L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ix고딕 L" panose="02020603020101020101" pitchFamily="18" charset="-127"/>
          <a:ea typeface="Rix고딕 L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65BBA5-FD94-41D8-A461-EB633794F5BF}"/>
              </a:ext>
            </a:extLst>
          </p:cNvPr>
          <p:cNvSpPr txBox="1"/>
          <p:nvPr/>
        </p:nvSpPr>
        <p:spPr>
          <a:xfrm>
            <a:off x="961053" y="1385739"/>
            <a:ext cx="7212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+mj-ea"/>
                <a:ea typeface="+mj-ea"/>
              </a:rPr>
              <a:t>TIBCO</a:t>
            </a:r>
            <a:r>
              <a:rPr lang="ko-KR" altLang="en-US" sz="4000" b="1" dirty="0">
                <a:latin typeface="+mj-ea"/>
                <a:ea typeface="+mj-ea"/>
              </a:rPr>
              <a:t> </a:t>
            </a:r>
            <a:r>
              <a:rPr lang="en-US" altLang="ko-KR" sz="4000" b="1" dirty="0">
                <a:latin typeface="+mj-ea"/>
                <a:ea typeface="+mj-ea"/>
              </a:rPr>
              <a:t>Rendezvous</a:t>
            </a:r>
            <a:endParaRPr lang="ko-KR" altLang="en-US" sz="4000" b="1" dirty="0">
              <a:latin typeface="+mj-ea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3625E-7FE0-DF77-E797-2E6C5B1733D5}"/>
              </a:ext>
            </a:extLst>
          </p:cNvPr>
          <p:cNvSpPr txBox="1"/>
          <p:nvPr/>
        </p:nvSpPr>
        <p:spPr>
          <a:xfrm>
            <a:off x="6018245" y="5118318"/>
            <a:ext cx="2873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latin typeface="+mj-ea"/>
                <a:ea typeface="+mj-ea"/>
              </a:rPr>
              <a:t>Integration Part</a:t>
            </a:r>
          </a:p>
          <a:p>
            <a:pPr algn="r"/>
            <a:r>
              <a:rPr lang="en-US" altLang="ko-KR" sz="2000" b="1" dirty="0">
                <a:latin typeface="+mj-ea"/>
                <a:ea typeface="+mj-ea"/>
              </a:rPr>
              <a:t>2025. 05.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143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703591F-BB7F-45BE-876A-C2FA3E233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ko-KR" altLang="en-US" dirty="0"/>
              <a:t>개요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3F997-9D41-4643-A0C1-D84A69C1A6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71111" y="801098"/>
            <a:ext cx="4868088" cy="5442939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+mn-ea"/>
                <a:ea typeface="+mn-ea"/>
              </a:rPr>
              <a:t>Concept</a:t>
            </a:r>
          </a:p>
          <a:p>
            <a:r>
              <a:rPr lang="en-US" altLang="ko-KR" sz="2000" dirty="0">
                <a:latin typeface="+mn-ea"/>
                <a:ea typeface="+mn-ea"/>
              </a:rPr>
              <a:t>General Concepts</a:t>
            </a:r>
          </a:p>
          <a:p>
            <a:r>
              <a:rPr lang="en-US" altLang="ko-KR" sz="2000" dirty="0">
                <a:latin typeface="+mn-ea"/>
                <a:ea typeface="+mn-ea"/>
              </a:rPr>
              <a:t>Additional General Concepts</a:t>
            </a:r>
          </a:p>
          <a:p>
            <a:r>
              <a:rPr lang="en-US" altLang="ko-KR" sz="2000" dirty="0">
                <a:latin typeface="+mn-ea"/>
                <a:ea typeface="+mn-ea"/>
              </a:rPr>
              <a:t>Design-time Concepts</a:t>
            </a:r>
          </a:p>
          <a:p>
            <a:r>
              <a:rPr lang="en-US" altLang="ko-KR" sz="2000" dirty="0">
                <a:latin typeface="+mn-ea"/>
                <a:ea typeface="+mn-ea"/>
              </a:rPr>
              <a:t>Runtime Concepts</a:t>
            </a:r>
          </a:p>
          <a:p>
            <a:r>
              <a:rPr lang="en-US" altLang="ko-KR" sz="2000" dirty="0">
                <a:latin typeface="+mn-ea"/>
                <a:ea typeface="+mn-ea"/>
              </a:rPr>
              <a:t>Administrator Concepts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endParaRPr lang="en-US" altLang="ko-KR" sz="2000" dirty="0">
              <a:latin typeface="+mn-ea"/>
              <a:ea typeface="+mn-ea"/>
            </a:endParaRPr>
          </a:p>
          <a:p>
            <a:endParaRPr lang="en-US" altLang="ko-KR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192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CAF2C6-C805-4F3C-D2A5-2D5AAD3E9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Message-Oriented</a:t>
            </a:r>
            <a:r>
              <a:rPr lang="ko-KR" altLang="en-US" dirty="0"/>
              <a:t> </a:t>
            </a:r>
            <a:r>
              <a:rPr lang="en-US" altLang="ko-KR" dirty="0"/>
              <a:t>Middleware(MOM)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2A8537-7931-1E09-9D42-E2E3FA69BB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메시지 지향 미들웨어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F938D2-EB1F-6C29-5FC8-28CF07BAFD0E}"/>
              </a:ext>
            </a:extLst>
          </p:cNvPr>
          <p:cNvSpPr txBox="1"/>
          <p:nvPr/>
        </p:nvSpPr>
        <p:spPr>
          <a:xfrm>
            <a:off x="261257" y="1530220"/>
            <a:ext cx="864947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chemeClr val="accent6"/>
                </a:solidFill>
                <a:latin typeface="+mn-ea"/>
              </a:rPr>
              <a:t>자료출처</a:t>
            </a:r>
            <a:r>
              <a:rPr lang="ko-KR" altLang="en-US" sz="1400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accent6"/>
                </a:solidFill>
                <a:latin typeface="+mn-ea"/>
              </a:rPr>
              <a:t>: https://docs.oracle.com/cd/E19148-01/820-0532/6nc919fai/index.html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기업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공공 기관 및 기술은 지속적으로 변화하므로 이러한 기관 및 기술에 사용되는 소프트웨어 시스템은 그러한 변화를 수용할 수 있어야 합니다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기업을 합병하거나 서비스를 추가하거나 사용 가능한 서비스를 확장한 후 정보 시스템을 다시 구축하기가 어려울 수 있습니다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새 구성 요소를 통합하거나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기존 구성 요소를 가능한 한 효과적으로 확장하는 것이 가장 중요합니다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이기종 구성 요소를 통합하는 가장 쉬운 방법은 이기종 구성 요소를 동종 요소로 다시 만드는 것이 아니라 차이점과 상관없이 구성 요소 간의 통신을 가능하게 해 주는 계층을 제공하는 것입니다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계층을 미들웨어라 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이는 독립적으로 개발되어 서로 다른 네트워크 플랫폼에서 실행되는 소프트웨어 구성 요소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응용 프로그램</a:t>
            </a:r>
            <a:r>
              <a:rPr lang="en-US" altLang="ko-KR" sz="1400" dirty="0">
                <a:latin typeface="+mn-ea"/>
              </a:rPr>
              <a:t>, Enterprise Java Bean, </a:t>
            </a:r>
            <a:r>
              <a:rPr lang="ko-KR" altLang="en-US" sz="1400" dirty="0" err="1">
                <a:latin typeface="+mn-ea"/>
              </a:rPr>
              <a:t>서블릿</a:t>
            </a:r>
            <a:r>
              <a:rPr lang="ko-KR" altLang="en-US" sz="1400" dirty="0">
                <a:latin typeface="+mn-ea"/>
              </a:rPr>
              <a:t> 및 기타 구성 요소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간의 상호 작용을 가능하게 해 줍니다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상호 작용이 가능할 때 네트워크가 컴퓨터가 될 수 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아래 그림에 표시된 것처럼 개념적으로 미들웨어는 응용 프로그램 계층과 플랫폼 계층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운영 체제 및 기본 네트워크 서비스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사이에 있습니다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35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69B79B0-4D68-FAF5-71BC-9A0DD896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Middleware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77582B-78B8-2B00-13A9-94DDFB9D1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404" y="1538092"/>
            <a:ext cx="4437192" cy="455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84AF22-ED5A-92D9-5B52-C9D8681808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EF95D-6667-E169-BDB0-37C653C93818}"/>
              </a:ext>
            </a:extLst>
          </p:cNvPr>
          <p:cNvSpPr txBox="1"/>
          <p:nvPr/>
        </p:nvSpPr>
        <p:spPr>
          <a:xfrm>
            <a:off x="261257" y="1530220"/>
            <a:ext cx="86494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서로 다른 네트워크 노드에 분산된 응용 프로그램은 다른 응용 프로그램을 호스트하는 운영 환경의 세부 정보나 다른 응용 프로그램에 연결해 주는 서비스를 고려할 필요 없이 응용 프로그램 인터페이스를 사용하여 통신합니다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또한 관리 인터페이스를 제공하여 상호 연결된 새 가상 응용 프로그램 시스템의 안정성과 보안을 실현할 수 있습니다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시스템의 성능을 측정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조정하고 기능적인 손실 없이 확장할 수 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미들웨어는 다음과 같은 범주로 그룹화할 수 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RPC(Remote Procedure Call) </a:t>
            </a:r>
            <a:r>
              <a:rPr lang="ko-KR" altLang="en-US" sz="1400" dirty="0">
                <a:latin typeface="+mn-ea"/>
              </a:rPr>
              <a:t>기반 미들웨어 </a:t>
            </a: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한 응용 프로그램의 프로시저를 사용하여 원격 응용 프로그램의 프로시저를 로컬 호출처럼 호출할 수 있게 해 줍니다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미들웨어는 원격 프로시저를 찾아서 호출자가 알기 쉽게 사용할 수 있도록 해 주는 연결 메커니즘을 구현합니다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일반적으로 이 유형의 미들웨어는 프로시저 기반 프로그램을 처리했지만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지금은 객체 기반 구성 요소도 포함합니다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ORB(Object Request Broker) </a:t>
            </a:r>
            <a:r>
              <a:rPr lang="ko-KR" altLang="en-US" sz="1400" dirty="0">
                <a:latin typeface="+mn-ea"/>
              </a:rPr>
              <a:t>기반 미들웨어 </a:t>
            </a: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응용 프로그램의 객체를 배포하여 이기종 네트워크 간에 공유할 수 있게 해 줍니다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sz="14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MOM(Message Oriented Middleware) </a:t>
            </a:r>
            <a:r>
              <a:rPr lang="ko-KR" altLang="en-US" sz="1400" dirty="0">
                <a:latin typeface="+mn-ea"/>
              </a:rPr>
              <a:t>기반 미들웨어 </a:t>
            </a:r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분산 응용 프로그램 간에 메시지를 보내고 받으면서 데이터를 전달하고 교환할 수 있게 해 줍니다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9022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3E89-4746-CB13-10EE-171AFE88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7DA47CC-913F-A733-6659-67D610E767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B5046-EEA2-BF0F-393D-BB4423E0A9B8}"/>
              </a:ext>
            </a:extLst>
          </p:cNvPr>
          <p:cNvSpPr txBox="1"/>
          <p:nvPr/>
        </p:nvSpPr>
        <p:spPr>
          <a:xfrm>
            <a:off x="255656" y="1446244"/>
            <a:ext cx="86494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이러한 모든 모델에서 한 소프트웨어 구성 요소가 네트워크를 통해 다른 구성 요소의 동작에 영향을 줄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및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ORB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미들웨어에서는 시스템의 구성 요소를 밀접하게 연결하는 반면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시스템에서는 구성 요소를 더 느슨하게 연결할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ORB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시스템에서는 한 프로시저에서 다른 프로시저를 호출할 때 호출된 프로시저가 반환될 때까지 대기하였다가 다른 작업을 수행할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앞에서 설명한 것처럼 이러한 모델에서는 미들웨어가 부분적으로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수퍼링커의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역할을 하여 호출된 프로시저를 네트워크에서 찾고 네트워크 서비스를 통해 함수 또는 메소드 매개 변수를 프로시저에 전달한 다음 결과를 반환합니다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시스템에서는 아래그림에 표시된 것처럼 비동기식 메시지 교환을 통해 통신을 가능하게 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0C2C22-8FE5-A4A3-926A-AAE44906C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85" y="3980985"/>
            <a:ext cx="6291829" cy="218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22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950C33A-A304-2B8E-1B05-8FE9B6ABAD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5D5BE-125C-0685-2FB8-CA831F3FBE3B}"/>
              </a:ext>
            </a:extLst>
          </p:cNvPr>
          <p:cNvSpPr txBox="1"/>
          <p:nvPr/>
        </p:nvSpPr>
        <p:spPr>
          <a:xfrm>
            <a:off x="255656" y="1446244"/>
            <a:ext cx="864947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메시지 지향 미들웨어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(Message Oriented Middleware)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메시징 공급자를 사용하여 메시징 작업을 중재합니다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시스템의 기본 요소는 클라이언트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메시지 및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공급자이며 여기에는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API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관리 도구가 포함됩니다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공급자는 서로 다른 구조를 사용하여 메시지를 라우팅하고 전달할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공급자는 중앙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집중식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메시지 서버를 사용하거나 각 클라이언트 컴퓨터에 라우팅 및 전달 기능을 배포할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제품에서는 이 두 가지 방법을 결합하여 사용합니다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클라이언트는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시스템을 통해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API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호출하여 공급자가 관리하는 대상에게 메시지를 보냅니다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API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호출은 공급자 서비스를 호출하여 메시지를 라우팅하고 전달합니다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메시지를 보낸 후 클라이언트는 다른 작업을 계속해서 수행할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이때 공급자는 수신하는 클라이언트가 메시지를 검색할 때까지 해당 메시지를 보관합니다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메시지 기반 모델은 공급자의 중재와 연계하여 느슨하게 연결된 구성 요소의 시스템이 만들어질 수 있게 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그런 시스템은 개별 구성 요소나 연결이 실패하더라도 중단 없이 계속해서 안정적으로 작동할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메시징 공급자를 사용하여 클라이언트 간에 메시징을 중재할 경우 관리 인터페이스를 추가하여 성능을 모니터링 및 조정할 수 있다는 또 다른 이점이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따라서 클라이언트 응용 프로그램은 메시지 발신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수신 및 처리와 관련된 것을 제외한 모든 문제에서 효과적으로 벗어날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구현은 코드에서 담당하고 상호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운용성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안정성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보안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확장성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성능 등과 관련된 문제는 관리자가 해결해야 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65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8D9EDC-D439-1E81-C930-1ADC0618CC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46FDA-3957-0459-356E-61F7D6BC4C7F}"/>
              </a:ext>
            </a:extLst>
          </p:cNvPr>
          <p:cNvSpPr txBox="1"/>
          <p:nvPr/>
        </p:nvSpPr>
        <p:spPr>
          <a:xfrm>
            <a:off x="255656" y="1446244"/>
            <a:ext cx="86494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지금까지는 메시지 지향 미들웨어를 사용하여 분산 구성 요소를 연결할 때의 장점에 대해 설명했습니다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경우 몇 가지 단점도 존재합니다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중 하나는 바로 느슨한 연결입니다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시스템에서 호출 함수는 호출된 함수가 작업을 완료할 때까지 반환되지 않습니다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비동기식 시스템에서 호출 클라이언트는 작업을 처리하는 데 필요한 자원이 부족하여 호출된 구성 요소가 실패할 때까지 계속 수신자에게 작업을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로드할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물론 성능을 모니터링하고 메시지 흐름을 조정하여 이러한 조건을 최소화하거나 방지할 수 있지만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시스템에서는 그런 작업이 필요하지 않습니다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중요한 것은 각 시스템 종류의 장점과 단점을 이해하는 것입니다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각 시스템은 서로 다른 작업에 적합합니다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정확하게 필요한 동작을 얻기 위해 두 종류의 시스템을 결합해야 하는 경우도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아래그림에서는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시스템에서 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시스템 간의 통신을 가능하게 하는 방법을 보여 줍니다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49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23EE64E-BB30-60FB-AD61-84C2F9F0A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0195E-BA75-1BEA-E6BC-1DF5115012B4}"/>
              </a:ext>
            </a:extLst>
          </p:cNvPr>
          <p:cNvSpPr txBox="1"/>
          <p:nvPr/>
        </p:nvSpPr>
        <p:spPr>
          <a:xfrm>
            <a:off x="255656" y="1446244"/>
            <a:ext cx="864947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그림의 왼쪽은 성능 향상을 위해 서로 다른 네트워크 노드에 클라이언트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서버 및 데이터 저장소 구성 요소를 배포하는 응용 프로그램을 나타냅니다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이것은 할인 항공 예약 시스템인데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최종 사용자는 이 서비스를 유료로 이용하여 주어진 목적지와 시간에 이용 가능한 가장 저렴한 요금을 찾을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 저장소에는 등록된 사용자와 이 프로그램에 참여하는 항공사에 대한 정보가 보관됩니다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사용자의 요청이 있을 경우 서버의 논리는 참여하는 항공사에서 가격을 쿼리하여 정보를 정렬한 다음 가장 저렴한 세 가지 요금을 사용자에게 표시합니다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그림의 오른쪽은 참여하는 항공사 중 한 항공사의 티켓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예약 시스템을 나타내는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시스템을 보여 줍니다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그림의 오른쪽은 할인하는 사람이 연결된 항공사 수만큼 복제됩니다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그런 각 항공사에 대해 데이터 저장소는 이용 가능한 항공편에 대한 정보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좌석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비행 시간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가격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보관합니다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서버 구성 요소는 최종 사용자가 입력하는 데이터에 따라 해당 정보를 업데이트합니다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 항공사 서버는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서비스에 가입하여 할인 예약 시스템에 대한 정보 요청을 수락하고 좌석 및 가격 정보를 반환합니다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고객이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PanWorld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할인 티켓 구매를 결정할 경우 해당 시스템의 서버 구성 요소는 데이터 저장소에서 해당 정보를 업데이트한 다음 요청자를 위한 티켓을 생성하거나 할인 서비스에 티켓을 생성하라는 메시지를 보냅니다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095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384A84-6DA6-FA5B-CF2C-3ACF06186D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RPC</a:t>
            </a:r>
            <a:r>
              <a:rPr lang="ko-KR" altLang="en-US" dirty="0"/>
              <a:t>와 </a:t>
            </a:r>
            <a:r>
              <a:rPr lang="en-US" altLang="ko-KR" dirty="0"/>
              <a:t>MOM </a:t>
            </a:r>
            <a:r>
              <a:rPr lang="ko-KR" altLang="en-US" dirty="0"/>
              <a:t>시스템 결합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7E55E6-A86B-7482-DD03-035DAD769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758" y="1548883"/>
            <a:ext cx="5982483" cy="453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41CA7EC-DC65-02A7-AE5A-B99670C8CB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4D238-6AA9-A8C3-8652-1846A3A4B42B}"/>
              </a:ext>
            </a:extLst>
          </p:cNvPr>
          <p:cNvSpPr txBox="1"/>
          <p:nvPr/>
        </p:nvSpPr>
        <p:spPr>
          <a:xfrm>
            <a:off x="255656" y="1446244"/>
            <a:ext cx="864947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예에서는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 간의 몇 가지 차이점에 대해 설명합니다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분산 구성 요소가 연결되는 방식의 차이점에 대해서는 이미 설명했습니다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다른 차이점으로는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RPC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시스템의 경우 클라이언트와 서버 구성 요소를 배포하고 연결하는 데 사용되며 이때 클라이언트가 주로 최종 사용자인 반면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시스템에서는 클라이언트가 메시징을 통해서만 상호 운용 가능한 이기종 소프트웨어 구성 요소인 경우가 많습니다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시스템의 보다 심각한 문제는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독점적인 제품으로 구현된다는 사실입니다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SuperMOM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-X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사용하는 회사에서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SuperMOM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-Y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사용하는 회사를 인수한다면 어떻게 될까요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문제를 해결하려면 표준 메시징 인터페이스가 필요합니다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SuperMOM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-X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SuperMOM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-Y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모두 이 인터페이스를 구현한다면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 시스템에서 실행하도록 개발된 응용 프로그램이 다른 시스템에서도 실행될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그러한 인터페이스는 쉽게 학습할 수 있으면서 고급 메시징 응용 프로그램을 지원하는 데 충분한 기능을 제공해야 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그러한 목표 아래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1998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JMS(Java Message Service)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사양이 발표되었습니다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다음에서는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JMS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기본 기능을 소개하고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어떻게 기존의 독점적인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MOM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제품의 공통 요소를 포함하면서 차이점과 추가 확장을 수용하도록 표준이 개발되었는지를 설명합니다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502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8BA7A8-FC29-7203-8948-59CF6BA1D6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Java Message Service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47BAF7-11C5-C2F0-58EB-929CDA69DE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MOM </a:t>
            </a:r>
            <a:r>
              <a:rPr lang="ko-KR" altLang="en-US" dirty="0" err="1"/>
              <a:t>표준으로서의</a:t>
            </a:r>
            <a:r>
              <a:rPr lang="ko-KR" altLang="en-US" dirty="0"/>
              <a:t> </a:t>
            </a:r>
            <a:r>
              <a:rPr lang="en-US" altLang="ko-KR" dirty="0"/>
              <a:t>JMS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D79CE-BB4E-48CB-9FE1-83C70E61873F}"/>
              </a:ext>
            </a:extLst>
          </p:cNvPr>
          <p:cNvSpPr txBox="1"/>
          <p:nvPr/>
        </p:nvSpPr>
        <p:spPr>
          <a:xfrm>
            <a:off x="242596" y="1427584"/>
            <a:ext cx="86681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JMS(Java Messaging Service) </a:t>
            </a:r>
            <a:r>
              <a:rPr lang="ko-KR" altLang="en-US" sz="1400" dirty="0">
                <a:latin typeface="+mn-ea"/>
              </a:rPr>
              <a:t>사양은 원래 </a:t>
            </a:r>
            <a:r>
              <a:rPr lang="en-US" altLang="ko-KR" sz="1400" dirty="0">
                <a:latin typeface="+mn-ea"/>
              </a:rPr>
              <a:t>Java </a:t>
            </a:r>
            <a:r>
              <a:rPr lang="ko-KR" altLang="en-US" sz="1400" dirty="0">
                <a:latin typeface="+mn-ea"/>
              </a:rPr>
              <a:t>응용 프로그램이 기존 </a:t>
            </a:r>
            <a:r>
              <a:rPr lang="en-US" altLang="ko-KR" sz="1400" dirty="0">
                <a:latin typeface="+mn-ea"/>
              </a:rPr>
              <a:t>MOM </a:t>
            </a:r>
            <a:r>
              <a:rPr lang="ko-KR" altLang="en-US" sz="1400" dirty="0">
                <a:latin typeface="+mn-ea"/>
              </a:rPr>
              <a:t>시스템에 액세스할 수 있도록 개발되었습니다</a:t>
            </a:r>
            <a:r>
              <a:rPr lang="en-US" altLang="ko-KR" sz="1400" dirty="0">
                <a:latin typeface="+mn-ea"/>
              </a:rPr>
              <a:t>. JMS </a:t>
            </a:r>
            <a:r>
              <a:rPr lang="ko-KR" altLang="en-US" sz="1400" dirty="0">
                <a:latin typeface="+mn-ea"/>
              </a:rPr>
              <a:t>사양은 첫 선을 보인 이후 기존의 많은 </a:t>
            </a:r>
            <a:r>
              <a:rPr lang="en-US" altLang="ko-KR" sz="1400" dirty="0">
                <a:latin typeface="+mn-ea"/>
              </a:rPr>
              <a:t>MOM </a:t>
            </a:r>
            <a:r>
              <a:rPr lang="ko-KR" altLang="en-US" sz="1400" dirty="0">
                <a:latin typeface="+mn-ea"/>
              </a:rPr>
              <a:t>공급업체에 의해 채택되었으며 물론 비동기식 메시징 시스템으로 구현되었습니다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사양의 설계자들은 이 사양을 개발할 때 다음과 같이 기존 메시징 시스템의 필수적인 요소를 수용하고자 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메시지 경로를 지정하고 전달하는 메시징 공급자 개념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별개의 메시징 패턴 또는 도메인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지점간 메시징 및 게시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가입 메시징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동기식 및 비동기식 메시지 수신 기능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안정적인 메시지 전달 지원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공통 메시지 형식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스트림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텍스트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바이트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공급업체는 </a:t>
            </a:r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인터페이스를 구현하는 라이브러리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메시지를 라우팅하고 전달하는 기능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메시징 서비스를 관리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모니터링하고 조정하는 관리 도구 등으로 구성되는 </a:t>
            </a:r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공급자를 제공하여 </a:t>
            </a:r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사양을 구현합니다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라우팅 및 전달 기능은 중앙 </a:t>
            </a:r>
            <a:r>
              <a:rPr lang="ko-KR" altLang="en-US" sz="1400" dirty="0" err="1">
                <a:latin typeface="+mn-ea"/>
              </a:rPr>
              <a:t>집중식</a:t>
            </a:r>
            <a:r>
              <a:rPr lang="ko-KR" altLang="en-US" sz="1400" dirty="0">
                <a:latin typeface="+mn-ea"/>
              </a:rPr>
              <a:t> 메시지 서버나 브로커에서 수행되거나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각 클라이언트 런타임의 일부인 기능을 통해 구현될 수 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또한 </a:t>
            </a:r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공급자는 다음과 같은 다양한 역할을 수행할 수 있습니다</a:t>
            </a:r>
            <a:r>
              <a:rPr lang="en-US" altLang="ko-KR" sz="1400" dirty="0">
                <a:latin typeface="+mn-ea"/>
              </a:rPr>
              <a:t>. JMS </a:t>
            </a:r>
            <a:r>
              <a:rPr lang="ko-KR" altLang="en-US" sz="1400" dirty="0">
                <a:latin typeface="+mn-ea"/>
              </a:rPr>
              <a:t>공급자를 독립 실행형 제품으로 만들거나 대용량 분산 런타임 시스템의 내장 구성 요소로 만들 수 있습니다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독립 실행형 제품으로 만든 </a:t>
            </a:r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공급자는 엔터프라이즈 응용 프로그램 통합 시스템의 백본을 정의하는 데 사용될 수 있고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응용 프로그램 서버에 내장된 </a:t>
            </a:r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공급자는 구성 요소 간 메시징을 지원할 수 있습니다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예를 들어 </a:t>
            </a:r>
            <a:r>
              <a:rPr lang="en-US" altLang="ko-KR" sz="1400" dirty="0">
                <a:latin typeface="+mn-ea"/>
              </a:rPr>
              <a:t>J2EE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JMS </a:t>
            </a:r>
            <a:r>
              <a:rPr lang="ko-KR" altLang="en-US" sz="1400" dirty="0">
                <a:latin typeface="+mn-ea"/>
              </a:rPr>
              <a:t>공급자를 사용하여 </a:t>
            </a:r>
            <a:r>
              <a:rPr lang="en-US" altLang="ko-KR" sz="1400" dirty="0">
                <a:latin typeface="+mn-ea"/>
              </a:rPr>
              <a:t>Message-Driven Bean</a:t>
            </a:r>
            <a:r>
              <a:rPr lang="ko-KR" altLang="en-US" sz="1400" dirty="0">
                <a:latin typeface="+mn-ea"/>
              </a:rPr>
              <a:t>을 구현하고 </a:t>
            </a:r>
            <a:r>
              <a:rPr lang="en-US" altLang="ko-KR" sz="1400" dirty="0">
                <a:latin typeface="+mn-ea"/>
              </a:rPr>
              <a:t>EJB </a:t>
            </a:r>
            <a:r>
              <a:rPr lang="ko-KR" altLang="en-US" sz="1400" dirty="0">
                <a:latin typeface="+mn-ea"/>
              </a:rPr>
              <a:t>구성 요소가 메시지를 보내고 받을 수 있도록 합니다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2221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27DB9ED-2129-ADB4-7CFE-507AEC0C82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B3AE0-A680-E779-5CE4-643323F41E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B154E-EAE1-DDF6-575F-1F481E70EC24}"/>
              </a:ext>
            </a:extLst>
          </p:cNvPr>
          <p:cNvSpPr txBox="1"/>
          <p:nvPr/>
        </p:nvSpPr>
        <p:spPr>
          <a:xfrm>
            <a:off x="242596" y="1464906"/>
            <a:ext cx="86401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MOM </a:t>
            </a:r>
            <a:r>
              <a:rPr lang="ko-KR" altLang="en-US" dirty="0"/>
              <a:t>제품으로 버스 방식</a:t>
            </a:r>
            <a:r>
              <a:rPr lang="en-US" altLang="ko-KR" dirty="0"/>
              <a:t>(TIB, </a:t>
            </a:r>
            <a:r>
              <a:rPr lang="ko-KR" altLang="en-US" dirty="0"/>
              <a:t>정보 버스</a:t>
            </a:r>
            <a:r>
              <a:rPr lang="en-US" altLang="ko-KR" dirty="0"/>
              <a:t>)</a:t>
            </a:r>
            <a:r>
              <a:rPr lang="ko-KR" altLang="en-US" dirty="0"/>
              <a:t>의 아키텍처 사용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UCP </a:t>
            </a:r>
            <a:r>
              <a:rPr lang="ko-KR" altLang="en-US" dirty="0"/>
              <a:t>통신 기반으로 </a:t>
            </a:r>
            <a:r>
              <a:rPr lang="en-US" altLang="ko-KR" dirty="0"/>
              <a:t>TRDP(TIBCO Reliable Data Protocol)</a:t>
            </a:r>
            <a:r>
              <a:rPr lang="ko-KR" altLang="en-US" dirty="0"/>
              <a:t>라는 </a:t>
            </a:r>
            <a:r>
              <a:rPr lang="en-US" altLang="ko-KR" dirty="0"/>
              <a:t>TIBCO </a:t>
            </a:r>
            <a:r>
              <a:rPr lang="ko-KR" altLang="en-US" dirty="0"/>
              <a:t>사설 프로토콜을 구현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dirty="0"/>
              <a:t>데이터 전송 보장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dirty="0"/>
              <a:t>다양한 통신 방식 지원 </a:t>
            </a:r>
            <a:r>
              <a:rPr lang="en-US" altLang="ko-KR" dirty="0"/>
              <a:t>(1:1, 1:N, N:N)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Software Level</a:t>
            </a:r>
            <a:r>
              <a:rPr lang="ko-KR" altLang="en-US" dirty="0"/>
              <a:t>에서의 부하 분산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Fault Tolerance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dirty="0"/>
              <a:t>다양한 개발언어별 </a:t>
            </a:r>
            <a:r>
              <a:rPr lang="en-US" altLang="ko-KR" dirty="0"/>
              <a:t>API </a:t>
            </a:r>
            <a:r>
              <a:rPr lang="ko-KR" altLang="en-US" dirty="0"/>
              <a:t>지원</a:t>
            </a:r>
            <a:r>
              <a:rPr lang="en-US" altLang="ko-KR" dirty="0"/>
              <a:t> (C, C++, Java, Perl </a:t>
            </a:r>
            <a:r>
              <a:rPr lang="ko-KR" altLang="en-US" dirty="0"/>
              <a:t>등등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023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EC369F7-52D7-9F81-4DED-F8847C0C83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Publish/Subscribe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5520D7-831B-B2EC-2B71-0946F5148A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메시징 유형</a:t>
            </a:r>
          </a:p>
        </p:txBody>
      </p:sp>
      <p:pic>
        <p:nvPicPr>
          <p:cNvPr id="4" name="Picture 6" descr="pubsub">
            <a:extLst>
              <a:ext uri="{FF2B5EF4-FFF2-40B4-BE49-F238E27FC236}">
                <a16:creationId xmlns:a16="http://schemas.microsoft.com/office/drawing/2014/main" id="{B2D9A911-D4E2-CE89-C727-8983CBAA2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967" y="1427834"/>
            <a:ext cx="7704856" cy="272290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BE5425-D781-710D-EAC4-224893EED9BA}"/>
              </a:ext>
            </a:extLst>
          </p:cNvPr>
          <p:cNvSpPr txBox="1"/>
          <p:nvPr/>
        </p:nvSpPr>
        <p:spPr>
          <a:xfrm>
            <a:off x="270588" y="4808355"/>
            <a:ext cx="86121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- Rendezvous</a:t>
            </a:r>
            <a:r>
              <a:rPr lang="ko-KR" altLang="en-US" sz="1400" dirty="0">
                <a:latin typeface="+mn-ea"/>
              </a:rPr>
              <a:t>의 기본적인 방식</a:t>
            </a:r>
          </a:p>
          <a:p>
            <a:r>
              <a:rPr lang="en-US" altLang="ko-KR" sz="1400" dirty="0">
                <a:latin typeface="+mn-ea"/>
              </a:rPr>
              <a:t>- </a:t>
            </a:r>
            <a:r>
              <a:rPr lang="en-US" altLang="ko-KR" sz="1400" dirty="0" err="1">
                <a:latin typeface="+mn-ea"/>
              </a:rPr>
              <a:t>rvd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데몬 연결 후 생성</a:t>
            </a:r>
            <a:r>
              <a:rPr lang="en-US" altLang="ko-KR" sz="1400" dirty="0">
                <a:latin typeface="+mn-ea"/>
              </a:rPr>
              <a:t>, publisher</a:t>
            </a:r>
            <a:r>
              <a:rPr lang="ko-KR" altLang="en-US" sz="1400" dirty="0">
                <a:latin typeface="+mn-ea"/>
              </a:rPr>
              <a:t>는 단순히 </a:t>
            </a:r>
            <a:r>
              <a:rPr lang="en-US" altLang="ko-KR" sz="1400" dirty="0">
                <a:latin typeface="+mn-ea"/>
              </a:rPr>
              <a:t>TIB</a:t>
            </a:r>
            <a:r>
              <a:rPr lang="ko-KR" altLang="en-US" sz="1400" dirty="0">
                <a:latin typeface="+mn-ea"/>
              </a:rPr>
              <a:t>에 메시지를 송신함</a:t>
            </a:r>
            <a:r>
              <a:rPr lang="en-US" altLang="ko-KR" sz="1400" dirty="0">
                <a:latin typeface="+mn-ea"/>
              </a:rPr>
              <a:t>, subscriber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TIB</a:t>
            </a:r>
            <a:r>
              <a:rPr lang="ko-KR" altLang="en-US" sz="1400" dirty="0">
                <a:latin typeface="+mn-ea"/>
              </a:rPr>
              <a:t>에 떠있는 메시지를 수신한다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r>
              <a:rPr lang="en-US" altLang="ko-KR" sz="1400" dirty="0">
                <a:latin typeface="+mn-ea"/>
              </a:rPr>
              <a:t>- Subscriber </a:t>
            </a:r>
            <a:r>
              <a:rPr lang="ko-KR" altLang="en-US" sz="1400" dirty="0">
                <a:latin typeface="+mn-ea"/>
              </a:rPr>
              <a:t>경우 </a:t>
            </a:r>
            <a:r>
              <a:rPr lang="en-US" altLang="ko-KR" sz="1400" dirty="0">
                <a:latin typeface="+mn-ea"/>
              </a:rPr>
              <a:t>Queue</a:t>
            </a:r>
            <a:r>
              <a:rPr lang="ko-KR" altLang="en-US" sz="1400" dirty="0">
                <a:latin typeface="+mn-ea"/>
              </a:rPr>
              <a:t>를 생성하고 </a:t>
            </a:r>
            <a:r>
              <a:rPr lang="en-US" altLang="ko-KR" sz="1400" dirty="0">
                <a:latin typeface="+mn-ea"/>
              </a:rPr>
              <a:t>Listener</a:t>
            </a:r>
            <a:r>
              <a:rPr lang="ko-KR" altLang="en-US" sz="1400" dirty="0">
                <a:latin typeface="+mn-ea"/>
              </a:rPr>
              <a:t>를 등록하면</a:t>
            </a:r>
            <a:r>
              <a:rPr lang="en-US" altLang="ko-KR" sz="1400" dirty="0">
                <a:latin typeface="+mn-ea"/>
              </a:rPr>
              <a:t>, Event Manager</a:t>
            </a:r>
            <a:r>
              <a:rPr lang="ko-KR" altLang="en-US" sz="1400" dirty="0">
                <a:latin typeface="+mn-ea"/>
              </a:rPr>
              <a:t>가 </a:t>
            </a:r>
            <a:r>
              <a:rPr lang="en-US" altLang="ko-KR" sz="1400" dirty="0">
                <a:latin typeface="+mn-ea"/>
              </a:rPr>
              <a:t>Queue</a:t>
            </a:r>
            <a:r>
              <a:rPr lang="ko-KR" altLang="en-US" sz="1400" dirty="0">
                <a:latin typeface="+mn-ea"/>
              </a:rPr>
              <a:t>로 들어온 </a:t>
            </a:r>
            <a:r>
              <a:rPr lang="en-US" altLang="ko-KR" sz="1400" dirty="0">
                <a:latin typeface="+mn-ea"/>
              </a:rPr>
              <a:t>Message</a:t>
            </a:r>
            <a:r>
              <a:rPr lang="ko-KR" altLang="en-US" sz="1400" dirty="0">
                <a:latin typeface="+mn-ea"/>
              </a:rPr>
              <a:t>를  </a:t>
            </a:r>
            <a:r>
              <a:rPr lang="en-US" altLang="ko-KR" sz="1400" dirty="0" err="1">
                <a:latin typeface="+mn-ea"/>
              </a:rPr>
              <a:t>CallBack</a:t>
            </a:r>
            <a:r>
              <a:rPr lang="en-US" altLang="ko-KR" sz="1400" dirty="0">
                <a:latin typeface="+mn-ea"/>
              </a:rPr>
              <a:t> Function</a:t>
            </a:r>
            <a:r>
              <a:rPr lang="ko-KR" altLang="en-US" sz="1400" dirty="0">
                <a:latin typeface="+mn-ea"/>
              </a:rPr>
              <a:t>으로 </a:t>
            </a:r>
            <a:r>
              <a:rPr lang="en-US" altLang="ko-KR" sz="1400" dirty="0">
                <a:latin typeface="+mn-ea"/>
              </a:rPr>
              <a:t>Dispatch</a:t>
            </a:r>
          </a:p>
          <a:p>
            <a:r>
              <a:rPr lang="en-US" altLang="ko-KR" sz="1400" dirty="0">
                <a:latin typeface="+mn-ea"/>
              </a:rPr>
              <a:t>- Event-Driven </a:t>
            </a:r>
            <a:r>
              <a:rPr lang="ko-KR" altLang="en-US" sz="1400" dirty="0">
                <a:latin typeface="+mn-ea"/>
              </a:rPr>
              <a:t>비동기식</a:t>
            </a:r>
            <a:r>
              <a:rPr lang="en-US" altLang="ko-KR" sz="1400" dirty="0">
                <a:latin typeface="+mn-ea"/>
              </a:rPr>
              <a:t>(Asynchronous) Message </a:t>
            </a:r>
            <a:r>
              <a:rPr lang="ko-KR" altLang="en-US" sz="1400" dirty="0">
                <a:latin typeface="+mn-ea"/>
              </a:rPr>
              <a:t>전송</a:t>
            </a:r>
          </a:p>
        </p:txBody>
      </p:sp>
    </p:spTree>
    <p:extLst>
      <p:ext uri="{BB962C8B-B14F-4D97-AF65-F5344CB8AC3E}">
        <p14:creationId xmlns:p14="http://schemas.microsoft.com/office/powerpoint/2010/main" val="1491151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F643E48-6F48-459C-CFEE-2AC714365A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Request/Reply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7E1B43-F205-BEF7-4FBA-97412E898D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메시징 유형</a:t>
            </a:r>
          </a:p>
        </p:txBody>
      </p:sp>
      <p:pic>
        <p:nvPicPr>
          <p:cNvPr id="4" name="Picture 6" descr="multireqreply">
            <a:extLst>
              <a:ext uri="{FF2B5EF4-FFF2-40B4-BE49-F238E27FC236}">
                <a16:creationId xmlns:a16="http://schemas.microsoft.com/office/drawing/2014/main" id="{F649F85D-191B-77AC-564A-8381749AF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68761"/>
            <a:ext cx="8064896" cy="303396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E694C-F759-BF46-67DC-40782EF65240}"/>
              </a:ext>
            </a:extLst>
          </p:cNvPr>
          <p:cNvSpPr txBox="1"/>
          <p:nvPr/>
        </p:nvSpPr>
        <p:spPr>
          <a:xfrm>
            <a:off x="270588" y="4808355"/>
            <a:ext cx="86121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-  Request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Multicast </a:t>
            </a:r>
            <a:r>
              <a:rPr lang="ko-KR" altLang="en-US" sz="1400" dirty="0">
                <a:latin typeface="+mn-ea"/>
              </a:rPr>
              <a:t>방식이며</a:t>
            </a:r>
            <a:r>
              <a:rPr lang="en-US" altLang="ko-KR" sz="1400" dirty="0">
                <a:latin typeface="+mn-ea"/>
              </a:rPr>
              <a:t>, Reply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Point-to-Point </a:t>
            </a:r>
            <a:r>
              <a:rPr lang="ko-KR" altLang="en-US" sz="1400" dirty="0">
                <a:latin typeface="+mn-ea"/>
              </a:rPr>
              <a:t>방식</a:t>
            </a:r>
          </a:p>
          <a:p>
            <a:r>
              <a:rPr lang="en-US" altLang="ko-KR" sz="1400" dirty="0">
                <a:latin typeface="+mn-ea"/>
              </a:rPr>
              <a:t>-  Server A,B,C</a:t>
            </a:r>
            <a:r>
              <a:rPr lang="ko-KR" altLang="en-US" sz="1400" dirty="0">
                <a:latin typeface="+mn-ea"/>
              </a:rPr>
              <a:t>중에서 한 </a:t>
            </a:r>
            <a:r>
              <a:rPr lang="ko-KR" altLang="en-US" sz="1400" dirty="0" err="1">
                <a:latin typeface="+mn-ea"/>
              </a:rPr>
              <a:t>곳에서라도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Reply</a:t>
            </a:r>
            <a:r>
              <a:rPr lang="ko-KR" altLang="en-US" sz="1400" dirty="0">
                <a:latin typeface="+mn-ea"/>
              </a:rPr>
              <a:t>가 오면 정상처리됨</a:t>
            </a:r>
          </a:p>
          <a:p>
            <a:r>
              <a:rPr lang="en-US" altLang="ko-KR" sz="1400" dirty="0">
                <a:latin typeface="+mn-ea"/>
              </a:rPr>
              <a:t>-  Server A,B,C</a:t>
            </a:r>
            <a:r>
              <a:rPr lang="ko-KR" altLang="en-US" sz="1400" dirty="0">
                <a:latin typeface="+mn-ea"/>
              </a:rPr>
              <a:t>는 전부 동일한 역할 수행</a:t>
            </a:r>
          </a:p>
          <a:p>
            <a:r>
              <a:rPr lang="en-US" altLang="ko-KR" sz="1400" dirty="0">
                <a:latin typeface="+mn-ea"/>
              </a:rPr>
              <a:t>-  </a:t>
            </a:r>
            <a:r>
              <a:rPr lang="ko-KR" altLang="en-US" sz="1400" dirty="0">
                <a:latin typeface="+mn-ea"/>
              </a:rPr>
              <a:t>동기화</a:t>
            </a:r>
            <a:r>
              <a:rPr lang="en-US" altLang="ko-KR" sz="1400" dirty="0">
                <a:latin typeface="+mn-ea"/>
              </a:rPr>
              <a:t>(Sync)</a:t>
            </a:r>
            <a:r>
              <a:rPr lang="ko-KR" altLang="en-US" sz="1400" dirty="0">
                <a:latin typeface="+mn-ea"/>
              </a:rPr>
              <a:t> 방식</a:t>
            </a:r>
          </a:p>
          <a:p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313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A4B63E-D9AA-83D5-561C-0B1BE1EF25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Reliable Messages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8C367-88CF-0CB2-B062-B30C8EECB8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메시징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279D6AC-355C-3A75-A338-A56E0ED19396}"/>
              </a:ext>
            </a:extLst>
          </p:cNvPr>
          <p:cNvGrpSpPr/>
          <p:nvPr/>
        </p:nvGrpSpPr>
        <p:grpSpPr>
          <a:xfrm>
            <a:off x="1674476" y="1516832"/>
            <a:ext cx="5811837" cy="2852738"/>
            <a:chOff x="1414463" y="1762125"/>
            <a:chExt cx="5811837" cy="2852738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EAF64034-40C7-FA77-5974-5CB8D3576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1766888"/>
              <a:ext cx="1055688" cy="6556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 dirty="0">
                  <a:solidFill>
                    <a:srgbClr val="000000"/>
                  </a:solidFill>
                  <a:ea typeface="굴림" pitchFamily="50" charset="-127"/>
                </a:rPr>
                <a:t>Producer</a:t>
              </a:r>
            </a:p>
          </p:txBody>
        </p:sp>
        <p:sp>
          <p:nvSpPr>
            <p:cNvPr id="6" name="Line 13">
              <a:extLst>
                <a:ext uri="{FF2B5EF4-FFF2-40B4-BE49-F238E27FC236}">
                  <a16:creationId xmlns:a16="http://schemas.microsoft.com/office/drawing/2014/main" id="{33F718D8-3C63-FB58-B34C-D23B42CD3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075" y="4252913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" name="Line 14">
              <a:extLst>
                <a:ext uri="{FF2B5EF4-FFF2-40B4-BE49-F238E27FC236}">
                  <a16:creationId xmlns:a16="http://schemas.microsoft.com/office/drawing/2014/main" id="{0CD4252C-0526-CC1D-3483-BB53870F5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075" y="4600575"/>
              <a:ext cx="4651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" name="Text Box 15">
              <a:extLst>
                <a:ext uri="{FF2B5EF4-FFF2-40B4-BE49-F238E27FC236}">
                  <a16:creationId xmlns:a16="http://schemas.microsoft.com/office/drawing/2014/main" id="{8BDF057E-4B47-BA1A-3B2E-ED5FEC35C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5750" y="4248150"/>
              <a:ext cx="539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800" b="0">
                  <a:solidFill>
                    <a:schemeClr val="tx1"/>
                  </a:solidFill>
                  <a:ea typeface="굴림" pitchFamily="50" charset="-127"/>
                </a:rPr>
                <a:t>TIB</a:t>
              </a:r>
            </a:p>
          </p:txBody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7B905229-F105-3611-BAAC-0D90B2B18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8" y="3663950"/>
              <a:ext cx="0" cy="588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2C2500AC-C625-FB3E-EFA4-24355D3C9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1000" y="2422525"/>
              <a:ext cx="0" cy="677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ADE10A1A-2F0D-7357-8CE1-F871712A8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0238" y="2422525"/>
              <a:ext cx="0" cy="677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2" name="Text Box 22">
              <a:extLst>
                <a:ext uri="{FF2B5EF4-FFF2-40B4-BE49-F238E27FC236}">
                  <a16:creationId xmlns:a16="http://schemas.microsoft.com/office/drawing/2014/main" id="{B876A012-0267-2926-1B3F-ACE09D5262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450" y="2735263"/>
              <a:ext cx="569913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NAK</a:t>
              </a:r>
            </a:p>
          </p:txBody>
        </p:sp>
        <p:sp>
          <p:nvSpPr>
            <p:cNvPr id="13" name="Text Box 23">
              <a:extLst>
                <a:ext uri="{FF2B5EF4-FFF2-40B4-BE49-F238E27FC236}">
                  <a16:creationId xmlns:a16="http://schemas.microsoft.com/office/drawing/2014/main" id="{5A8E0E41-3A0B-5059-ED72-8D7B1D657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688" y="4254500"/>
              <a:ext cx="306387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3</a:t>
              </a:r>
            </a:p>
          </p:txBody>
        </p:sp>
        <p:sp>
          <p:nvSpPr>
            <p:cNvPr id="14" name="Text Box 25">
              <a:extLst>
                <a:ext uri="{FF2B5EF4-FFF2-40B4-BE49-F238E27FC236}">
                  <a16:creationId xmlns:a16="http://schemas.microsoft.com/office/drawing/2014/main" id="{097D906C-9FB5-00CA-161B-0C2F4B218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3888" y="3875088"/>
              <a:ext cx="304800" cy="3444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3</a:t>
              </a:r>
            </a:p>
          </p:txBody>
        </p:sp>
        <p:sp>
          <p:nvSpPr>
            <p:cNvPr id="15" name="Text Box 26">
              <a:extLst>
                <a:ext uri="{FF2B5EF4-FFF2-40B4-BE49-F238E27FC236}">
                  <a16:creationId xmlns:a16="http://schemas.microsoft.com/office/drawing/2014/main" id="{A0EF6A88-AC9B-9EAC-51A6-EB126E6A9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050" y="4254500"/>
              <a:ext cx="306388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2</a:t>
              </a:r>
            </a:p>
          </p:txBody>
        </p: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A3C2FC0B-FFFE-4709-D11D-AFB7D8197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2413" y="4254500"/>
              <a:ext cx="306387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1</a:t>
              </a: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AC4C5A3C-E2FA-2E57-2107-2256DA2AA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1100" y="4254500"/>
              <a:ext cx="306388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2</a:t>
              </a:r>
            </a:p>
          </p:txBody>
        </p:sp>
        <p:sp>
          <p:nvSpPr>
            <p:cNvPr id="18" name="Text Box 33">
              <a:extLst>
                <a:ext uri="{FF2B5EF4-FFF2-40B4-BE49-F238E27FC236}">
                  <a16:creationId xmlns:a16="http://schemas.microsoft.com/office/drawing/2014/main" id="{3A07A0D9-6954-8099-0426-02DAD3B9F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6763" y="3013075"/>
              <a:ext cx="419100" cy="3476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2?</a:t>
              </a:r>
            </a:p>
          </p:txBody>
        </p:sp>
        <p:sp>
          <p:nvSpPr>
            <p:cNvPr id="19" name="Text Box 34">
              <a:extLst>
                <a:ext uri="{FF2B5EF4-FFF2-40B4-BE49-F238E27FC236}">
                  <a16:creationId xmlns:a16="http://schemas.microsoft.com/office/drawing/2014/main" id="{31BBE704-3021-93B8-7EDD-52EE46494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511425"/>
              <a:ext cx="7747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1 / 2 / 3</a:t>
              </a:r>
            </a:p>
          </p:txBody>
        </p:sp>
        <p:sp>
          <p:nvSpPr>
            <p:cNvPr id="20" name="Rectangle 35">
              <a:extLst>
                <a:ext uri="{FF2B5EF4-FFF2-40B4-BE49-F238E27FC236}">
                  <a16:creationId xmlns:a16="http://schemas.microsoft.com/office/drawing/2014/main" id="{E7267784-7953-11C9-B1F3-A023F5446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975" y="1762125"/>
              <a:ext cx="1052513" cy="67786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 dirty="0">
                  <a:solidFill>
                    <a:srgbClr val="000000"/>
                  </a:solidFill>
                  <a:ea typeface="굴림" pitchFamily="50" charset="-127"/>
                </a:rPr>
                <a:t>Consumer</a:t>
              </a:r>
            </a:p>
          </p:txBody>
        </p:sp>
        <p:sp>
          <p:nvSpPr>
            <p:cNvPr id="21" name="Text Box 37">
              <a:extLst>
                <a:ext uri="{FF2B5EF4-FFF2-40B4-BE49-F238E27FC236}">
                  <a16:creationId xmlns:a16="http://schemas.microsoft.com/office/drawing/2014/main" id="{9DEFFF6E-05B4-054A-4EE4-FC299A11A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775" y="2525713"/>
              <a:ext cx="116681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>
                  <a:solidFill>
                    <a:schemeClr val="tx1"/>
                  </a:solidFill>
                  <a:ea typeface="굴림" pitchFamily="50" charset="-127"/>
                </a:rPr>
                <a:t>XY.ORD.NEW</a:t>
              </a:r>
            </a:p>
          </p:txBody>
        </p:sp>
        <p:sp>
          <p:nvSpPr>
            <p:cNvPr id="22" name="Text Box 38">
              <a:extLst>
                <a:ext uri="{FF2B5EF4-FFF2-40B4-BE49-F238E27FC236}">
                  <a16:creationId xmlns:a16="http://schemas.microsoft.com/office/drawing/2014/main" id="{6F708FC5-357A-272E-C012-1BFC13F3A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0088" y="2538413"/>
              <a:ext cx="900112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>
                  <a:solidFill>
                    <a:schemeClr val="tx1"/>
                  </a:solidFill>
                  <a:ea typeface="굴림" pitchFamily="50" charset="-127"/>
                </a:rPr>
                <a:t>XY.ORD.&gt;</a:t>
              </a:r>
            </a:p>
          </p:txBody>
        </p:sp>
        <p:sp>
          <p:nvSpPr>
            <p:cNvPr id="23" name="Line 41">
              <a:extLst>
                <a:ext uri="{FF2B5EF4-FFF2-40B4-BE49-F238E27FC236}">
                  <a16:creationId xmlns:a16="http://schemas.microsoft.com/office/drawing/2014/main" id="{D32F3091-1C32-1C06-FC9C-D8F88158E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2900" y="4605338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4" name="Text Box 42">
              <a:extLst>
                <a:ext uri="{FF2B5EF4-FFF2-40B4-BE49-F238E27FC236}">
                  <a16:creationId xmlns:a16="http://schemas.microsoft.com/office/drawing/2014/main" id="{5921023A-9BAF-8194-EABD-51A8C0069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0713" y="3494088"/>
              <a:ext cx="306387" cy="3460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600" b="0">
                  <a:solidFill>
                    <a:schemeClr val="tx1"/>
                  </a:solidFill>
                  <a:ea typeface="굴림" pitchFamily="50" charset="-127"/>
                </a:rPr>
                <a:t>1</a:t>
              </a:r>
            </a:p>
          </p:txBody>
        </p:sp>
        <p:sp>
          <p:nvSpPr>
            <p:cNvPr id="25" name="Rectangle 44">
              <a:extLst>
                <a:ext uri="{FF2B5EF4-FFF2-40B4-BE49-F238E27FC236}">
                  <a16:creationId xmlns:a16="http://schemas.microsoft.com/office/drawing/2014/main" id="{D8FAB721-21BF-A2AF-3436-D70D5A79F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463" y="3292475"/>
              <a:ext cx="709612" cy="4889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1 / 2 / 3</a:t>
              </a:r>
            </a:p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Buffer</a:t>
              </a:r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C781B373-2B98-707A-B044-5A8165517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5200" y="2433638"/>
              <a:ext cx="0" cy="666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48C763C8-3182-F5F8-1E42-CEBFC3983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5200" y="3452813"/>
              <a:ext cx="0" cy="811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33CE683F-A585-4BD5-4EBF-FCB4BE1B53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9663" y="3394075"/>
              <a:ext cx="3021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9" name="AutoShape 45">
              <a:extLst>
                <a:ext uri="{FF2B5EF4-FFF2-40B4-BE49-F238E27FC236}">
                  <a16:creationId xmlns:a16="http://schemas.microsoft.com/office/drawing/2014/main" id="{166A43E7-8A65-5C84-D6A2-42530FC567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895475" y="3100388"/>
              <a:ext cx="677863" cy="5794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30" name="AutoShape 46">
              <a:extLst>
                <a:ext uri="{FF2B5EF4-FFF2-40B4-BE49-F238E27FC236}">
                  <a16:creationId xmlns:a16="http://schemas.microsoft.com/office/drawing/2014/main" id="{7DBE7C31-66DA-00AC-5B20-95B3B3338F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214938" y="3086100"/>
              <a:ext cx="677862" cy="579438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31" name="Line 48">
              <a:extLst>
                <a:ext uri="{FF2B5EF4-FFF2-40B4-BE49-F238E27FC236}">
                  <a16:creationId xmlns:a16="http://schemas.microsoft.com/office/drawing/2014/main" id="{7C743459-243F-8C6B-5740-EA5D348EE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11900" y="4314825"/>
              <a:ext cx="222250" cy="23495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2" name="Line 49">
              <a:extLst>
                <a:ext uri="{FF2B5EF4-FFF2-40B4-BE49-F238E27FC236}">
                  <a16:creationId xmlns:a16="http://schemas.microsoft.com/office/drawing/2014/main" id="{159A5D1E-1D1E-70FF-8176-7CB3EF77F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1900" y="4325938"/>
              <a:ext cx="200025" cy="201612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</p:grpSp>
      <p:sp>
        <p:nvSpPr>
          <p:cNvPr id="33" name="Text Box 5">
            <a:extLst>
              <a:ext uri="{FF2B5EF4-FFF2-40B4-BE49-F238E27FC236}">
                <a16:creationId xmlns:a16="http://schemas.microsoft.com/office/drawing/2014/main" id="{A567BE8D-B388-86E4-59F8-15AF0B36B3D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1927" y="4581128"/>
            <a:ext cx="8630816" cy="19620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위 그림은 </a:t>
            </a:r>
            <a:r>
              <a:rPr lang="en-US" altLang="ko-KR" sz="1400" dirty="0">
                <a:latin typeface="+mn-ea"/>
                <a:ea typeface="+mn-ea"/>
              </a:rPr>
              <a:t>Producer</a:t>
            </a:r>
            <a:r>
              <a:rPr lang="ko-KR" altLang="en-US" sz="1400" dirty="0">
                <a:latin typeface="+mn-ea"/>
                <a:ea typeface="+mn-ea"/>
              </a:rPr>
              <a:t>에서 </a:t>
            </a:r>
            <a:r>
              <a:rPr lang="en-US" altLang="ko-KR" sz="1400" dirty="0">
                <a:latin typeface="+mn-ea"/>
                <a:ea typeface="+mn-ea"/>
              </a:rPr>
              <a:t>subject “XY.ORD.NEW”</a:t>
            </a:r>
            <a:r>
              <a:rPr lang="ko-KR" altLang="en-US" sz="1400" dirty="0">
                <a:latin typeface="+mn-ea"/>
                <a:ea typeface="+mn-ea"/>
              </a:rPr>
              <a:t>로 보낸 메시지를 </a:t>
            </a:r>
            <a:r>
              <a:rPr lang="en-US" altLang="ko-KR" sz="1400" dirty="0">
                <a:latin typeface="+mn-ea"/>
                <a:ea typeface="+mn-ea"/>
              </a:rPr>
              <a:t>Consumer</a:t>
            </a:r>
            <a:r>
              <a:rPr lang="ko-KR" altLang="en-US" sz="1400" dirty="0">
                <a:latin typeface="+mn-ea"/>
                <a:ea typeface="+mn-ea"/>
              </a:rPr>
              <a:t>는 </a:t>
            </a:r>
            <a:r>
              <a:rPr lang="en-US" altLang="ko-KR" sz="1400" dirty="0">
                <a:latin typeface="+mn-ea"/>
                <a:ea typeface="+mn-ea"/>
              </a:rPr>
              <a:t>wildcard</a:t>
            </a:r>
            <a:r>
              <a:rPr lang="ko-KR" altLang="en-US" sz="1400" dirty="0">
                <a:latin typeface="+mn-ea"/>
                <a:ea typeface="+mn-ea"/>
              </a:rPr>
              <a:t>를 포함한 </a:t>
            </a:r>
            <a:r>
              <a:rPr lang="en-US" altLang="ko-KR" sz="1400" dirty="0">
                <a:latin typeface="+mn-ea"/>
                <a:ea typeface="+mn-ea"/>
              </a:rPr>
              <a:t>subject “XY.ORD.&gt;”</a:t>
            </a:r>
            <a:r>
              <a:rPr lang="ko-KR" altLang="en-US" sz="1400" dirty="0">
                <a:latin typeface="+mn-ea"/>
                <a:ea typeface="+mn-ea"/>
              </a:rPr>
              <a:t>으로 수신하는 경우</a:t>
            </a:r>
            <a:endParaRPr lang="en-US" altLang="ko-KR" sz="14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+mn-ea"/>
                <a:ea typeface="+mn-ea"/>
              </a:rPr>
              <a:t>- subject</a:t>
            </a:r>
            <a:r>
              <a:rPr lang="ko-KR" altLang="en-US" sz="1400" dirty="0">
                <a:latin typeface="+mn-ea"/>
                <a:ea typeface="+mn-ea"/>
              </a:rPr>
              <a:t>는 </a:t>
            </a:r>
            <a:r>
              <a:rPr lang="en-US" altLang="ko-KR" sz="1400" dirty="0">
                <a:latin typeface="+mn-ea"/>
                <a:ea typeface="+mn-ea"/>
              </a:rPr>
              <a:t>255</a:t>
            </a:r>
            <a:r>
              <a:rPr lang="ko-KR" altLang="en-US" sz="1400" dirty="0">
                <a:latin typeface="+mn-ea"/>
                <a:ea typeface="+mn-ea"/>
              </a:rPr>
              <a:t>자를 초과할 수 없으며 영문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숫자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기호</a:t>
            </a:r>
            <a:r>
              <a:rPr lang="en-US" altLang="ko-KR" sz="1400" dirty="0">
                <a:latin typeface="+mn-ea"/>
                <a:ea typeface="+mn-ea"/>
              </a:rPr>
              <a:t>(‘.’, ‘&gt;’, ‘*’)</a:t>
            </a:r>
            <a:r>
              <a:rPr lang="ko-KR" altLang="en-US" sz="1400" dirty="0">
                <a:latin typeface="+mn-ea"/>
                <a:ea typeface="+mn-ea"/>
              </a:rPr>
              <a:t>를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사용할 수 있다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보낸 메시지는 </a:t>
            </a:r>
            <a:r>
              <a:rPr lang="en-US" altLang="ko-KR" sz="1400" dirty="0">
                <a:latin typeface="+mn-ea"/>
                <a:ea typeface="+mn-ea"/>
              </a:rPr>
              <a:t>Producer RVD</a:t>
            </a:r>
            <a:r>
              <a:rPr lang="ko-KR" altLang="en-US" sz="1400" dirty="0">
                <a:latin typeface="+mn-ea"/>
                <a:ea typeface="+mn-ea"/>
              </a:rPr>
              <a:t>에 설정된</a:t>
            </a:r>
            <a:r>
              <a:rPr lang="en-US" altLang="ko-KR" sz="1400" dirty="0">
                <a:latin typeface="+mn-ea"/>
                <a:ea typeface="+mn-ea"/>
              </a:rPr>
              <a:t>(-reliability, default 60</a:t>
            </a:r>
            <a:r>
              <a:rPr lang="ko-KR" altLang="en-US" sz="1400" dirty="0">
                <a:latin typeface="+mn-ea"/>
                <a:ea typeface="+mn-ea"/>
              </a:rPr>
              <a:t>초</a:t>
            </a:r>
            <a:r>
              <a:rPr lang="en-US" altLang="ko-KR" sz="1400" dirty="0">
                <a:latin typeface="+mn-ea"/>
                <a:ea typeface="+mn-ea"/>
              </a:rPr>
              <a:t>) </a:t>
            </a:r>
            <a:r>
              <a:rPr lang="ko-KR" altLang="en-US" sz="1400" dirty="0">
                <a:latin typeface="+mn-ea"/>
                <a:ea typeface="+mn-ea"/>
              </a:rPr>
              <a:t>값 동안 메모리에 보관되며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수신 </a:t>
            </a:r>
            <a:r>
              <a:rPr lang="en-US" altLang="ko-KR" sz="1400" dirty="0">
                <a:latin typeface="+mn-ea"/>
                <a:ea typeface="+mn-ea"/>
              </a:rPr>
              <a:t>RVD</a:t>
            </a:r>
            <a:r>
              <a:rPr lang="ko-KR" altLang="en-US" sz="1400" dirty="0">
                <a:latin typeface="+mn-ea"/>
                <a:ea typeface="+mn-ea"/>
              </a:rPr>
              <a:t>측에서 인지된 </a:t>
            </a:r>
            <a:r>
              <a:rPr lang="en-US" altLang="ko-KR" sz="1400" dirty="0">
                <a:latin typeface="+mn-ea"/>
                <a:ea typeface="+mn-ea"/>
              </a:rPr>
              <a:t>Loss</a:t>
            </a:r>
            <a:r>
              <a:rPr lang="ko-KR" altLang="en-US" sz="1400" dirty="0">
                <a:latin typeface="+mn-ea"/>
                <a:ea typeface="+mn-ea"/>
              </a:rPr>
              <a:t>에 의한 재전송 요청</a:t>
            </a:r>
            <a:r>
              <a:rPr lang="en-US" altLang="ko-KR" sz="1400" dirty="0">
                <a:latin typeface="+mn-ea"/>
                <a:ea typeface="+mn-ea"/>
              </a:rPr>
              <a:t>(Retransmission)</a:t>
            </a:r>
            <a:r>
              <a:rPr lang="ko-KR" altLang="en-US" sz="1400" dirty="0">
                <a:latin typeface="+mn-ea"/>
                <a:ea typeface="+mn-ea"/>
              </a:rPr>
              <a:t>에 대응한다</a:t>
            </a:r>
            <a:r>
              <a:rPr lang="en-US" altLang="ko-KR" sz="1400" dirty="0">
                <a:latin typeface="+mn-ea"/>
                <a:ea typeface="+mn-ea"/>
              </a:rPr>
              <a:t>. Reliability </a:t>
            </a:r>
            <a:r>
              <a:rPr lang="ko-KR" altLang="en-US" sz="1400" dirty="0">
                <a:latin typeface="+mn-ea"/>
                <a:ea typeface="+mn-ea"/>
              </a:rPr>
              <a:t>이후 요청된 메시지는 </a:t>
            </a:r>
            <a:r>
              <a:rPr lang="en-US" altLang="ko-KR" sz="1400" dirty="0">
                <a:latin typeface="+mn-ea"/>
                <a:ea typeface="+mn-ea"/>
              </a:rPr>
              <a:t>Missed</a:t>
            </a:r>
            <a:r>
              <a:rPr lang="ko-KR" altLang="en-US" sz="1400" dirty="0">
                <a:latin typeface="+mn-ea"/>
                <a:ea typeface="+mn-ea"/>
              </a:rPr>
              <a:t>로 인지된다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+mn-ea"/>
                <a:ea typeface="+mn-ea"/>
              </a:rPr>
              <a:t>- Consumer Application</a:t>
            </a:r>
            <a:r>
              <a:rPr lang="ko-KR" altLang="en-US" sz="1400" dirty="0">
                <a:latin typeface="+mn-ea"/>
                <a:ea typeface="+mn-ea"/>
              </a:rPr>
              <a:t>은 보낸 순서대로 수신하게 된다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2163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C069195-E64E-0063-587B-69CD486C6C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Certified Messages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F7B009-40A7-4908-1BD4-017D655248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메시징</a:t>
            </a:r>
          </a:p>
        </p:txBody>
      </p:sp>
      <p:pic>
        <p:nvPicPr>
          <p:cNvPr id="4" name="Picture 62">
            <a:extLst>
              <a:ext uri="{FF2B5EF4-FFF2-40B4-BE49-F238E27FC236}">
                <a16:creationId xmlns:a16="http://schemas.microsoft.com/office/drawing/2014/main" id="{1337368F-D8E5-9349-8A0C-5034A0DCF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484784"/>
            <a:ext cx="4886325" cy="29622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9FFA076B-FE13-EAAD-EBA8-D160E1072E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64987" y="4801553"/>
            <a:ext cx="8630816" cy="114332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영구히 메시지의 신뢰성을 보장하며 저장장소</a:t>
            </a:r>
            <a:r>
              <a:rPr lang="en-US" altLang="ko-KR" sz="1400" dirty="0">
                <a:latin typeface="+mn-ea"/>
                <a:ea typeface="+mn-ea"/>
              </a:rPr>
              <a:t>(Ledger)</a:t>
            </a:r>
            <a:r>
              <a:rPr lang="ko-KR" altLang="en-US" sz="1400" dirty="0">
                <a:latin typeface="+mn-ea"/>
                <a:ea typeface="+mn-ea"/>
              </a:rPr>
              <a:t>로 메모리나 파일을 사용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  <a:buFontTx/>
              <a:buChar char="-"/>
            </a:pP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ko-KR" altLang="en-US" sz="1400" dirty="0" err="1">
                <a:latin typeface="+mn-ea"/>
                <a:ea typeface="+mn-ea"/>
              </a:rPr>
              <a:t>송신측에서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Data </a:t>
            </a:r>
            <a:r>
              <a:rPr lang="ko-KR" altLang="en-US" sz="1400" dirty="0" err="1">
                <a:latin typeface="+mn-ea"/>
                <a:ea typeface="+mn-ea"/>
              </a:rPr>
              <a:t>전송전에</a:t>
            </a:r>
            <a:r>
              <a:rPr lang="ko-KR" altLang="en-US" sz="1400" dirty="0">
                <a:latin typeface="+mn-ea"/>
                <a:ea typeface="+mn-ea"/>
              </a:rPr>
              <a:t> 저장소에 메시지를 보관하고 </a:t>
            </a:r>
            <a:r>
              <a:rPr lang="en-US" altLang="ko-KR" sz="1400" dirty="0">
                <a:latin typeface="+mn-ea"/>
                <a:ea typeface="+mn-ea"/>
              </a:rPr>
              <a:t>Data</a:t>
            </a:r>
            <a:r>
              <a:rPr lang="ko-KR" altLang="en-US" sz="1400" dirty="0">
                <a:latin typeface="+mn-ea"/>
                <a:ea typeface="+mn-ea"/>
              </a:rPr>
              <a:t> 손실 시 저장소의 </a:t>
            </a:r>
            <a:r>
              <a:rPr lang="en-US" altLang="ko-KR" sz="1400" dirty="0">
                <a:latin typeface="+mn-ea"/>
                <a:ea typeface="+mn-ea"/>
              </a:rPr>
              <a:t>Data</a:t>
            </a:r>
            <a:r>
              <a:rPr lang="ko-KR" altLang="en-US" sz="1400" dirty="0">
                <a:latin typeface="+mn-ea"/>
                <a:ea typeface="+mn-ea"/>
              </a:rPr>
              <a:t>를 재전송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 err="1">
                <a:latin typeface="+mn-ea"/>
                <a:ea typeface="+mn-ea"/>
              </a:rPr>
              <a:t>수신측에서</a:t>
            </a:r>
            <a:r>
              <a:rPr lang="ko-KR" altLang="en-US" sz="1400" dirty="0">
                <a:latin typeface="+mn-ea"/>
                <a:ea typeface="+mn-ea"/>
              </a:rPr>
              <a:t> 메시지를 받으면 </a:t>
            </a:r>
            <a:r>
              <a:rPr lang="en-US" altLang="ko-KR" sz="1400" dirty="0">
                <a:latin typeface="+mn-ea"/>
                <a:ea typeface="+mn-ea"/>
              </a:rPr>
              <a:t>Confirm</a:t>
            </a:r>
            <a:r>
              <a:rPr lang="ko-KR" altLang="en-US" sz="1400" dirty="0">
                <a:latin typeface="+mn-ea"/>
                <a:ea typeface="+mn-ea"/>
              </a:rPr>
              <a:t>메시지</a:t>
            </a:r>
            <a:r>
              <a:rPr lang="en-US" altLang="ko-KR" sz="1400" dirty="0">
                <a:latin typeface="+mn-ea"/>
                <a:ea typeface="+mn-ea"/>
              </a:rPr>
              <a:t>(acknowledge signal)</a:t>
            </a:r>
            <a:r>
              <a:rPr lang="ko-KR" altLang="en-US" sz="1400" dirty="0">
                <a:latin typeface="+mn-ea"/>
                <a:ea typeface="+mn-ea"/>
              </a:rPr>
              <a:t>를 전송하여 송신측 저장소에서 해당내용을 삭제하는 방식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6974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8D6771-467D-C1F4-B7FF-F91BF44B2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Parameter(daemon,</a:t>
            </a:r>
            <a:r>
              <a:rPr lang="ko-KR" altLang="en-US" dirty="0"/>
              <a:t> </a:t>
            </a:r>
            <a:r>
              <a:rPr lang="en-US" altLang="ko-KR" dirty="0"/>
              <a:t>service,</a:t>
            </a:r>
            <a:r>
              <a:rPr lang="ko-KR" altLang="en-US" dirty="0"/>
              <a:t> </a:t>
            </a:r>
            <a:r>
              <a:rPr lang="en-US" altLang="ko-KR" dirty="0"/>
              <a:t>network)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5BC41B-9EB1-3857-F3F4-F0E1C3E9E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Transport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C236ACE-9169-934D-444D-0713B379C0C0}"/>
              </a:ext>
            </a:extLst>
          </p:cNvPr>
          <p:cNvGrpSpPr/>
          <p:nvPr/>
        </p:nvGrpSpPr>
        <p:grpSpPr>
          <a:xfrm>
            <a:off x="1547664" y="1427834"/>
            <a:ext cx="5613400" cy="3024188"/>
            <a:chOff x="1101725" y="1746250"/>
            <a:chExt cx="5613400" cy="3024188"/>
          </a:xfrm>
        </p:grpSpPr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3F64C11A-86DA-EA32-860E-EB90A0E7D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900" y="4408488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9565B710-A62A-7AAE-8BC2-819C86AE1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900" y="4756150"/>
              <a:ext cx="4651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5F529E0B-AAF0-7BFF-6D7A-6A6E3788F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575" y="4403725"/>
              <a:ext cx="539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800" b="0">
                  <a:solidFill>
                    <a:schemeClr val="tx1"/>
                  </a:solidFill>
                  <a:ea typeface="굴림" pitchFamily="50" charset="-127"/>
                </a:rPr>
                <a:t>TIB</a:t>
              </a: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413ABA2D-5252-4F07-3AD8-4F475095B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8" y="3819525"/>
              <a:ext cx="0" cy="588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4BB236FA-518B-B861-751F-85B855EF4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4663" y="2578100"/>
              <a:ext cx="0" cy="677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Line 23">
              <a:extLst>
                <a:ext uri="{FF2B5EF4-FFF2-40B4-BE49-F238E27FC236}">
                  <a16:creationId xmlns:a16="http://schemas.microsoft.com/office/drawing/2014/main" id="{647DD6DE-8A85-785C-0DAB-2443FA42E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725" y="4760913"/>
              <a:ext cx="561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1" name="Line 26">
              <a:extLst>
                <a:ext uri="{FF2B5EF4-FFF2-40B4-BE49-F238E27FC236}">
                  <a16:creationId xmlns:a16="http://schemas.microsoft.com/office/drawing/2014/main" id="{5C956507-8A77-10E3-93CF-B89723226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5200" y="2589213"/>
              <a:ext cx="0" cy="666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44AF1206-3C13-790B-0EBA-7AB04293C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5200" y="3608388"/>
              <a:ext cx="0" cy="811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AutoShape 29">
              <a:extLst>
                <a:ext uri="{FF2B5EF4-FFF2-40B4-BE49-F238E27FC236}">
                  <a16:creationId xmlns:a16="http://schemas.microsoft.com/office/drawing/2014/main" id="{6217F33E-7B7A-B7E4-DC03-27F6F3384B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895475" y="3255963"/>
              <a:ext cx="677863" cy="5794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14" name="AutoShape 30">
              <a:extLst>
                <a:ext uri="{FF2B5EF4-FFF2-40B4-BE49-F238E27FC236}">
                  <a16:creationId xmlns:a16="http://schemas.microsoft.com/office/drawing/2014/main" id="{43FCA362-0909-C571-A94C-F50376B8A7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214938" y="3241675"/>
              <a:ext cx="677862" cy="579438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>
                  <a:solidFill>
                    <a:srgbClr val="000000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15" name="Line 33">
              <a:extLst>
                <a:ext uri="{FF2B5EF4-FFF2-40B4-BE49-F238E27FC236}">
                  <a16:creationId xmlns:a16="http://schemas.microsoft.com/office/drawing/2014/main" id="{952D3283-6D85-D274-E22B-444B87716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6013" y="2597150"/>
              <a:ext cx="2933700" cy="9255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6" name="Text Box 34">
              <a:extLst>
                <a:ext uri="{FF2B5EF4-FFF2-40B4-BE49-F238E27FC236}">
                  <a16:creationId xmlns:a16="http://schemas.microsoft.com/office/drawing/2014/main" id="{F454DD68-C9BF-1622-99BE-49198A386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238" y="2725738"/>
              <a:ext cx="928687" cy="42703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 dirty="0">
                  <a:solidFill>
                    <a:srgbClr val="000000"/>
                  </a:solidFill>
                  <a:ea typeface="굴림" pitchFamily="50" charset="-127"/>
                </a:rPr>
                <a:t>-daemon</a:t>
              </a:r>
              <a:endParaRPr lang="en-US" altLang="ko-KR" dirty="0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 dirty="0">
                  <a:solidFill>
                    <a:srgbClr val="000000"/>
                  </a:solidFill>
                  <a:ea typeface="굴림" pitchFamily="50" charset="-127"/>
                </a:rPr>
                <a:t>7500</a:t>
              </a:r>
            </a:p>
          </p:txBody>
        </p:sp>
        <p:sp>
          <p:nvSpPr>
            <p:cNvPr id="17" name="Rectangle 35">
              <a:extLst>
                <a:ext uri="{FF2B5EF4-FFF2-40B4-BE49-F238E27FC236}">
                  <a16:creationId xmlns:a16="http://schemas.microsoft.com/office/drawing/2014/main" id="{B3783847-B0BE-5CB9-C287-E1E2D512B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1588" y="1749425"/>
              <a:ext cx="1973262" cy="2095500"/>
            </a:xfrm>
            <a:prstGeom prst="rect">
              <a:avLst/>
            </a:prstGeom>
            <a:noFill/>
            <a:ln w="12700" algn="ctr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1662EC9D-F51D-A1EC-33A2-988168D3F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488" y="1746250"/>
              <a:ext cx="1973262" cy="2062163"/>
            </a:xfrm>
            <a:prstGeom prst="rect">
              <a:avLst/>
            </a:prstGeom>
            <a:noFill/>
            <a:ln w="12700" algn="ctr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9" name="Text Box 37">
              <a:extLst>
                <a:ext uri="{FF2B5EF4-FFF2-40B4-BE49-F238E27FC236}">
                  <a16:creationId xmlns:a16="http://schemas.microsoft.com/office/drawing/2014/main" id="{EC6C04B6-2D63-A398-5E68-BFDA109C3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7738" y="2520950"/>
              <a:ext cx="1028700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-daemon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10.1.1.1:7500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75F9CC04-5549-8974-EC7C-C1CFED88F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2078038"/>
              <a:ext cx="1055688" cy="6556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Producer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9A1392-117B-D801-63C3-359328D85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975" y="2062163"/>
              <a:ext cx="1052513" cy="67786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Consumer</a:t>
              </a:r>
            </a:p>
          </p:txBody>
        </p:sp>
        <p:sp>
          <p:nvSpPr>
            <p:cNvPr id="22" name="Text Box 39">
              <a:extLst>
                <a:ext uri="{FF2B5EF4-FFF2-40B4-BE49-F238E27FC236}">
                  <a16:creationId xmlns:a16="http://schemas.microsoft.com/office/drawing/2014/main" id="{338FEA7F-33CC-FB87-A4AD-82605D44B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8288" y="1762125"/>
              <a:ext cx="1463675" cy="2746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Host A : 10.1.1.1</a:t>
              </a:r>
              <a:endParaRPr lang="en-US" altLang="ko-KR" b="0">
                <a:solidFill>
                  <a:srgbClr val="000000"/>
                </a:solidFill>
                <a:ea typeface="굴림" pitchFamily="50" charset="-127"/>
              </a:endParaRPr>
            </a:p>
          </p:txBody>
        </p:sp>
        <p:sp>
          <p:nvSpPr>
            <p:cNvPr id="23" name="Text Box 40">
              <a:extLst>
                <a:ext uri="{FF2B5EF4-FFF2-40B4-BE49-F238E27FC236}">
                  <a16:creationId xmlns:a16="http://schemas.microsoft.com/office/drawing/2014/main" id="{BC5A1C86-36F7-0052-7B78-D9B7B7752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2188" y="1758950"/>
              <a:ext cx="1463675" cy="2746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Host B : 10.1.1.2</a:t>
              </a:r>
              <a:endParaRPr lang="en-US" altLang="ko-KR" b="0">
                <a:solidFill>
                  <a:srgbClr val="000000"/>
                </a:solidFill>
                <a:ea typeface="굴림" pitchFamily="50" charset="-127"/>
              </a:endParaRPr>
            </a:p>
          </p:txBody>
        </p:sp>
        <p:sp>
          <p:nvSpPr>
            <p:cNvPr id="24" name="Text Box 41">
              <a:extLst>
                <a:ext uri="{FF2B5EF4-FFF2-40B4-BE49-F238E27FC236}">
                  <a16:creationId xmlns:a16="http://schemas.microsoft.com/office/drawing/2014/main" id="{45D3F4CA-1EF1-427C-9157-B8A8B53E2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250" y="3792538"/>
              <a:ext cx="928688" cy="42703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-service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7500</a:t>
              </a:r>
            </a:p>
          </p:txBody>
        </p:sp>
        <p:sp>
          <p:nvSpPr>
            <p:cNvPr id="25" name="Text Box 42">
              <a:extLst>
                <a:ext uri="{FF2B5EF4-FFF2-40B4-BE49-F238E27FC236}">
                  <a16:creationId xmlns:a16="http://schemas.microsoft.com/office/drawing/2014/main" id="{3E72EF42-369D-A838-081C-127CC2A6E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713" y="4022725"/>
              <a:ext cx="928687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-network</a:t>
              </a: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;224.5.5.5</a:t>
              </a:r>
            </a:p>
          </p:txBody>
        </p:sp>
        <p:sp>
          <p:nvSpPr>
            <p:cNvPr id="26" name="Text Box 43">
              <a:extLst>
                <a:ext uri="{FF2B5EF4-FFF2-40B4-BE49-F238E27FC236}">
                  <a16:creationId xmlns:a16="http://schemas.microsoft.com/office/drawing/2014/main" id="{F5FF1D3C-AA8D-CBF4-0924-FA5BB461C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4813" y="2711450"/>
              <a:ext cx="928687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-daemon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7700</a:t>
              </a:r>
            </a:p>
          </p:txBody>
        </p:sp>
        <p:sp>
          <p:nvSpPr>
            <p:cNvPr id="27" name="Text Box 44">
              <a:extLst>
                <a:ext uri="{FF2B5EF4-FFF2-40B4-BE49-F238E27FC236}">
                  <a16:creationId xmlns:a16="http://schemas.microsoft.com/office/drawing/2014/main" id="{B3E4A92B-BDE8-97AD-3E08-D14B41C72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7825" y="3778250"/>
              <a:ext cx="928688" cy="42703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-service</a:t>
              </a:r>
              <a:endParaRPr lang="en-US" altLang="ko-KR">
                <a:solidFill>
                  <a:srgbClr val="000000"/>
                </a:solidFill>
                <a:ea typeface="굴림" pitchFamily="50" charset="-127"/>
              </a:endParaRP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7500</a:t>
              </a:r>
            </a:p>
          </p:txBody>
        </p:sp>
        <p:sp>
          <p:nvSpPr>
            <p:cNvPr id="28" name="Text Box 45">
              <a:extLst>
                <a:ext uri="{FF2B5EF4-FFF2-40B4-BE49-F238E27FC236}">
                  <a16:creationId xmlns:a16="http://schemas.microsoft.com/office/drawing/2014/main" id="{8C534512-2EB8-33C8-240E-8FD9D8E2B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4008438"/>
              <a:ext cx="928688" cy="42703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r>
                <a:rPr lang="en-US" altLang="ko-KR" i="1">
                  <a:solidFill>
                    <a:srgbClr val="000000"/>
                  </a:solidFill>
                  <a:ea typeface="굴림" pitchFamily="50" charset="-127"/>
                </a:rPr>
                <a:t>-network</a:t>
              </a:r>
            </a:p>
            <a:p>
              <a:r>
                <a:rPr lang="en-US" altLang="ko-KR" sz="1000" b="0">
                  <a:solidFill>
                    <a:srgbClr val="000000"/>
                  </a:solidFill>
                  <a:ea typeface="굴림" pitchFamily="50" charset="-127"/>
                </a:rPr>
                <a:t>;224.5.5.5</a:t>
              </a:r>
            </a:p>
          </p:txBody>
        </p:sp>
      </p:grpSp>
      <p:sp>
        <p:nvSpPr>
          <p:cNvPr id="29" name="Text Box 5">
            <a:extLst>
              <a:ext uri="{FF2B5EF4-FFF2-40B4-BE49-F238E27FC236}">
                <a16:creationId xmlns:a16="http://schemas.microsoft.com/office/drawing/2014/main" id="{5A7E22FD-E202-71EB-10D5-3BF8F82617F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42596" y="4747572"/>
            <a:ext cx="8621486" cy="161730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8000" tIns="0" rIns="18000" bIns="0"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Arial" charset="0"/>
                <a:ea typeface="돋움" pitchFamily="50" charset="-127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400" dirty="0">
                <a:latin typeface="+mn-ea"/>
                <a:ea typeface="+mn-ea"/>
              </a:rPr>
              <a:t> RV Transport</a:t>
            </a:r>
            <a:r>
              <a:rPr lang="ko-KR" altLang="en-US" sz="1400" dirty="0">
                <a:latin typeface="+mn-ea"/>
                <a:ea typeface="+mn-ea"/>
              </a:rPr>
              <a:t>는 </a:t>
            </a:r>
            <a:r>
              <a:rPr lang="en-US" altLang="ko-KR" sz="1400" dirty="0">
                <a:latin typeface="+mn-ea"/>
                <a:ea typeface="+mn-ea"/>
              </a:rPr>
              <a:t>Application</a:t>
            </a:r>
            <a:r>
              <a:rPr lang="ko-KR" altLang="en-US" sz="1400" dirty="0">
                <a:latin typeface="+mn-ea"/>
                <a:ea typeface="+mn-ea"/>
              </a:rPr>
              <a:t>이 메시지를 송수신 할 수 있는 채널을 말한다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한 </a:t>
            </a:r>
            <a:r>
              <a:rPr lang="en-US" altLang="ko-KR" sz="1400" dirty="0">
                <a:latin typeface="+mn-ea"/>
                <a:ea typeface="+mn-ea"/>
              </a:rPr>
              <a:t>Machine</a:t>
            </a:r>
            <a:r>
              <a:rPr lang="ko-KR" altLang="en-US" sz="1400" dirty="0">
                <a:latin typeface="+mn-ea"/>
                <a:ea typeface="+mn-ea"/>
              </a:rPr>
              <a:t>에서 여러 개의 </a:t>
            </a:r>
            <a:r>
              <a:rPr lang="en-US" altLang="ko-KR" sz="1400" dirty="0">
                <a:latin typeface="+mn-ea"/>
                <a:ea typeface="+mn-ea"/>
              </a:rPr>
              <a:t>Transport </a:t>
            </a:r>
            <a:r>
              <a:rPr lang="ko-KR" altLang="en-US" sz="1400" dirty="0">
                <a:latin typeface="+mn-ea"/>
                <a:ea typeface="+mn-ea"/>
              </a:rPr>
              <a:t>생성 가능</a:t>
            </a:r>
            <a:endParaRPr lang="en-US" altLang="ko-KR" sz="14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ko-KR" sz="1400" dirty="0">
                <a:latin typeface="+mn-ea"/>
                <a:ea typeface="+mn-ea"/>
              </a:rPr>
              <a:t> Transport </a:t>
            </a:r>
            <a:r>
              <a:rPr lang="ko-KR" altLang="en-US" sz="1400" dirty="0">
                <a:latin typeface="+mn-ea"/>
                <a:ea typeface="+mn-ea"/>
              </a:rPr>
              <a:t>생성 시 필수 </a:t>
            </a:r>
            <a:r>
              <a:rPr lang="en-US" altLang="ko-KR" sz="1400" dirty="0">
                <a:latin typeface="+mn-ea"/>
                <a:ea typeface="+mn-ea"/>
              </a:rPr>
              <a:t>parameter</a:t>
            </a:r>
            <a:r>
              <a:rPr lang="ko-KR" altLang="en-US" sz="1400" dirty="0">
                <a:latin typeface="+mn-ea"/>
                <a:ea typeface="+mn-ea"/>
              </a:rPr>
              <a:t>는 </a:t>
            </a:r>
            <a:r>
              <a:rPr lang="en-US" altLang="ko-KR" sz="1400" dirty="0">
                <a:latin typeface="+mn-ea"/>
                <a:ea typeface="+mn-ea"/>
              </a:rPr>
              <a:t>daemon, service, network </a:t>
            </a:r>
            <a:r>
              <a:rPr lang="ko-KR" altLang="en-US" sz="1400" dirty="0">
                <a:latin typeface="+mn-ea"/>
                <a:ea typeface="+mn-ea"/>
              </a:rPr>
              <a:t>이다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	-daemon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: application-</a:t>
            </a:r>
            <a:r>
              <a:rPr lang="en-US" altLang="ko-KR" sz="1400" dirty="0" err="1">
                <a:latin typeface="+mn-ea"/>
                <a:ea typeface="+mn-ea"/>
              </a:rPr>
              <a:t>rvd</a:t>
            </a:r>
            <a:r>
              <a:rPr lang="ko-KR" altLang="en-US" sz="1400" dirty="0">
                <a:latin typeface="+mn-ea"/>
                <a:ea typeface="+mn-ea"/>
              </a:rPr>
              <a:t>를 연결하는 </a:t>
            </a:r>
            <a:r>
              <a:rPr lang="en-US" altLang="ko-KR" sz="1400" dirty="0" err="1">
                <a:latin typeface="+mn-ea"/>
                <a:ea typeface="+mn-ea"/>
              </a:rPr>
              <a:t>tcp</a:t>
            </a:r>
            <a:r>
              <a:rPr lang="en-US" altLang="ko-KR" sz="1400" dirty="0">
                <a:latin typeface="+mn-ea"/>
                <a:ea typeface="+mn-ea"/>
              </a:rPr>
              <a:t> port </a:t>
            </a:r>
            <a:r>
              <a:rPr lang="ko-KR" altLang="en-US" sz="1400" dirty="0">
                <a:latin typeface="+mn-ea"/>
                <a:ea typeface="+mn-ea"/>
              </a:rPr>
              <a:t>값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	-service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: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TIB</a:t>
            </a:r>
            <a:r>
              <a:rPr lang="ko-KR" altLang="en-US" sz="1400" dirty="0">
                <a:latin typeface="+mn-ea"/>
                <a:ea typeface="+mn-ea"/>
              </a:rPr>
              <a:t> 구간에서 사용되는 </a:t>
            </a:r>
            <a:r>
              <a:rPr lang="en-US" altLang="ko-KR" sz="1400" dirty="0" err="1">
                <a:latin typeface="+mn-ea"/>
                <a:ea typeface="+mn-ea"/>
              </a:rPr>
              <a:t>udp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port</a:t>
            </a:r>
            <a:r>
              <a:rPr lang="ko-KR" altLang="en-US" sz="1400" dirty="0">
                <a:latin typeface="+mn-ea"/>
                <a:ea typeface="+mn-ea"/>
              </a:rPr>
              <a:t> 값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	-network : Broadcast</a:t>
            </a:r>
            <a:r>
              <a:rPr lang="ko-KR" altLang="en-US" sz="1400" dirty="0">
                <a:latin typeface="+mn-ea"/>
                <a:ea typeface="+mn-ea"/>
              </a:rPr>
              <a:t>와 </a:t>
            </a:r>
            <a:r>
              <a:rPr lang="en-US" altLang="ko-KR" sz="1400" dirty="0">
                <a:latin typeface="+mn-ea"/>
                <a:ea typeface="+mn-ea"/>
              </a:rPr>
              <a:t>Multicast</a:t>
            </a:r>
            <a:r>
              <a:rPr lang="ko-KR" altLang="en-US" sz="1400" dirty="0">
                <a:latin typeface="+mn-ea"/>
                <a:ea typeface="+mn-ea"/>
              </a:rPr>
              <a:t>를 구분</a:t>
            </a:r>
            <a:endParaRPr lang="en-US" altLang="ko-KR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8231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EB5D035-A9E0-DA95-6BB0-3D2811E4BE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구성 예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0011029-3292-48A9-CAEC-74D4AB9010F1}"/>
              </a:ext>
            </a:extLst>
          </p:cNvPr>
          <p:cNvGrpSpPr/>
          <p:nvPr/>
        </p:nvGrpSpPr>
        <p:grpSpPr>
          <a:xfrm>
            <a:off x="437020" y="1576873"/>
            <a:ext cx="8286750" cy="4335463"/>
            <a:chOff x="428625" y="1261269"/>
            <a:chExt cx="8286750" cy="4335463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EED90C7-F1E7-072C-A7BC-3749CB51E0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625" y="4798219"/>
              <a:ext cx="8286750" cy="785813"/>
              <a:chOff x="1197" y="2009"/>
              <a:chExt cx="3498" cy="432"/>
            </a:xfrm>
          </p:grpSpPr>
          <p:sp>
            <p:nvSpPr>
              <p:cNvPr id="76" name="Rectangle 5">
                <a:extLst>
                  <a:ext uri="{FF2B5EF4-FFF2-40B4-BE49-F238E27FC236}">
                    <a16:creationId xmlns:a16="http://schemas.microsoft.com/office/drawing/2014/main" id="{2A7E1BAB-4FEC-C188-7A07-4A5D75E7F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009"/>
                <a:ext cx="3360" cy="432"/>
              </a:xfrm>
              <a:prstGeom prst="rect">
                <a:avLst/>
              </a:prstGeom>
              <a:gradFill rotWithShape="0">
                <a:gsLst>
                  <a:gs pos="0">
                    <a:srgbClr val="FFCC00"/>
                  </a:gs>
                  <a:gs pos="50000">
                    <a:srgbClr val="FFCC00">
                      <a:gamma/>
                      <a:tint val="0"/>
                      <a:invGamma/>
                    </a:srgbClr>
                  </a:gs>
                  <a:gs pos="100000">
                    <a:srgbClr val="FFCC00"/>
                  </a:gs>
                </a:gsLst>
                <a:lin ang="5400000" scaled="1"/>
              </a:gra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 anchorCtr="1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7" name="Oval 6">
                <a:extLst>
                  <a:ext uri="{FF2B5EF4-FFF2-40B4-BE49-F238E27FC236}">
                    <a16:creationId xmlns:a16="http://schemas.microsoft.com/office/drawing/2014/main" id="{19EF79A9-226B-BDF3-64CB-45861F490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7" y="2009"/>
                <a:ext cx="144" cy="432"/>
              </a:xfrm>
              <a:prstGeom prst="ellipse">
                <a:avLst/>
              </a:prstGeom>
              <a:solidFill>
                <a:srgbClr val="CC9900"/>
              </a:solidFill>
              <a:ln w="38100">
                <a:noFill/>
                <a:round/>
                <a:headEnd/>
                <a:tailEnd/>
              </a:ln>
              <a:effectLst/>
            </p:spPr>
            <p:txBody>
              <a:bodyPr wrap="none" anchor="ctr" anchorCtr="1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8" name="Oval 7">
                <a:extLst>
                  <a:ext uri="{FF2B5EF4-FFF2-40B4-BE49-F238E27FC236}">
                    <a16:creationId xmlns:a16="http://schemas.microsoft.com/office/drawing/2014/main" id="{2F04623D-9A84-0CEC-50A7-3649DED01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1" y="2009"/>
                <a:ext cx="144" cy="432"/>
              </a:xfrm>
              <a:prstGeom prst="ellipse">
                <a:avLst/>
              </a:prstGeom>
              <a:gradFill rotWithShape="0">
                <a:gsLst>
                  <a:gs pos="0">
                    <a:srgbClr val="FFCC00"/>
                  </a:gs>
                  <a:gs pos="50000">
                    <a:srgbClr val="FFCC00">
                      <a:gamma/>
                      <a:tint val="0"/>
                      <a:invGamma/>
                    </a:srgbClr>
                  </a:gs>
                  <a:gs pos="100000">
                    <a:srgbClr val="FFCC00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  <a:effectLst/>
            </p:spPr>
            <p:txBody>
              <a:bodyPr wrap="none" anchor="ctr" anchorCtr="1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</p:grp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4A71FC83-5F28-9932-6DC3-7267A9FFB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" y="1266032"/>
              <a:ext cx="5373688" cy="289242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68E3DBED-A5D4-6C13-5F82-B10DE69EA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0963" y="1261269"/>
              <a:ext cx="2101850" cy="291147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7" name="Group 75">
              <a:extLst>
                <a:ext uri="{FF2B5EF4-FFF2-40B4-BE49-F238E27FC236}">
                  <a16:creationId xmlns:a16="http://schemas.microsoft.com/office/drawing/2014/main" id="{DEFDF2CD-756F-867D-9067-051B9032F1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8225" y="1962944"/>
              <a:ext cx="933450" cy="782638"/>
              <a:chOff x="639" y="1570"/>
              <a:chExt cx="588" cy="493"/>
            </a:xfrm>
          </p:grpSpPr>
          <p:sp>
            <p:nvSpPr>
              <p:cNvPr id="72" name="Rectangle 10">
                <a:extLst>
                  <a:ext uri="{FF2B5EF4-FFF2-40B4-BE49-F238E27FC236}">
                    <a16:creationId xmlns:a16="http://schemas.microsoft.com/office/drawing/2014/main" id="{9CB2D117-00AF-9DBC-A02F-4FA9C5E7E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70"/>
                <a:ext cx="588" cy="284"/>
              </a:xfrm>
              <a:prstGeom prst="rect">
                <a:avLst/>
              </a:prstGeom>
              <a:solidFill>
                <a:srgbClr val="DDDDDD">
                  <a:alpha val="85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3" name="Rectangle 11">
                <a:extLst>
                  <a:ext uri="{FF2B5EF4-FFF2-40B4-BE49-F238E27FC236}">
                    <a16:creationId xmlns:a16="http://schemas.microsoft.com/office/drawing/2014/main" id="{19CE504A-5568-830E-AF48-F52918D2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852"/>
                <a:ext cx="588" cy="211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4" name="Text Box 14">
                <a:extLst>
                  <a:ext uri="{FF2B5EF4-FFF2-40B4-BE49-F238E27FC236}">
                    <a16:creationId xmlns:a16="http://schemas.microsoft.com/office/drawing/2014/main" id="{59FA16B4-6587-44C8-2752-24825F6668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611"/>
                <a:ext cx="49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>
                    <a:solidFill>
                      <a:srgbClr val="000000"/>
                    </a:solidFill>
                    <a:ea typeface="굴림" pitchFamily="50" charset="-127"/>
                  </a:rPr>
                  <a:t>Sender</a:t>
                </a:r>
              </a:p>
            </p:txBody>
          </p:sp>
          <p:sp>
            <p:nvSpPr>
              <p:cNvPr id="75" name="Text Box 16">
                <a:extLst>
                  <a:ext uri="{FF2B5EF4-FFF2-40B4-BE49-F238E27FC236}">
                    <a16:creationId xmlns:a16="http://schemas.microsoft.com/office/drawing/2014/main" id="{F9424BAA-EFED-AE9A-A8A9-AE194A267E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8" y="1868"/>
                <a:ext cx="49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 i="1">
                    <a:solidFill>
                      <a:schemeClr val="tx1"/>
                    </a:solidFill>
                    <a:ea typeface="굴림" pitchFamily="50" charset="-127"/>
                  </a:rPr>
                  <a:t>RV API</a:t>
                </a:r>
              </a:p>
            </p:txBody>
          </p:sp>
        </p:grpSp>
        <p:sp>
          <p:nvSpPr>
            <p:cNvPr id="8" name="Line 18">
              <a:extLst>
                <a:ext uri="{FF2B5EF4-FFF2-40B4-BE49-F238E27FC236}">
                  <a16:creationId xmlns:a16="http://schemas.microsoft.com/office/drawing/2014/main" id="{7A092ADC-95BE-5815-974D-83CA179E7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363" y="2751932"/>
              <a:ext cx="655637" cy="738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9" name="Line 19">
              <a:extLst>
                <a:ext uri="{FF2B5EF4-FFF2-40B4-BE49-F238E27FC236}">
                  <a16:creationId xmlns:a16="http://schemas.microsoft.com/office/drawing/2014/main" id="{B46AE0AA-E6D5-1256-49BD-CD21FAA09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6075" y="2753519"/>
              <a:ext cx="0" cy="7508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Text Box 20">
              <a:extLst>
                <a:ext uri="{FF2B5EF4-FFF2-40B4-BE49-F238E27FC236}">
                  <a16:creationId xmlns:a16="http://schemas.microsoft.com/office/drawing/2014/main" id="{44E6C7B3-9822-B324-0E26-632681180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3463" y="2980532"/>
              <a:ext cx="80010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tcp:7500</a:t>
              </a:r>
            </a:p>
          </p:txBody>
        </p:sp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0BE98401-4BD2-4B99-7DA5-07CEE6A50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550" y="2972594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tcp:7600</a:t>
              </a:r>
            </a:p>
          </p:txBody>
        </p:sp>
        <p:sp>
          <p:nvSpPr>
            <p:cNvPr id="12" name="Line 22">
              <a:extLst>
                <a:ext uri="{FF2B5EF4-FFF2-40B4-BE49-F238E27FC236}">
                  <a16:creationId xmlns:a16="http://schemas.microsoft.com/office/drawing/2014/main" id="{41DC42AB-7508-C37E-0AD7-68D19836F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338" y="4928394"/>
              <a:ext cx="6710362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Line 23">
              <a:extLst>
                <a:ext uri="{FF2B5EF4-FFF2-40B4-BE49-F238E27FC236}">
                  <a16:creationId xmlns:a16="http://schemas.microsoft.com/office/drawing/2014/main" id="{7E09E0B7-24B5-CD77-2237-9E29C856C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5437982"/>
              <a:ext cx="6710363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Text Box 24">
              <a:extLst>
                <a:ext uri="{FF2B5EF4-FFF2-40B4-BE49-F238E27FC236}">
                  <a16:creationId xmlns:a16="http://schemas.microsoft.com/office/drawing/2014/main" id="{C881DB0F-6AEB-CB3D-35B3-1043E2617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125" y="4795044"/>
              <a:ext cx="9604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udp:7500</a:t>
              </a:r>
            </a:p>
          </p:txBody>
        </p:sp>
        <p:sp>
          <p:nvSpPr>
            <p:cNvPr id="15" name="Text Box 25">
              <a:extLst>
                <a:ext uri="{FF2B5EF4-FFF2-40B4-BE49-F238E27FC236}">
                  <a16:creationId xmlns:a16="http://schemas.microsoft.com/office/drawing/2014/main" id="{5D1E8A06-D073-12C1-34C0-3D29AF280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950" y="5291932"/>
              <a:ext cx="9604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udp:8500</a:t>
              </a:r>
            </a:p>
          </p:txBody>
        </p:sp>
        <p:sp>
          <p:nvSpPr>
            <p:cNvPr id="16" name="Line 26">
              <a:extLst>
                <a:ext uri="{FF2B5EF4-FFF2-40B4-BE49-F238E27FC236}">
                  <a16:creationId xmlns:a16="http://schemas.microsoft.com/office/drawing/2014/main" id="{101BAD56-E719-E1B6-27FF-161BB865B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2325" y="3888582"/>
              <a:ext cx="0" cy="10017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52A2DAB7-3E63-A18D-C188-FC406DA42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6075" y="4058444"/>
              <a:ext cx="0" cy="1157288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8" name="Line 28">
              <a:extLst>
                <a:ext uri="{FF2B5EF4-FFF2-40B4-BE49-F238E27FC236}">
                  <a16:creationId xmlns:a16="http://schemas.microsoft.com/office/drawing/2014/main" id="{BDDB1910-5AFD-5C2D-FAEC-3A82CE3A4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2063" y="4069557"/>
              <a:ext cx="0" cy="138430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9" name="AutoShape 29">
              <a:extLst>
                <a:ext uri="{FF2B5EF4-FFF2-40B4-BE49-F238E27FC236}">
                  <a16:creationId xmlns:a16="http://schemas.microsoft.com/office/drawing/2014/main" id="{1848A650-1C14-5BB2-A999-ECC91DB0F3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68488" y="3504407"/>
              <a:ext cx="679450" cy="5667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0" name="Text Box 30">
              <a:extLst>
                <a:ext uri="{FF2B5EF4-FFF2-40B4-BE49-F238E27FC236}">
                  <a16:creationId xmlns:a16="http://schemas.microsoft.com/office/drawing/2014/main" id="{FFFBADA8-A647-E2E2-D991-F5ED28DEE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4050" y="3504407"/>
              <a:ext cx="56038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21" name="Text Box 33">
              <a:extLst>
                <a:ext uri="{FF2B5EF4-FFF2-40B4-BE49-F238E27FC236}">
                  <a16:creationId xmlns:a16="http://schemas.microsoft.com/office/drawing/2014/main" id="{65DDE689-CBAB-71F8-77CB-02EDE09CC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425" y="1453357"/>
              <a:ext cx="1185863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7500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7500</a:t>
              </a:r>
            </a:p>
          </p:txBody>
        </p:sp>
        <p:sp>
          <p:nvSpPr>
            <p:cNvPr id="22" name="Line 38">
              <a:extLst>
                <a:ext uri="{FF2B5EF4-FFF2-40B4-BE49-F238E27FC236}">
                  <a16:creationId xmlns:a16="http://schemas.microsoft.com/office/drawing/2014/main" id="{D78C2AA2-ACB8-B217-643F-DA3B3B9AD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0750" y="2747169"/>
              <a:ext cx="655638" cy="768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3" name="Text Box 39">
              <a:extLst>
                <a:ext uri="{FF2B5EF4-FFF2-40B4-BE49-F238E27FC236}">
                  <a16:creationId xmlns:a16="http://schemas.microsoft.com/office/drawing/2014/main" id="{1E652BB4-3E26-627B-C9BB-C7141E84E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775" y="2975769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tcp:7500</a:t>
              </a:r>
            </a:p>
          </p:txBody>
        </p:sp>
        <p:sp>
          <p:nvSpPr>
            <p:cNvPr id="24" name="Line 40">
              <a:extLst>
                <a:ext uri="{FF2B5EF4-FFF2-40B4-BE49-F238E27FC236}">
                  <a16:creationId xmlns:a16="http://schemas.microsoft.com/office/drawing/2014/main" id="{4BD79AC1-8601-9983-5DC4-3C1FEA8A3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5188744"/>
              <a:ext cx="6710363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5" name="Oval 41">
              <a:extLst>
                <a:ext uri="{FF2B5EF4-FFF2-40B4-BE49-F238E27FC236}">
                  <a16:creationId xmlns:a16="http://schemas.microsoft.com/office/drawing/2014/main" id="{F235B7E7-5A62-0EE9-7379-AF4EB37EE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826794"/>
              <a:ext cx="142875" cy="155575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6" name="Line 42">
              <a:extLst>
                <a:ext uri="{FF2B5EF4-FFF2-40B4-BE49-F238E27FC236}">
                  <a16:creationId xmlns:a16="http://schemas.microsoft.com/office/drawing/2014/main" id="{0E351C41-5D0A-6328-A7AF-D08DBFABC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038" y="3877469"/>
              <a:ext cx="0" cy="1330325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Text Box 43">
              <a:extLst>
                <a:ext uri="{FF2B5EF4-FFF2-40B4-BE49-F238E27FC236}">
                  <a16:creationId xmlns:a16="http://schemas.microsoft.com/office/drawing/2014/main" id="{1B7957FC-59FD-18AF-590D-4D0097B6F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563" y="1458119"/>
              <a:ext cx="1185862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7500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8000</a:t>
              </a:r>
            </a:p>
          </p:txBody>
        </p:sp>
        <p:sp>
          <p:nvSpPr>
            <p:cNvPr id="28" name="Text Box 44">
              <a:extLst>
                <a:ext uri="{FF2B5EF4-FFF2-40B4-BE49-F238E27FC236}">
                  <a16:creationId xmlns:a16="http://schemas.microsoft.com/office/drawing/2014/main" id="{7361AC61-333D-559C-8097-57B112D19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713" y="5045869"/>
              <a:ext cx="96043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udp:8000</a:t>
              </a:r>
            </a:p>
          </p:txBody>
        </p:sp>
        <p:sp>
          <p:nvSpPr>
            <p:cNvPr id="29" name="Oval 45">
              <a:extLst>
                <a:ext uri="{FF2B5EF4-FFF2-40B4-BE49-F238E27FC236}">
                  <a16:creationId xmlns:a16="http://schemas.microsoft.com/office/drawing/2014/main" id="{C1FB85EB-05C5-6482-31BA-C41B5DC74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250" y="5099844"/>
              <a:ext cx="141288" cy="15557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0" name="Text Box 46">
              <a:extLst>
                <a:ext uri="{FF2B5EF4-FFF2-40B4-BE49-F238E27FC236}">
                  <a16:creationId xmlns:a16="http://schemas.microsoft.com/office/drawing/2014/main" id="{2273D25C-1667-6E49-3428-6007520AE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650" y="1461294"/>
              <a:ext cx="1185863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7600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8000</a:t>
              </a:r>
            </a:p>
          </p:txBody>
        </p:sp>
        <p:sp>
          <p:nvSpPr>
            <p:cNvPr id="31" name="Oval 47">
              <a:extLst>
                <a:ext uri="{FF2B5EF4-FFF2-40B4-BE49-F238E27FC236}">
                  <a16:creationId xmlns:a16="http://schemas.microsoft.com/office/drawing/2014/main" id="{E7317EB1-382F-91AF-0D4C-1BF9DC49E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75" y="5098257"/>
              <a:ext cx="142875" cy="15557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32" name="Group 48">
              <a:extLst>
                <a:ext uri="{FF2B5EF4-FFF2-40B4-BE49-F238E27FC236}">
                  <a16:creationId xmlns:a16="http://schemas.microsoft.com/office/drawing/2014/main" id="{721BB5FF-1AEE-A7FE-2D06-43DB42B78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1775" y="4371182"/>
              <a:ext cx="222250" cy="217487"/>
              <a:chOff x="3164" y="2949"/>
              <a:chExt cx="197" cy="172"/>
            </a:xfrm>
          </p:grpSpPr>
          <p:sp>
            <p:nvSpPr>
              <p:cNvPr id="70" name="Line 49">
                <a:extLst>
                  <a:ext uri="{FF2B5EF4-FFF2-40B4-BE49-F238E27FC236}">
                    <a16:creationId xmlns:a16="http://schemas.microsoft.com/office/drawing/2014/main" id="{1DB7A2E7-B68B-9200-C22D-595DFF1B34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2" y="2949"/>
                <a:ext cx="181" cy="1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71" name="Line 50">
                <a:extLst>
                  <a:ext uri="{FF2B5EF4-FFF2-40B4-BE49-F238E27FC236}">
                    <a16:creationId xmlns:a16="http://schemas.microsoft.com/office/drawing/2014/main" id="{FAC27E7B-29E5-71BC-5C89-25F2E54D7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4" y="2957"/>
                <a:ext cx="197" cy="16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</p:grpSp>
        <p:sp>
          <p:nvSpPr>
            <p:cNvPr id="33" name="Line 55">
              <a:extLst>
                <a:ext uri="{FF2B5EF4-FFF2-40B4-BE49-F238E27FC236}">
                  <a16:creationId xmlns:a16="http://schemas.microsoft.com/office/drawing/2014/main" id="{1943A0CF-78F5-9B46-2914-5CB8B72F5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5288" y="2740819"/>
              <a:ext cx="0" cy="7508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4" name="Text Box 56">
              <a:extLst>
                <a:ext uri="{FF2B5EF4-FFF2-40B4-BE49-F238E27FC236}">
                  <a16:creationId xmlns:a16="http://schemas.microsoft.com/office/drawing/2014/main" id="{134D27E1-D350-CC58-ACCF-83A1EFB9C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763" y="2982119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tcp:7600</a:t>
              </a:r>
            </a:p>
          </p:txBody>
        </p:sp>
        <p:sp>
          <p:nvSpPr>
            <p:cNvPr id="35" name="Text Box 59">
              <a:extLst>
                <a:ext uri="{FF2B5EF4-FFF2-40B4-BE49-F238E27FC236}">
                  <a16:creationId xmlns:a16="http://schemas.microsoft.com/office/drawing/2014/main" id="{2B828080-F4B0-48D5-6B85-DE9373F95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6638" y="1459707"/>
              <a:ext cx="1185862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7600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8500</a:t>
              </a:r>
            </a:p>
          </p:txBody>
        </p:sp>
        <p:sp>
          <p:nvSpPr>
            <p:cNvPr id="36" name="Line 60">
              <a:extLst>
                <a:ext uri="{FF2B5EF4-FFF2-40B4-BE49-F238E27FC236}">
                  <a16:creationId xmlns:a16="http://schemas.microsoft.com/office/drawing/2014/main" id="{DF9C94EE-18A5-EA44-73E2-2CE611F60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8463" y="4060032"/>
              <a:ext cx="0" cy="1366837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7" name="Oval 61">
              <a:extLst>
                <a:ext uri="{FF2B5EF4-FFF2-40B4-BE49-F238E27FC236}">
                  <a16:creationId xmlns:a16="http://schemas.microsoft.com/office/drawing/2014/main" id="{45F56434-BE19-9537-506F-1A25A3622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9088" y="5350669"/>
              <a:ext cx="142875" cy="155575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8" name="Text Box 62">
              <a:extLst>
                <a:ext uri="{FF2B5EF4-FFF2-40B4-BE49-F238E27FC236}">
                  <a16:creationId xmlns:a16="http://schemas.microsoft.com/office/drawing/2014/main" id="{4423C5FE-2CC8-2B88-9648-BE1CC030F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88" y="3896519"/>
              <a:ext cx="1230312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7500</a:t>
              </a:r>
            </a:p>
          </p:txBody>
        </p:sp>
        <p:sp>
          <p:nvSpPr>
            <p:cNvPr id="39" name="Text Box 63">
              <a:extLst>
                <a:ext uri="{FF2B5EF4-FFF2-40B4-BE49-F238E27FC236}">
                  <a16:creationId xmlns:a16="http://schemas.microsoft.com/office/drawing/2014/main" id="{CFD63320-282D-8238-09B2-6558FDC26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075" y="3898107"/>
              <a:ext cx="1230313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7600</a:t>
              </a:r>
            </a:p>
          </p:txBody>
        </p:sp>
        <p:sp>
          <p:nvSpPr>
            <p:cNvPr id="40" name="Text Box 64">
              <a:extLst>
                <a:ext uri="{FF2B5EF4-FFF2-40B4-BE49-F238E27FC236}">
                  <a16:creationId xmlns:a16="http://schemas.microsoft.com/office/drawing/2014/main" id="{D352B182-76D2-2484-12B4-2971AAA8C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6563" y="3883819"/>
              <a:ext cx="1230312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7600</a:t>
              </a:r>
            </a:p>
          </p:txBody>
        </p:sp>
        <p:sp>
          <p:nvSpPr>
            <p:cNvPr id="41" name="Line 69">
              <a:extLst>
                <a:ext uri="{FF2B5EF4-FFF2-40B4-BE49-F238E27FC236}">
                  <a16:creationId xmlns:a16="http://schemas.microsoft.com/office/drawing/2014/main" id="{E706ED29-7BC0-13A4-D7DE-23A2F5F35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5713" y="2793207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2" name="Text Box 70">
              <a:extLst>
                <a:ext uri="{FF2B5EF4-FFF2-40B4-BE49-F238E27FC236}">
                  <a16:creationId xmlns:a16="http://schemas.microsoft.com/office/drawing/2014/main" id="{F2BF6A45-70C4-80F4-DAB7-242E6E5CB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188" y="2978944"/>
              <a:ext cx="800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i="1">
                  <a:solidFill>
                    <a:schemeClr val="tx1"/>
                  </a:solidFill>
                  <a:ea typeface="굴림" pitchFamily="50" charset="-127"/>
                </a:rPr>
                <a:t>tcp:7700</a:t>
              </a:r>
            </a:p>
          </p:txBody>
        </p:sp>
        <p:sp>
          <p:nvSpPr>
            <p:cNvPr id="43" name="Text Box 73">
              <a:extLst>
                <a:ext uri="{FF2B5EF4-FFF2-40B4-BE49-F238E27FC236}">
                  <a16:creationId xmlns:a16="http://schemas.microsoft.com/office/drawing/2014/main" id="{E81A11EE-E905-88FC-0C8C-9993D30F3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7063" y="1478757"/>
              <a:ext cx="1185862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–daemon 7700 </a:t>
              </a:r>
            </a:p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–service 8500</a:t>
              </a:r>
            </a:p>
          </p:txBody>
        </p:sp>
        <p:sp>
          <p:nvSpPr>
            <p:cNvPr id="44" name="Oval 74">
              <a:extLst>
                <a:ext uri="{FF2B5EF4-FFF2-40B4-BE49-F238E27FC236}">
                  <a16:creationId xmlns:a16="http://schemas.microsoft.com/office/drawing/2014/main" id="{5BBD5DDB-2AD7-57F7-D297-A9A36D2FE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0625" y="5357019"/>
              <a:ext cx="142875" cy="155575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45" name="Group 76">
              <a:extLst>
                <a:ext uri="{FF2B5EF4-FFF2-40B4-BE49-F238E27FC236}">
                  <a16:creationId xmlns:a16="http://schemas.microsoft.com/office/drawing/2014/main" id="{0A300C12-C3B3-2A65-C556-109A8817E8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8550" y="1959769"/>
              <a:ext cx="933450" cy="782638"/>
              <a:chOff x="639" y="1570"/>
              <a:chExt cx="588" cy="493"/>
            </a:xfrm>
          </p:grpSpPr>
          <p:sp>
            <p:nvSpPr>
              <p:cNvPr id="66" name="Rectangle 77">
                <a:extLst>
                  <a:ext uri="{FF2B5EF4-FFF2-40B4-BE49-F238E27FC236}">
                    <a16:creationId xmlns:a16="http://schemas.microsoft.com/office/drawing/2014/main" id="{E0DDB557-C7CA-DA33-350A-3F335745C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70"/>
                <a:ext cx="588" cy="284"/>
              </a:xfrm>
              <a:prstGeom prst="rect">
                <a:avLst/>
              </a:prstGeom>
              <a:solidFill>
                <a:srgbClr val="DDDDDD">
                  <a:alpha val="85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67" name="Rectangle 78">
                <a:extLst>
                  <a:ext uri="{FF2B5EF4-FFF2-40B4-BE49-F238E27FC236}">
                    <a16:creationId xmlns:a16="http://schemas.microsoft.com/office/drawing/2014/main" id="{ED057FE5-F9F6-86E8-5F29-4F67E7C73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852"/>
                <a:ext cx="588" cy="211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68" name="Text Box 79">
                <a:extLst>
                  <a:ext uri="{FF2B5EF4-FFF2-40B4-BE49-F238E27FC236}">
                    <a16:creationId xmlns:a16="http://schemas.microsoft.com/office/drawing/2014/main" id="{7BBAC025-624E-98AE-B97A-AEE5F635CC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611"/>
                <a:ext cx="49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>
                    <a:solidFill>
                      <a:srgbClr val="000000"/>
                    </a:solidFill>
                    <a:ea typeface="굴림" pitchFamily="50" charset="-127"/>
                  </a:rPr>
                  <a:t>Sender</a:t>
                </a:r>
              </a:p>
            </p:txBody>
          </p:sp>
          <p:sp>
            <p:nvSpPr>
              <p:cNvPr id="69" name="Text Box 80">
                <a:extLst>
                  <a:ext uri="{FF2B5EF4-FFF2-40B4-BE49-F238E27FC236}">
                    <a16:creationId xmlns:a16="http://schemas.microsoft.com/office/drawing/2014/main" id="{28278A5C-E4D0-529E-D0A2-8DD4138EC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8" y="1868"/>
                <a:ext cx="49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 i="1">
                    <a:solidFill>
                      <a:schemeClr val="tx1"/>
                    </a:solidFill>
                    <a:ea typeface="굴림" pitchFamily="50" charset="-127"/>
                  </a:rPr>
                  <a:t>RV API</a:t>
                </a:r>
              </a:p>
            </p:txBody>
          </p:sp>
        </p:grpSp>
        <p:sp>
          <p:nvSpPr>
            <p:cNvPr id="46" name="AutoShape 81">
              <a:extLst>
                <a:ext uri="{FF2B5EF4-FFF2-40B4-BE49-F238E27FC236}">
                  <a16:creationId xmlns:a16="http://schemas.microsoft.com/office/drawing/2014/main" id="{A1650976-3F7B-5493-3824-701B79CC7B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814763" y="3501232"/>
              <a:ext cx="679450" cy="5667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7" name="Text Box 82">
              <a:extLst>
                <a:ext uri="{FF2B5EF4-FFF2-40B4-BE49-F238E27FC236}">
                  <a16:creationId xmlns:a16="http://schemas.microsoft.com/office/drawing/2014/main" id="{F7F303F7-A9AB-E330-F817-BC304268B5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0325" y="3501232"/>
              <a:ext cx="56038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48" name="AutoShape 83">
              <a:extLst>
                <a:ext uri="{FF2B5EF4-FFF2-40B4-BE49-F238E27FC236}">
                  <a16:creationId xmlns:a16="http://schemas.microsoft.com/office/drawing/2014/main" id="{5DF75853-976C-068A-AE04-F6BC1D2DA2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140325" y="3496469"/>
              <a:ext cx="679450" cy="566738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9" name="Text Box 84">
              <a:extLst>
                <a:ext uri="{FF2B5EF4-FFF2-40B4-BE49-F238E27FC236}">
                  <a16:creationId xmlns:a16="http://schemas.microsoft.com/office/drawing/2014/main" id="{C90571B4-74A1-0360-31BA-EB859DC21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5888" y="3496469"/>
              <a:ext cx="56038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50" name="AutoShape 85">
              <a:extLst>
                <a:ext uri="{FF2B5EF4-FFF2-40B4-BE49-F238E27FC236}">
                  <a16:creationId xmlns:a16="http://schemas.microsoft.com/office/drawing/2014/main" id="{F8F9FCF4-47E7-8B82-9663-8199AD0445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267575" y="3504407"/>
              <a:ext cx="679450" cy="566737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1" name="Text Box 86">
              <a:extLst>
                <a:ext uri="{FF2B5EF4-FFF2-40B4-BE49-F238E27FC236}">
                  <a16:creationId xmlns:a16="http://schemas.microsoft.com/office/drawing/2014/main" id="{4079D071-48AB-5F11-C59D-5A3ABE924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3138" y="3504407"/>
              <a:ext cx="56038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chemeClr val="tx1"/>
                  </a:solidFill>
                  <a:ea typeface="굴림" pitchFamily="50" charset="-127"/>
                </a:rPr>
                <a:t>RVD</a:t>
              </a:r>
            </a:p>
          </p:txBody>
        </p:sp>
        <p:sp>
          <p:nvSpPr>
            <p:cNvPr id="52" name="Text Box 87">
              <a:extLst>
                <a:ext uri="{FF2B5EF4-FFF2-40B4-BE49-F238E27FC236}">
                  <a16:creationId xmlns:a16="http://schemas.microsoft.com/office/drawing/2014/main" id="{797A4D2C-31D0-E72E-41A3-63CC7B186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3813" y="3890169"/>
              <a:ext cx="1230312" cy="260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100" i="1">
                  <a:solidFill>
                    <a:schemeClr val="tx1"/>
                  </a:solidFill>
                  <a:ea typeface="굴림" pitchFamily="50" charset="-127"/>
                </a:rPr>
                <a:t>rvd –listen 7600</a:t>
              </a:r>
            </a:p>
          </p:txBody>
        </p:sp>
        <p:sp>
          <p:nvSpPr>
            <p:cNvPr id="53" name="Rectangle 89">
              <a:extLst>
                <a:ext uri="{FF2B5EF4-FFF2-40B4-BE49-F238E27FC236}">
                  <a16:creationId xmlns:a16="http://schemas.microsoft.com/office/drawing/2014/main" id="{96FC0331-1566-25A2-AA57-4E5F35158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1966119"/>
              <a:ext cx="933450" cy="450850"/>
            </a:xfrm>
            <a:prstGeom prst="rect">
              <a:avLst/>
            </a:prstGeom>
            <a:solidFill>
              <a:srgbClr val="008080">
                <a:alpha val="7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4" name="Rectangle 90">
              <a:extLst>
                <a:ext uri="{FF2B5EF4-FFF2-40B4-BE49-F238E27FC236}">
                  <a16:creationId xmlns:a16="http://schemas.microsoft.com/office/drawing/2014/main" id="{08878838-4667-53CC-B6FC-D05E3A0E8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2413794"/>
              <a:ext cx="933450" cy="33496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5" name="Text Box 91">
              <a:extLst>
                <a:ext uri="{FF2B5EF4-FFF2-40B4-BE49-F238E27FC236}">
                  <a16:creationId xmlns:a16="http://schemas.microsoft.com/office/drawing/2014/main" id="{2AA7BC18-530D-87AE-3475-B31931ED6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6500" y="2031207"/>
              <a:ext cx="8731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Listener</a:t>
              </a:r>
            </a:p>
          </p:txBody>
        </p:sp>
        <p:sp>
          <p:nvSpPr>
            <p:cNvPr id="56" name="Text Box 92">
              <a:extLst>
                <a:ext uri="{FF2B5EF4-FFF2-40B4-BE49-F238E27FC236}">
                  <a16:creationId xmlns:a16="http://schemas.microsoft.com/office/drawing/2014/main" id="{C69D563A-9312-A756-B019-4907755FE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6663" y="2439194"/>
              <a:ext cx="7778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 i="1">
                  <a:solidFill>
                    <a:schemeClr val="tx1"/>
                  </a:solidFill>
                  <a:ea typeface="굴림" pitchFamily="50" charset="-127"/>
                </a:rPr>
                <a:t>RV API</a:t>
              </a:r>
            </a:p>
          </p:txBody>
        </p:sp>
        <p:grpSp>
          <p:nvGrpSpPr>
            <p:cNvPr id="57" name="Group 98">
              <a:extLst>
                <a:ext uri="{FF2B5EF4-FFF2-40B4-BE49-F238E27FC236}">
                  <a16:creationId xmlns:a16="http://schemas.microsoft.com/office/drawing/2014/main" id="{25C946CD-F54B-01B1-977B-8EECCD0ADD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1050" y="1961361"/>
              <a:ext cx="933450" cy="782638"/>
              <a:chOff x="639" y="1570"/>
              <a:chExt cx="588" cy="493"/>
            </a:xfrm>
          </p:grpSpPr>
          <p:sp>
            <p:nvSpPr>
              <p:cNvPr id="62" name="Rectangle 99">
                <a:extLst>
                  <a:ext uri="{FF2B5EF4-FFF2-40B4-BE49-F238E27FC236}">
                    <a16:creationId xmlns:a16="http://schemas.microsoft.com/office/drawing/2014/main" id="{79441FCC-083F-BD1B-FE92-9EA69B284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70"/>
                <a:ext cx="588" cy="284"/>
              </a:xfrm>
              <a:prstGeom prst="rect">
                <a:avLst/>
              </a:prstGeom>
              <a:solidFill>
                <a:srgbClr val="DDDDDD">
                  <a:alpha val="85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63" name="Rectangle 100">
                <a:extLst>
                  <a:ext uri="{FF2B5EF4-FFF2-40B4-BE49-F238E27FC236}">
                    <a16:creationId xmlns:a16="http://schemas.microsoft.com/office/drawing/2014/main" id="{69AA7C8E-4571-FBF3-3DAA-3D5E725A3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852"/>
                <a:ext cx="588" cy="211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64" name="Text Box 101">
                <a:extLst>
                  <a:ext uri="{FF2B5EF4-FFF2-40B4-BE49-F238E27FC236}">
                    <a16:creationId xmlns:a16="http://schemas.microsoft.com/office/drawing/2014/main" id="{D10382BD-B1B4-79E0-A7A1-C7A9F845B4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611"/>
                <a:ext cx="49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>
                    <a:solidFill>
                      <a:srgbClr val="000000"/>
                    </a:solidFill>
                    <a:ea typeface="굴림" pitchFamily="50" charset="-127"/>
                  </a:rPr>
                  <a:t>Sender</a:t>
                </a:r>
              </a:p>
            </p:txBody>
          </p:sp>
          <p:sp>
            <p:nvSpPr>
              <p:cNvPr id="65" name="Text Box 102">
                <a:extLst>
                  <a:ext uri="{FF2B5EF4-FFF2-40B4-BE49-F238E27FC236}">
                    <a16:creationId xmlns:a16="http://schemas.microsoft.com/office/drawing/2014/main" id="{A10B4196-1CA7-042D-C2D1-BEAD0D3319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8" y="1868"/>
                <a:ext cx="49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5pPr>
                <a:lvl6pPr marL="22860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6pPr>
                <a:lvl7pPr marL="27432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7pPr>
                <a:lvl8pPr marL="32004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8pPr>
                <a:lvl9pPr marL="3657600" algn="l" defTabSz="914400" rtl="0" eaLnBrk="1" latinLnBrk="1" hangingPunct="1">
                  <a:defRPr sz="1200" b="1" kern="1200">
                    <a:solidFill>
                      <a:schemeClr val="bg1"/>
                    </a:solidFill>
                    <a:latin typeface="Arial" charset="0"/>
                    <a:ea typeface="+mn-ea"/>
                    <a:cs typeface="+mn-cs"/>
                    <a:sym typeface="Wingdings" pitchFamily="2" charset="2"/>
                  </a:defRPr>
                </a:lvl9pPr>
              </a:lstStyle>
              <a:p>
                <a:pPr algn="l"/>
                <a:r>
                  <a:rPr lang="en-US" altLang="ko-KR" sz="1400" i="1">
                    <a:solidFill>
                      <a:schemeClr val="tx1"/>
                    </a:solidFill>
                    <a:ea typeface="굴림" pitchFamily="50" charset="-127"/>
                  </a:rPr>
                  <a:t>RV API</a:t>
                </a:r>
              </a:p>
            </p:txBody>
          </p:sp>
        </p:grpSp>
        <p:sp>
          <p:nvSpPr>
            <p:cNvPr id="58" name="Rectangle 103">
              <a:extLst>
                <a:ext uri="{FF2B5EF4-FFF2-40B4-BE49-F238E27FC236}">
                  <a16:creationId xmlns:a16="http://schemas.microsoft.com/office/drawing/2014/main" id="{4E07EF8C-19E5-246D-450F-220B6403E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9513" y="1962944"/>
              <a:ext cx="933450" cy="450850"/>
            </a:xfrm>
            <a:prstGeom prst="rect">
              <a:avLst/>
            </a:prstGeom>
            <a:solidFill>
              <a:srgbClr val="008080">
                <a:alpha val="7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9" name="Rectangle 104">
              <a:extLst>
                <a:ext uri="{FF2B5EF4-FFF2-40B4-BE49-F238E27FC236}">
                  <a16:creationId xmlns:a16="http://schemas.microsoft.com/office/drawing/2014/main" id="{3B5466C0-64F5-3338-47B5-E45F0703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9513" y="2410619"/>
              <a:ext cx="933450" cy="33496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0" name="Text Box 105">
              <a:extLst>
                <a:ext uri="{FF2B5EF4-FFF2-40B4-BE49-F238E27FC236}">
                  <a16:creationId xmlns:a16="http://schemas.microsoft.com/office/drawing/2014/main" id="{30986122-B869-B398-F006-CF0E8132C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263" y="2028032"/>
              <a:ext cx="8731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>
                  <a:solidFill>
                    <a:srgbClr val="000000"/>
                  </a:solidFill>
                  <a:ea typeface="굴림" pitchFamily="50" charset="-127"/>
                </a:rPr>
                <a:t>Listener</a:t>
              </a:r>
            </a:p>
          </p:txBody>
        </p:sp>
        <p:sp>
          <p:nvSpPr>
            <p:cNvPr id="61" name="Text Box 106">
              <a:extLst>
                <a:ext uri="{FF2B5EF4-FFF2-40B4-BE49-F238E27FC236}">
                  <a16:creationId xmlns:a16="http://schemas.microsoft.com/office/drawing/2014/main" id="{1792B1D0-DAA5-7EEB-7AF3-5295B62A6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425" y="2436019"/>
              <a:ext cx="7778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sz="1200" b="1"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  <a:sym typeface="Wingdings" pitchFamily="2" charset="2"/>
                </a:defRPr>
              </a:lvl9pPr>
            </a:lstStyle>
            <a:p>
              <a:pPr algn="l"/>
              <a:r>
                <a:rPr lang="en-US" altLang="ko-KR" sz="1400" i="1">
                  <a:solidFill>
                    <a:schemeClr val="tx1"/>
                  </a:solidFill>
                  <a:ea typeface="굴림" pitchFamily="50" charset="-127"/>
                </a:rPr>
                <a:t>RV API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7601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69ACDDE-2176-F884-D303-D6FA5380D3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Distributed Queue (RVDQ)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374E80-E37D-A320-F533-05EA7AA560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RV </a:t>
            </a:r>
            <a:r>
              <a:rPr lang="ko-KR" altLang="en-US" dirty="0"/>
              <a:t>기능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2B5AE-DDD6-649D-B153-ECFABCFDA121}"/>
              </a:ext>
            </a:extLst>
          </p:cNvPr>
          <p:cNvSpPr txBox="1"/>
          <p:nvPr/>
        </p:nvSpPr>
        <p:spPr>
          <a:xfrm>
            <a:off x="289249" y="1436914"/>
            <a:ext cx="8612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1:N delivery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A56BD1-CAF9-2B1C-456D-63686C57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332" y="1925372"/>
            <a:ext cx="6209336" cy="349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ACED1-9EF6-A2A3-9518-9BC4EA038D69}"/>
              </a:ext>
            </a:extLst>
          </p:cNvPr>
          <p:cNvSpPr txBox="1"/>
          <p:nvPr/>
        </p:nvSpPr>
        <p:spPr>
          <a:xfrm>
            <a:off x="251926" y="5560912"/>
            <a:ext cx="86214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Distributed Queue Group and Member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Scheduler and Worker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Assigning Task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6722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D56DE73-D235-5EFD-A88E-B8785DE47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Fault Tolerance (RVFT)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F59D41-6A7E-3827-14AE-842CB59D7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RV </a:t>
            </a:r>
            <a:r>
              <a:rPr lang="ko-KR" altLang="en-US" dirty="0"/>
              <a:t>기능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C7A4F9-3222-1A88-F208-2C5827ACB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541" y="1508157"/>
            <a:ext cx="4316918" cy="35397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BCB16A-31E5-1478-8D82-01C750300FAF}"/>
              </a:ext>
            </a:extLst>
          </p:cNvPr>
          <p:cNvSpPr txBox="1"/>
          <p:nvPr/>
        </p:nvSpPr>
        <p:spPr>
          <a:xfrm>
            <a:off x="261257" y="5253135"/>
            <a:ext cx="86214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Fault Tolerance Group and Membership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Heartbeats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+mn-ea"/>
              </a:rPr>
              <a:t>Activation Interval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2601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3B3EA03-24BC-65D6-8358-B4685C78A1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REF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361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942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1AB31AD1524274CA67EF487220B3624" ma:contentTypeVersion="16" ma:contentTypeDescription="새 문서를 만듭니다." ma:contentTypeScope="" ma:versionID="03f38e87ddbb59d5b2a79c464b550d19">
  <xsd:schema xmlns:xsd="http://www.w3.org/2001/XMLSchema" xmlns:xs="http://www.w3.org/2001/XMLSchema" xmlns:p="http://schemas.microsoft.com/office/2006/metadata/properties" xmlns:ns2="099969a0-a67b-4e72-9436-fcdf9fe95d6f" xmlns:ns3="1257d717-e82a-4e32-a46f-a1da56d84073" targetNamespace="http://schemas.microsoft.com/office/2006/metadata/properties" ma:root="true" ma:fieldsID="ce71bbbe06a304ad0ac6d0d487ff5c82" ns2:_="" ns3:_="">
    <xsd:import namespace="099969a0-a67b-4e72-9436-fcdf9fe95d6f"/>
    <xsd:import namespace="1257d717-e82a-4e32-a46f-a1da56d840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xb9c1__xd06c_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969a0-a67b-4e72-9436-fcdf9fe95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eeef45f1-0559-4220-940d-6395fa324f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b9c1__xd06c_" ma:index="21" nillable="true" ma:displayName="링크" ma:format="Hyperlink" ma:internalName="_xb9c1__xd06c_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57d717-e82a-4e32-a46f-a1da56d8407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aaadfb2-541b-4fa0-9f04-06305f547df5}" ma:internalName="TaxCatchAll" ma:showField="CatchAllData" ma:web="1257d717-e82a-4e32-a46f-a1da56d84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57d717-e82a-4e32-a46f-a1da56d84073" xsi:nil="true"/>
    <lcf76f155ced4ddcb4097134ff3c332f xmlns="099969a0-a67b-4e72-9436-fcdf9fe95d6f">
      <Terms xmlns="http://schemas.microsoft.com/office/infopath/2007/PartnerControls"/>
    </lcf76f155ced4ddcb4097134ff3c332f>
    <_xb9c1__xd06c_ xmlns="099969a0-a67b-4e72-9436-fcdf9fe95d6f">
      <Url xsi:nil="true"/>
      <Description xsi:nil="true"/>
    </_xb9c1__xd06c_>
  </documentManagement>
</p:properties>
</file>

<file path=customXml/itemProps1.xml><?xml version="1.0" encoding="utf-8"?>
<ds:datastoreItem xmlns:ds="http://schemas.openxmlformats.org/officeDocument/2006/customXml" ds:itemID="{FD5328BC-8450-41EA-872B-8409D204F6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E0F630-06E1-4A6E-AA4B-0ABA4848E6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9969a0-a67b-4e72-9436-fcdf9fe95d6f"/>
    <ds:schemaRef ds:uri="1257d717-e82a-4e32-a46f-a1da56d840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E7A093-B658-4871-8E0D-4E2F70EF491E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1257d717-e82a-4e32-a46f-a1da56d84073"/>
    <ds:schemaRef ds:uri="099969a0-a67b-4e72-9436-fcdf9fe95d6f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6718</TotalTime>
  <Words>2033</Words>
  <Application>Microsoft Office PowerPoint</Application>
  <PresentationFormat>화면 슬라이드 쇼(4:3)</PresentationFormat>
  <Paragraphs>198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Rix고딕 L</vt:lpstr>
      <vt:lpstr>굴림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조민</dc:creator>
  <cp:lastModifiedBy>정기선</cp:lastModifiedBy>
  <cp:revision>344</cp:revision>
  <cp:lastPrinted>2019-11-11T09:03:28Z</cp:lastPrinted>
  <dcterms:created xsi:type="dcterms:W3CDTF">2019-11-11T01:59:21Z</dcterms:created>
  <dcterms:modified xsi:type="dcterms:W3CDTF">2025-05-26T01:05:08Z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0x01010071AB31AD1524274CA67EF487220B3624</vt:lpwstr>
  </property>
  <property fmtid="{D5CDD505-2E9C-101B-9397-08002B2CF9AE}" pid="3" name="MediaServiceImageTags">
    <vt:lpwstr/>
  </property>
</Properties>
</file>