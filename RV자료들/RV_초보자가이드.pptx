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60" r:id="rId5"/>
    <p:sldId id="285" r:id="rId6"/>
    <p:sldId id="281" r:id="rId7"/>
    <p:sldId id="266" r:id="rId8"/>
    <p:sldId id="288" r:id="rId9"/>
    <p:sldId id="293" r:id="rId10"/>
    <p:sldId id="286" r:id="rId11"/>
    <p:sldId id="289" r:id="rId12"/>
    <p:sldId id="299" r:id="rId13"/>
    <p:sldId id="273" r:id="rId14"/>
    <p:sldId id="294" r:id="rId15"/>
    <p:sldId id="291" r:id="rId16"/>
    <p:sldId id="301" r:id="rId17"/>
    <p:sldId id="300" r:id="rId18"/>
    <p:sldId id="295" r:id="rId19"/>
    <p:sldId id="296" r:id="rId20"/>
    <p:sldId id="302" r:id="rId21"/>
    <p:sldId id="303" r:id="rId22"/>
    <p:sldId id="297" r:id="rId23"/>
    <p:sldId id="304" r:id="rId24"/>
    <p:sldId id="298" r:id="rId25"/>
    <p:sldId id="305" r:id="rId26"/>
    <p:sldId id="306" r:id="rId27"/>
    <p:sldId id="307" r:id="rId28"/>
    <p:sldId id="308" r:id="rId29"/>
    <p:sldId id="309" r:id="rId30"/>
    <p:sldId id="310" r:id="rId31"/>
    <p:sldId id="275" r:id="rId3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667D7-FEBC-45FC-ACBD-D9D20CEAAFC3}" v="2" dt="2023-09-25T07:38:09.022"/>
    <p1510:client id="{F02A6814-396A-42FE-B3CC-D12A0FDFC819}" v="5" dt="2023-08-16T04:07:55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양 재혁" userId="S::yangjh0429@kimids.co.kr::7332d3bc-a682-4d23-9db3-d220323a52d6" providerId="AD" clId="Web-{5D7667D7-FEBC-45FC-ACBD-D9D20CEAAFC3}"/>
    <pc:docChg chg="sldOrd">
      <pc:chgData name="양 재혁" userId="S::yangjh0429@kimids.co.kr::7332d3bc-a682-4d23-9db3-d220323a52d6" providerId="AD" clId="Web-{5D7667D7-FEBC-45FC-ACBD-D9D20CEAAFC3}" dt="2023-09-25T07:38:09.022" v="1"/>
      <pc:docMkLst>
        <pc:docMk/>
      </pc:docMkLst>
      <pc:sldChg chg="ord">
        <pc:chgData name="양 재혁" userId="S::yangjh0429@kimids.co.kr::7332d3bc-a682-4d23-9db3-d220323a52d6" providerId="AD" clId="Web-{5D7667D7-FEBC-45FC-ACBD-D9D20CEAAFC3}" dt="2023-09-25T07:38:09.022" v="1"/>
        <pc:sldMkLst>
          <pc:docMk/>
          <pc:sldMk cId="2289474651" sldId="289"/>
        </pc:sldMkLst>
      </pc:sldChg>
      <pc:sldChg chg="ord">
        <pc:chgData name="양 재혁" userId="S::yangjh0429@kimids.co.kr::7332d3bc-a682-4d23-9db3-d220323a52d6" providerId="AD" clId="Web-{5D7667D7-FEBC-45FC-ACBD-D9D20CEAAFC3}" dt="2023-09-25T07:37:59.927" v="0"/>
        <pc:sldMkLst>
          <pc:docMk/>
          <pc:sldMk cId="2289474651" sldId="293"/>
        </pc:sldMkLst>
      </pc:sldChg>
    </pc:docChg>
  </pc:docChgLst>
  <pc:docChgLst>
    <pc:chgData name="양 재혁" userId="S::yangjh0429@kimids.co.kr::7332d3bc-a682-4d23-9db3-d220323a52d6" providerId="AD" clId="Web-{F02A6814-396A-42FE-B3CC-D12A0FDFC819}"/>
    <pc:docChg chg="modSld">
      <pc:chgData name="양 재혁" userId="S::yangjh0429@kimids.co.kr::7332d3bc-a682-4d23-9db3-d220323a52d6" providerId="AD" clId="Web-{F02A6814-396A-42FE-B3CC-D12A0FDFC819}" dt="2023-08-16T04:07:53.285" v="1" actId="20577"/>
      <pc:docMkLst>
        <pc:docMk/>
      </pc:docMkLst>
      <pc:sldChg chg="modSp">
        <pc:chgData name="양 재혁" userId="S::yangjh0429@kimids.co.kr::7332d3bc-a682-4d23-9db3-d220323a52d6" providerId="AD" clId="Web-{F02A6814-396A-42FE-B3CC-D12A0FDFC819}" dt="2023-08-16T04:07:53.285" v="1" actId="20577"/>
        <pc:sldMkLst>
          <pc:docMk/>
          <pc:sldMk cId="2289474651" sldId="301"/>
        </pc:sldMkLst>
        <pc:spChg chg="mod">
          <ac:chgData name="양 재혁" userId="S::yangjh0429@kimids.co.kr::7332d3bc-a682-4d23-9db3-d220323a52d6" providerId="AD" clId="Web-{F02A6814-396A-42FE-B3CC-D12A0FDFC819}" dt="2023-08-16T04:07:53.285" v="1" actId="20577"/>
          <ac:spMkLst>
            <pc:docMk/>
            <pc:sldMk cId="2289474651" sldId="301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E1A40-7F20-40D9-83A5-50069CCB18E6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56C0B-1B00-40FC-BF00-95068B1B6C5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일반페이지">
    <p:bg>
      <p:bgPr>
        <a:gradFill flip="none" rotWithShape="1">
          <a:gsLst>
            <a:gs pos="0">
              <a:schemeClr val="bg1">
                <a:tint val="40000"/>
                <a:satMod val="350000"/>
              </a:schemeClr>
            </a:gs>
            <a:gs pos="65000">
              <a:schemeClr val="bg1"/>
            </a:gs>
            <a:gs pos="100000">
              <a:srgbClr val="DCDDDE"/>
            </a:gs>
          </a:gsLst>
          <a:lin ang="17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360539" y="142876"/>
            <a:ext cx="8303811" cy="760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 b="1" baseline="0">
                <a:solidFill>
                  <a:schemeClr val="accent6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53617" y="1035844"/>
            <a:ext cx="8303493" cy="973336"/>
          </a:xfrm>
        </p:spPr>
        <p:txBody>
          <a:bodyPr/>
          <a:lstStyle>
            <a:lvl1pPr>
              <a:buClr>
                <a:schemeClr val="accent6">
                  <a:lumMod val="75000"/>
                  <a:lumOff val="25000"/>
                </a:schemeClr>
              </a:buClr>
              <a:defRPr sz="1600" baseline="0"/>
            </a:lvl1pPr>
            <a:lvl2pPr>
              <a:buClr>
                <a:srgbClr val="FF0000"/>
              </a:buClr>
              <a:defRPr sz="1400" baseline="0"/>
            </a:lvl2pPr>
            <a:lvl3pPr>
              <a:buClr>
                <a:srgbClr val="00B050"/>
              </a:buClr>
              <a:defRPr sz="1200"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996403" y="6479354"/>
            <a:ext cx="2133078" cy="36500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0BBF4-2688-4489-8EB0-D33F147865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cxnSp>
        <p:nvCxnSpPr>
          <p:cNvPr id="14" name="Straight Connector 5"/>
          <p:cNvCxnSpPr/>
          <p:nvPr userDrawn="1"/>
        </p:nvCxnSpPr>
        <p:spPr>
          <a:xfrm>
            <a:off x="362609" y="895524"/>
            <a:ext cx="8308413" cy="0"/>
          </a:xfrm>
          <a:prstGeom prst="line">
            <a:avLst/>
          </a:prstGeom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 userDrawn="1"/>
        </p:nvSpPr>
        <p:spPr>
          <a:xfrm>
            <a:off x="3239372" y="6524368"/>
            <a:ext cx="2243226" cy="333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 descr="C:\Users\sunwoong\Desktop\각종 서류\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37595" y="6471811"/>
            <a:ext cx="737603" cy="283728"/>
          </a:xfrm>
          <a:prstGeom prst="rect">
            <a:avLst/>
          </a:prstGeom>
          <a:noFill/>
        </p:spPr>
      </p:pic>
      <p:grpSp>
        <p:nvGrpSpPr>
          <p:cNvPr id="2" name="그룹 15"/>
          <p:cNvGrpSpPr/>
          <p:nvPr userDrawn="1"/>
        </p:nvGrpSpPr>
        <p:grpSpPr>
          <a:xfrm>
            <a:off x="6801162" y="582706"/>
            <a:ext cx="1803152" cy="243698"/>
            <a:chOff x="397801" y="6323101"/>
            <a:chExt cx="2719964" cy="339328"/>
          </a:xfrm>
        </p:grpSpPr>
        <p:pic>
          <p:nvPicPr>
            <p:cNvPr id="8" name="Picture 6" descr="automate-icon.pn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397801" y="6328124"/>
              <a:ext cx="403952" cy="334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7" descr="cloud-icon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2135983" y="6439559"/>
              <a:ext cx="403952" cy="2228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8" descr="tibbr-icon.pn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2713813" y="6409557"/>
              <a:ext cx="403952" cy="252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9" descr="events.png"/>
            <p:cNvPicPr>
              <a:picLocks noChangeAspect="1"/>
            </p:cNvPicPr>
            <p:nvPr userDrawn="1"/>
          </p:nvPicPr>
          <p:blipFill>
            <a:blip r:embed="rId6" cstate="print"/>
            <a:stretch>
              <a:fillRect/>
            </a:stretch>
          </p:blipFill>
          <p:spPr>
            <a:xfrm>
              <a:off x="975629" y="6323101"/>
              <a:ext cx="406301" cy="339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10" descr="analytics.png"/>
            <p:cNvPicPr>
              <a:picLocks noChangeAspect="1"/>
            </p:cNvPicPr>
            <p:nvPr userDrawn="1"/>
          </p:nvPicPr>
          <p:blipFill>
            <a:blip r:embed="rId7" cstate="print"/>
            <a:stretch>
              <a:fillRect/>
            </a:stretch>
          </p:blipFill>
          <p:spPr>
            <a:xfrm>
              <a:off x="1555806" y="6323101"/>
              <a:ext cx="406301" cy="339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흰색_뒷장표지_출력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22F154-490D-45D5-A20C-E50D83C641B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4" name="Picture 4" descr="tibco-logo-whit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63603" y="3191248"/>
            <a:ext cx="2216795" cy="475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e3-icon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5510" y="4225975"/>
            <a:ext cx="540246" cy="531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2" descr="two-second-icon.png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4574" y="4202535"/>
            <a:ext cx="312539" cy="506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8" descr="automate-icon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3278279" y="4372523"/>
            <a:ext cx="372879" cy="334305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8" name="Picture 9" descr="cloud-icon.pn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4882755" y="4483957"/>
            <a:ext cx="372879" cy="222870"/>
          </a:xfrm>
          <a:prstGeom prst="rect">
            <a:avLst/>
          </a:prstGeom>
          <a:effectLst>
            <a:reflection blurRad="6350" stA="50000" endA="275" endPos="40000" dist="101600" dir="5400000" sy="-100000" algn="bl" rotWithShape="0"/>
          </a:effectLst>
        </p:spPr>
      </p:pic>
      <p:pic>
        <p:nvPicPr>
          <p:cNvPr id="9" name="Picture 10" descr="tibbr-icon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5416136" y="4453955"/>
            <a:ext cx="372879" cy="252872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10" name="Picture 12" descr="events.pn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3811659" y="4367499"/>
            <a:ext cx="375047" cy="339328"/>
          </a:xfrm>
          <a:prstGeom prst="rect">
            <a:avLst/>
          </a:prstGeom>
          <a:effectLst>
            <a:reflection stA="50000" endPos="40000" dist="38100" dir="5400000" sy="-100000" algn="bl" rotWithShape="0"/>
          </a:effectLst>
        </p:spPr>
      </p:pic>
      <p:pic>
        <p:nvPicPr>
          <p:cNvPr id="11" name="Picture 13" descr="analytics.pn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4347207" y="4367499"/>
            <a:ext cx="375047" cy="339328"/>
          </a:xfrm>
          <a:prstGeom prst="rect">
            <a:avLst/>
          </a:prstGeom>
          <a:effectLst>
            <a:reflection stA="50000" endPos="40000" dist="25400" dir="5400000" sy="-100000" algn="bl" rotWithShape="0"/>
          </a:effectLst>
        </p:spPr>
      </p:pic>
      <p:sp>
        <p:nvSpPr>
          <p:cNvPr id="15" name="직사각형 14"/>
          <p:cNvSpPr/>
          <p:nvPr userDrawn="1"/>
        </p:nvSpPr>
        <p:spPr>
          <a:xfrm>
            <a:off x="3239372" y="6524368"/>
            <a:ext cx="2243226" cy="333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17B6D-6C18-4DF1-8C7A-315B8D9140AC}" type="datetimeFigureOut">
              <a:rPr lang="ko-KR" altLang="en-US" smtClean="0"/>
              <a:pPr/>
              <a:t>2023-09-25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1.png"/><Relationship Id="rId7" Type="http://schemas.openxmlformats.org/officeDocument/2006/relationships/image" Target="../media/image24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11.png"/><Relationship Id="rId7" Type="http://schemas.openxmlformats.org/officeDocument/2006/relationships/image" Target="../media/image26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010432" y="6492899"/>
            <a:ext cx="2133600" cy="365125"/>
          </a:xfrm>
        </p:spPr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928662" y="1714488"/>
            <a:ext cx="700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TIBCO Rendezvous</a:t>
            </a:r>
          </a:p>
          <a:p>
            <a:pPr algn="ctr"/>
            <a:r>
              <a:rPr lang="en-US" altLang="ko-KR" sz="3600" b="1" dirty="0"/>
              <a:t>User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010432" y="6492899"/>
            <a:ext cx="2133600" cy="365125"/>
          </a:xfrm>
        </p:spPr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</a:t>
            </a:fld>
            <a:endParaRPr lang="en-US" altLang="ko-KR" dirty="0"/>
          </a:p>
        </p:txBody>
      </p:sp>
      <p:sp>
        <p:nvSpPr>
          <p:cNvPr id="5" name="Rectangle 14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Content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2060331" y="1557338"/>
            <a:ext cx="4985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gray">
          <a:xfrm>
            <a:off x="2094035" y="1857364"/>
            <a:ext cx="4917831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EAI &amp; TIBCO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Rendezvous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010432" y="6492899"/>
            <a:ext cx="2133600" cy="365125"/>
          </a:xfrm>
        </p:spPr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3</a:t>
            </a:fld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1151687" y="2214554"/>
            <a:ext cx="7000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EAI &amp;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TIBCO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EAI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란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?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179512" y="980728"/>
            <a:ext cx="828092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r>
              <a:rPr lang="en-US" altLang="ko-KR" dirty="0"/>
              <a:t>EAI (Enterprise Application Integration)</a:t>
            </a:r>
            <a:br>
              <a:rPr lang="ko-KR" altLang="en-US" dirty="0"/>
            </a:b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     - </a:t>
            </a:r>
            <a:r>
              <a:rPr lang="ko-KR" altLang="en-US" sz="1600" dirty="0"/>
              <a:t>비즈니스 프로세스를 중심으로 기업</a:t>
            </a:r>
            <a:r>
              <a:rPr lang="en-US" altLang="ko-KR" sz="1600" dirty="0"/>
              <a:t>, </a:t>
            </a:r>
            <a:r>
              <a:rPr lang="ko-KR" altLang="en-US" sz="1600" dirty="0"/>
              <a:t>기관 내 각종 어플리케이션 간의 상호 연동이 가능하도록 하는 솔루션이나 방법론을 의미</a:t>
            </a: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     - </a:t>
            </a:r>
            <a:r>
              <a:rPr lang="ko-KR" altLang="en-US" sz="1600" b="1" dirty="0"/>
              <a:t>서로 다른 시스템을 연결하고 시스템들 간 통신을 가능하게 하여 주는 것</a:t>
            </a:r>
            <a:endParaRPr lang="en-US" altLang="ko-KR" sz="1600" b="1" dirty="0"/>
          </a:p>
          <a:p>
            <a:pPr>
              <a:buNone/>
            </a:pPr>
            <a:r>
              <a:rPr lang="en-US" altLang="ko-KR" sz="1600" dirty="0"/>
              <a:t>     - </a:t>
            </a:r>
            <a:r>
              <a:rPr lang="ko-KR" altLang="en-US" sz="1600" dirty="0"/>
              <a:t>기존 어플리케이션을 변화 시키지 않고 이들간의 통신을 가능하게 하다는 점에서 </a:t>
            </a:r>
            <a:r>
              <a:rPr lang="ko-KR" altLang="en-US" sz="1600" dirty="0" err="1"/>
              <a:t>미들웨어의</a:t>
            </a:r>
            <a:r>
              <a:rPr lang="ko-KR" altLang="en-US" sz="1600" dirty="0"/>
              <a:t> 하나로 분류되기도 하지만 기존의 </a:t>
            </a:r>
            <a:r>
              <a:rPr lang="ko-KR" altLang="en-US" sz="1600" dirty="0" err="1"/>
              <a:t>미들웨어가</a:t>
            </a:r>
            <a:r>
              <a:rPr lang="ko-KR" altLang="en-US" sz="1600" dirty="0"/>
              <a:t> </a:t>
            </a:r>
            <a:r>
              <a:rPr lang="en-US" altLang="ko-KR" sz="1600" dirty="0"/>
              <a:t>P2P</a:t>
            </a:r>
            <a:r>
              <a:rPr lang="ko-KR" altLang="en-US" sz="1600" dirty="0" err="1"/>
              <a:t>인반면</a:t>
            </a:r>
            <a:r>
              <a:rPr lang="ko-KR" altLang="en-US" sz="1600" dirty="0"/>
              <a:t> </a:t>
            </a:r>
            <a:r>
              <a:rPr lang="en-US" altLang="ko-KR" sz="1600" dirty="0"/>
              <a:t>EAI</a:t>
            </a:r>
            <a:r>
              <a:rPr lang="ko-KR" altLang="en-US" sz="1600" dirty="0"/>
              <a:t>는 여러 어플간의 네트워크를 통합적으로 관리한다는 점에서 다름</a:t>
            </a:r>
            <a:endParaRPr lang="en-US" altLang="ko-KR" sz="1600" dirty="0"/>
          </a:p>
        </p:txBody>
      </p:sp>
      <p:pic>
        <p:nvPicPr>
          <p:cNvPr id="9" name="그림 8" descr="eai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843808" y="3573016"/>
            <a:ext cx="3413033" cy="281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4704856" cy="348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EAI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사용 예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395536" y="980728"/>
            <a:ext cx="8136904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r>
              <a:rPr lang="ko-KR" altLang="en-US" dirty="0"/>
              <a:t>삼성카드 </a:t>
            </a:r>
            <a:r>
              <a:rPr lang="en-US" altLang="ko-KR" dirty="0"/>
              <a:t>EAI </a:t>
            </a:r>
            <a:r>
              <a:rPr lang="ko-KR" altLang="en-US" dirty="0"/>
              <a:t>사용 예</a:t>
            </a:r>
            <a:endParaRPr lang="en-US" altLang="ko-KR" dirty="0"/>
          </a:p>
          <a:p>
            <a:pPr>
              <a:buNone/>
            </a:pPr>
            <a:r>
              <a:rPr lang="en-US" altLang="ko-KR" sz="1600" dirty="0">
                <a:solidFill>
                  <a:srgbClr val="595959"/>
                </a:solidFill>
                <a:cs typeface="Arial" charset="0"/>
              </a:rPr>
              <a:t> EAI</a:t>
            </a:r>
            <a:r>
              <a:rPr lang="ko-KR" altLang="en-US" sz="1600" dirty="0">
                <a:solidFill>
                  <a:srgbClr val="595959"/>
                </a:solidFill>
                <a:cs typeface="Arial" charset="0"/>
              </a:rPr>
              <a:t>는 다양한 프로토콜에 대한 </a:t>
            </a:r>
            <a:r>
              <a:rPr lang="en-US" altLang="ko-KR" sz="1600" dirty="0">
                <a:solidFill>
                  <a:srgbClr val="595959"/>
                </a:solidFill>
                <a:cs typeface="Arial" charset="0"/>
              </a:rPr>
              <a:t>Adapter </a:t>
            </a:r>
            <a:r>
              <a:rPr lang="ko-KR" altLang="en-US" sz="1600" dirty="0">
                <a:solidFill>
                  <a:srgbClr val="595959"/>
                </a:solidFill>
                <a:cs typeface="Arial" charset="0"/>
              </a:rPr>
              <a:t>및 </a:t>
            </a:r>
            <a:r>
              <a:rPr lang="en-US" altLang="ko-KR" sz="1600" dirty="0">
                <a:solidFill>
                  <a:srgbClr val="595959"/>
                </a:solidFill>
                <a:cs typeface="Arial" charset="0"/>
              </a:rPr>
              <a:t>API</a:t>
            </a:r>
            <a:r>
              <a:rPr lang="ko-KR" altLang="en-US" sz="1600" dirty="0">
                <a:solidFill>
                  <a:srgbClr val="595959"/>
                </a:solidFill>
                <a:cs typeface="Arial" charset="0"/>
              </a:rPr>
              <a:t>를 제공하여 통합함</a:t>
            </a: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 </a:t>
            </a:r>
          </a:p>
        </p:txBody>
      </p:sp>
      <p:grpSp>
        <p:nvGrpSpPr>
          <p:cNvPr id="2" name="그룹 5"/>
          <p:cNvGrpSpPr/>
          <p:nvPr/>
        </p:nvGrpSpPr>
        <p:grpSpPr>
          <a:xfrm>
            <a:off x="395536" y="1772816"/>
            <a:ext cx="8442622" cy="4174184"/>
            <a:chOff x="273051" y="1562786"/>
            <a:chExt cx="9396412" cy="4891984"/>
          </a:xfrm>
        </p:grpSpPr>
        <p:grpSp>
          <p:nvGrpSpPr>
            <p:cNvPr id="5" name="Group 68"/>
            <p:cNvGrpSpPr>
              <a:grpSpLocks/>
            </p:cNvGrpSpPr>
            <p:nvPr/>
          </p:nvGrpSpPr>
          <p:grpSpPr bwMode="auto">
            <a:xfrm>
              <a:off x="273051" y="1562786"/>
              <a:ext cx="3363966" cy="444574"/>
              <a:chOff x="173" y="1096"/>
              <a:chExt cx="1903" cy="254"/>
            </a:xfrm>
          </p:grpSpPr>
          <p:sp>
            <p:nvSpPr>
              <p:cNvPr id="78" name="AutoShape 102"/>
              <p:cNvSpPr>
                <a:spLocks noChangeArrowheads="1"/>
              </p:cNvSpPr>
              <p:nvPr/>
            </p:nvSpPr>
            <p:spPr bwMode="auto">
              <a:xfrm>
                <a:off x="173" y="1096"/>
                <a:ext cx="1688" cy="254"/>
              </a:xfrm>
              <a:prstGeom prst="roundRect">
                <a:avLst>
                  <a:gd name="adj" fmla="val 7093"/>
                </a:avLst>
              </a:prstGeom>
              <a:solidFill>
                <a:srgbClr val="C8D8E6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lIns="83969" tIns="41985" rIns="83969" bIns="41985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pPr algn="ctr" defTabSz="914445"/>
                <a:endParaRPr kumimoji="0" lang="ko-KR" altLang="ko-KR" sz="1200" u="none" dirty="0">
                  <a:solidFill>
                    <a:srgbClr val="000000"/>
                  </a:solidFill>
                  <a:ea typeface="맑은 고딕" pitchFamily="50" charset="-127"/>
                </a:endParaRPr>
              </a:p>
            </p:txBody>
          </p:sp>
          <p:sp>
            <p:nvSpPr>
              <p:cNvPr id="79" name="Arc 101"/>
              <p:cNvSpPr>
                <a:spLocks/>
              </p:cNvSpPr>
              <p:nvPr/>
            </p:nvSpPr>
            <p:spPr bwMode="auto">
              <a:xfrm>
                <a:off x="1838" y="1097"/>
                <a:ext cx="238" cy="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C8D8E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endParaRPr lang="ko-KR" altLang="en-US" sz="1200">
                  <a:solidFill>
                    <a:srgbClr val="000000"/>
                  </a:solidFill>
                  <a:ea typeface="맑은 고딕" pitchFamily="50" charset="-127"/>
                </a:endParaRPr>
              </a:p>
            </p:txBody>
          </p:sp>
          <p:sp>
            <p:nvSpPr>
              <p:cNvPr id="80" name="Rectangle 104"/>
              <p:cNvSpPr>
                <a:spLocks noChangeArrowheads="1"/>
              </p:cNvSpPr>
              <p:nvPr/>
            </p:nvSpPr>
            <p:spPr bwMode="auto">
              <a:xfrm>
                <a:off x="262" y="1115"/>
                <a:ext cx="1547" cy="106"/>
              </a:xfrm>
              <a:prstGeom prst="rect">
                <a:avLst/>
              </a:prstGeom>
              <a:solidFill>
                <a:srgbClr val="C8D8E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r>
                  <a:rPr lang="ko-KR" altLang="en-US" sz="1200" u="none" dirty="0"/>
                  <a:t>다양한 프로토콜 기반 적용 기술 표준화</a:t>
                </a:r>
              </a:p>
            </p:txBody>
          </p:sp>
        </p:grpSp>
        <p:sp>
          <p:nvSpPr>
            <p:cNvPr id="9" name="AutoShape 103"/>
            <p:cNvSpPr>
              <a:spLocks noChangeArrowheads="1"/>
            </p:cNvSpPr>
            <p:nvPr/>
          </p:nvSpPr>
          <p:spPr bwMode="auto">
            <a:xfrm>
              <a:off x="273051" y="1815197"/>
              <a:ext cx="9396412" cy="4639573"/>
            </a:xfrm>
            <a:prstGeom prst="roundRect">
              <a:avLst>
                <a:gd name="adj" fmla="val 981"/>
              </a:avLst>
            </a:prstGeom>
            <a:solidFill>
              <a:srgbClr val="E9EEF3"/>
            </a:solidFill>
            <a:ln w="12700" algn="ctr">
              <a:solidFill>
                <a:srgbClr val="C8D8E6"/>
              </a:solidFill>
              <a:round/>
              <a:headEnd/>
              <a:tailEnd/>
            </a:ln>
            <a:effectLst/>
          </p:spPr>
          <p:txBody>
            <a:bodyPr wrap="none" lIns="83969" tIns="41985" rIns="83969" bIns="41985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defTabSz="914445"/>
              <a:endParaRPr kumimoji="0" lang="ko-KR" altLang="ko-KR" sz="1400" b="0" u="none" dirty="0">
                <a:solidFill>
                  <a:srgbClr val="000000"/>
                </a:solidFill>
              </a:endParaRPr>
            </a:p>
          </p:txBody>
        </p:sp>
        <p:sp>
          <p:nvSpPr>
            <p:cNvPr id="10" name="AutoShape 103"/>
            <p:cNvSpPr>
              <a:spLocks noChangeArrowheads="1"/>
            </p:cNvSpPr>
            <p:nvPr/>
          </p:nvSpPr>
          <p:spPr bwMode="auto">
            <a:xfrm>
              <a:off x="425451" y="1967598"/>
              <a:ext cx="9066212" cy="4325248"/>
            </a:xfrm>
            <a:prstGeom prst="roundRect">
              <a:avLst>
                <a:gd name="adj" fmla="val 981"/>
              </a:avLst>
            </a:prstGeom>
            <a:solidFill>
              <a:schemeClr val="bg1"/>
            </a:solidFill>
            <a:ln w="12700" algn="ctr">
              <a:solidFill>
                <a:srgbClr val="C8D8E6"/>
              </a:solidFill>
              <a:round/>
              <a:headEnd/>
              <a:tailEnd/>
            </a:ln>
            <a:effectLst/>
          </p:spPr>
          <p:txBody>
            <a:bodyPr wrap="none" lIns="83969" tIns="41985" rIns="83969" bIns="41985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defTabSz="914445"/>
              <a:endParaRPr kumimoji="0" lang="ko-KR" altLang="ko-KR" sz="1400" b="0" u="none" dirty="0">
                <a:solidFill>
                  <a:srgbClr val="000000"/>
                </a:solidFill>
              </a:endParaRPr>
            </a:p>
          </p:txBody>
        </p:sp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gray">
            <a:xfrm>
              <a:off x="1298445" y="1974569"/>
              <a:ext cx="673773" cy="863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8"/>
            <p:cNvSpPr txBox="1">
              <a:spLocks noChangeArrowheads="1"/>
            </p:cNvSpPr>
            <p:nvPr/>
          </p:nvSpPr>
          <p:spPr bwMode="gray">
            <a:xfrm>
              <a:off x="1209376" y="2754740"/>
              <a:ext cx="789241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>
                <a:spcBef>
                  <a:spcPct val="50000"/>
                </a:spcBef>
                <a:buClr>
                  <a:schemeClr val="accent2"/>
                </a:buClr>
              </a:pPr>
              <a:r>
                <a:rPr kumimoji="0" lang="ko-KR" altLang="en-US" sz="1100" u="none"/>
                <a:t>기준정보</a:t>
              </a:r>
              <a:endParaRPr kumimoji="0" lang="en-US" altLang="ko-KR" sz="1100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13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gray">
            <a:xfrm>
              <a:off x="1298445" y="3105522"/>
              <a:ext cx="673773" cy="863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 Box 8"/>
            <p:cNvSpPr txBox="1">
              <a:spLocks noChangeArrowheads="1"/>
            </p:cNvSpPr>
            <p:nvPr/>
          </p:nvSpPr>
          <p:spPr bwMode="gray">
            <a:xfrm>
              <a:off x="1130432" y="3885693"/>
              <a:ext cx="838067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>
                <a:spcBef>
                  <a:spcPct val="50000"/>
                </a:spcBef>
                <a:buClr>
                  <a:schemeClr val="accent2"/>
                </a:buClr>
              </a:pPr>
              <a:r>
                <a:rPr kumimoji="0" lang="ko-KR" altLang="en-US" sz="1100" u="none"/>
                <a:t>상품처리</a:t>
              </a:r>
              <a:endParaRPr kumimoji="0" lang="en-US" altLang="ko-KR" sz="1100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15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gray">
            <a:xfrm>
              <a:off x="1290804" y="4216710"/>
              <a:ext cx="673773" cy="863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 Box 8"/>
            <p:cNvSpPr txBox="1">
              <a:spLocks noChangeArrowheads="1"/>
            </p:cNvSpPr>
            <p:nvPr/>
          </p:nvSpPr>
          <p:spPr bwMode="gray">
            <a:xfrm>
              <a:off x="1252538" y="4996881"/>
              <a:ext cx="612000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>
                <a:spcBef>
                  <a:spcPct val="50000"/>
                </a:spcBef>
                <a:buClr>
                  <a:schemeClr val="accent2"/>
                </a:buClr>
              </a:pPr>
              <a:r>
                <a:rPr kumimoji="0" lang="ko-KR" altLang="en-US" sz="1100" u="none">
                  <a:latin typeface="맑은 고딕" pitchFamily="50" charset="-127"/>
                  <a:ea typeface="맑은 고딕" pitchFamily="50" charset="-127"/>
                </a:rPr>
                <a:t>승인계</a:t>
              </a:r>
              <a:endParaRPr kumimoji="0" lang="en-US" altLang="ko-KR" sz="1100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17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gray">
            <a:xfrm>
              <a:off x="1283163" y="5325276"/>
              <a:ext cx="673773" cy="863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 Box 8"/>
            <p:cNvSpPr txBox="1">
              <a:spLocks noChangeArrowheads="1"/>
            </p:cNvSpPr>
            <p:nvPr/>
          </p:nvSpPr>
          <p:spPr bwMode="gray">
            <a:xfrm>
              <a:off x="1107747" y="6105447"/>
              <a:ext cx="964933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>
                <a:spcBef>
                  <a:spcPct val="50000"/>
                </a:spcBef>
                <a:buClr>
                  <a:schemeClr val="accent2"/>
                </a:buClr>
              </a:pPr>
              <a:r>
                <a:rPr lang="ko-KR" altLang="en-US" sz="1100" u="none" dirty="0"/>
                <a:t>정보 분석</a:t>
              </a:r>
              <a:endParaRPr kumimoji="0" lang="en-US" altLang="ko-KR" sz="1100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6" name="그룹 18"/>
            <p:cNvGrpSpPr>
              <a:grpSpLocks/>
            </p:cNvGrpSpPr>
            <p:nvPr/>
          </p:nvGrpSpPr>
          <p:grpSpPr bwMode="auto">
            <a:xfrm>
              <a:off x="2079625" y="2407255"/>
              <a:ext cx="500063" cy="3275036"/>
              <a:chOff x="1582866" y="2500306"/>
              <a:chExt cx="624032" cy="3275036"/>
            </a:xfrm>
          </p:grpSpPr>
          <p:cxnSp>
            <p:nvCxnSpPr>
              <p:cNvPr id="70" name="직선 화살표 연결선 69"/>
              <p:cNvCxnSpPr>
                <a:cxnSpLocks noChangeShapeType="1"/>
              </p:cNvCxnSpPr>
              <p:nvPr/>
            </p:nvCxnSpPr>
            <p:spPr bwMode="auto">
              <a:xfrm>
                <a:off x="1582866" y="2500306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1" name="직선 화살표 연결선 70"/>
              <p:cNvCxnSpPr>
                <a:cxnSpLocks noChangeShapeType="1"/>
              </p:cNvCxnSpPr>
              <p:nvPr/>
            </p:nvCxnSpPr>
            <p:spPr bwMode="auto">
              <a:xfrm>
                <a:off x="1582866" y="2652706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</p:cxnSp>
          <p:cxnSp>
            <p:nvCxnSpPr>
              <p:cNvPr id="72" name="직선 화살표 연결선 71"/>
              <p:cNvCxnSpPr>
                <a:cxnSpLocks noChangeShapeType="1"/>
              </p:cNvCxnSpPr>
              <p:nvPr/>
            </p:nvCxnSpPr>
            <p:spPr bwMode="auto">
              <a:xfrm>
                <a:off x="1582866" y="3500438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3" name="직선 화살표 연결선 72"/>
              <p:cNvCxnSpPr>
                <a:cxnSpLocks noChangeShapeType="1"/>
              </p:cNvCxnSpPr>
              <p:nvPr/>
            </p:nvCxnSpPr>
            <p:spPr bwMode="auto">
              <a:xfrm>
                <a:off x="1582866" y="3652838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</p:cxnSp>
          <p:cxnSp>
            <p:nvCxnSpPr>
              <p:cNvPr id="74" name="직선 화살표 연결선 73"/>
              <p:cNvCxnSpPr>
                <a:cxnSpLocks noChangeShapeType="1"/>
              </p:cNvCxnSpPr>
              <p:nvPr/>
            </p:nvCxnSpPr>
            <p:spPr bwMode="auto">
              <a:xfrm>
                <a:off x="1582866" y="4560896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5" name="직선 화살표 연결선 74"/>
              <p:cNvCxnSpPr>
                <a:cxnSpLocks noChangeShapeType="1"/>
              </p:cNvCxnSpPr>
              <p:nvPr/>
            </p:nvCxnSpPr>
            <p:spPr bwMode="auto">
              <a:xfrm>
                <a:off x="1582866" y="4713296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</p:cxnSp>
          <p:cxnSp>
            <p:nvCxnSpPr>
              <p:cNvPr id="76" name="직선 화살표 연결선 75"/>
              <p:cNvCxnSpPr>
                <a:cxnSpLocks noChangeShapeType="1"/>
              </p:cNvCxnSpPr>
              <p:nvPr/>
            </p:nvCxnSpPr>
            <p:spPr bwMode="auto">
              <a:xfrm>
                <a:off x="1582866" y="5621354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7" name="직선 화살표 연결선 76"/>
              <p:cNvCxnSpPr>
                <a:cxnSpLocks noChangeShapeType="1"/>
              </p:cNvCxnSpPr>
              <p:nvPr/>
            </p:nvCxnSpPr>
            <p:spPr bwMode="auto">
              <a:xfrm>
                <a:off x="1582866" y="5773754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</p:cxnSp>
        </p:grpSp>
        <p:grpSp>
          <p:nvGrpSpPr>
            <p:cNvPr id="7" name="그룹 19"/>
            <p:cNvGrpSpPr>
              <a:grpSpLocks/>
            </p:cNvGrpSpPr>
            <p:nvPr/>
          </p:nvGrpSpPr>
          <p:grpSpPr bwMode="auto">
            <a:xfrm>
              <a:off x="7027863" y="2467579"/>
              <a:ext cx="487362" cy="3297260"/>
              <a:chOff x="5497246" y="2560632"/>
              <a:chExt cx="624032" cy="3297260"/>
            </a:xfrm>
          </p:grpSpPr>
          <p:cxnSp>
            <p:nvCxnSpPr>
              <p:cNvPr id="62" name="직선 화살표 연결선 61"/>
              <p:cNvCxnSpPr>
                <a:cxnSpLocks noChangeShapeType="1"/>
              </p:cNvCxnSpPr>
              <p:nvPr/>
            </p:nvCxnSpPr>
            <p:spPr bwMode="auto">
              <a:xfrm>
                <a:off x="5497246" y="2560632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3" name="직선 화살표 연결선 62"/>
              <p:cNvCxnSpPr>
                <a:cxnSpLocks noChangeShapeType="1"/>
              </p:cNvCxnSpPr>
              <p:nvPr/>
            </p:nvCxnSpPr>
            <p:spPr bwMode="auto">
              <a:xfrm>
                <a:off x="5497246" y="2713032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</p:cxnSp>
          <p:cxnSp>
            <p:nvCxnSpPr>
              <p:cNvPr id="64" name="직선 화살표 연결선 63"/>
              <p:cNvCxnSpPr>
                <a:cxnSpLocks noChangeShapeType="1"/>
              </p:cNvCxnSpPr>
              <p:nvPr/>
            </p:nvCxnSpPr>
            <p:spPr bwMode="auto">
              <a:xfrm>
                <a:off x="5497246" y="3500438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5" name="직선 화살표 연결선 64"/>
              <p:cNvCxnSpPr>
                <a:cxnSpLocks noChangeShapeType="1"/>
              </p:cNvCxnSpPr>
              <p:nvPr/>
            </p:nvCxnSpPr>
            <p:spPr bwMode="auto">
              <a:xfrm>
                <a:off x="5497246" y="3652838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</p:cxnSp>
          <p:cxnSp>
            <p:nvCxnSpPr>
              <p:cNvPr id="66" name="직선 화살표 연결선 65"/>
              <p:cNvCxnSpPr>
                <a:cxnSpLocks noChangeShapeType="1"/>
              </p:cNvCxnSpPr>
              <p:nvPr/>
            </p:nvCxnSpPr>
            <p:spPr bwMode="auto">
              <a:xfrm>
                <a:off x="5497246" y="4560896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7" name="직선 화살표 연결선 66"/>
              <p:cNvCxnSpPr>
                <a:cxnSpLocks noChangeShapeType="1"/>
              </p:cNvCxnSpPr>
              <p:nvPr/>
            </p:nvCxnSpPr>
            <p:spPr bwMode="auto">
              <a:xfrm>
                <a:off x="5497246" y="4713296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</p:cxnSp>
          <p:cxnSp>
            <p:nvCxnSpPr>
              <p:cNvPr id="68" name="직선 화살표 연결선 67"/>
              <p:cNvCxnSpPr>
                <a:cxnSpLocks noChangeShapeType="1"/>
              </p:cNvCxnSpPr>
              <p:nvPr/>
            </p:nvCxnSpPr>
            <p:spPr bwMode="auto">
              <a:xfrm>
                <a:off x="5497246" y="5703904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9" name="직선 화살표 연결선 68"/>
              <p:cNvCxnSpPr>
                <a:cxnSpLocks noChangeShapeType="1"/>
              </p:cNvCxnSpPr>
              <p:nvPr/>
            </p:nvCxnSpPr>
            <p:spPr bwMode="auto">
              <a:xfrm>
                <a:off x="5497246" y="5856304"/>
                <a:ext cx="624032" cy="1588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</p:cxnSp>
        </p:grpSp>
        <p:pic>
          <p:nvPicPr>
            <p:cNvPr id="21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gray">
            <a:xfrm>
              <a:off x="7807619" y="1974569"/>
              <a:ext cx="673773" cy="863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Text Box 8"/>
            <p:cNvSpPr txBox="1">
              <a:spLocks noChangeArrowheads="1"/>
            </p:cNvSpPr>
            <p:nvPr/>
          </p:nvSpPr>
          <p:spPr bwMode="gray">
            <a:xfrm>
              <a:off x="7591550" y="2754740"/>
              <a:ext cx="1057150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>
                <a:spcBef>
                  <a:spcPct val="50000"/>
                </a:spcBef>
                <a:buClr>
                  <a:schemeClr val="accent2"/>
                </a:buClr>
              </a:pPr>
              <a:r>
                <a:rPr kumimoji="0" lang="ko-KR" altLang="en-US" sz="1100" u="none"/>
                <a:t>공통인프라</a:t>
              </a:r>
              <a:endParaRPr kumimoji="0" lang="en-US" altLang="ko-KR" sz="1100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23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gray">
            <a:xfrm>
              <a:off x="7807619" y="3105522"/>
              <a:ext cx="673773" cy="863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Text Box 8"/>
            <p:cNvSpPr txBox="1">
              <a:spLocks noChangeArrowheads="1"/>
            </p:cNvSpPr>
            <p:nvPr/>
          </p:nvSpPr>
          <p:spPr bwMode="gray">
            <a:xfrm>
              <a:off x="7532547" y="3918785"/>
              <a:ext cx="1188000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>
                <a:spcBef>
                  <a:spcPct val="50000"/>
                </a:spcBef>
                <a:buClr>
                  <a:schemeClr val="accent2"/>
                </a:buClr>
              </a:pPr>
              <a:r>
                <a:rPr kumimoji="0" lang="en-US" altLang="ko-KR" sz="1100" u="none"/>
                <a:t>Legacy </a:t>
              </a:r>
              <a:r>
                <a:rPr kumimoji="0" lang="ko-KR" altLang="en-US" sz="1100" u="none" dirty="0"/>
                <a:t>시스템</a:t>
              </a:r>
              <a:endParaRPr kumimoji="0" lang="en-US" altLang="ko-KR" sz="1100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25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gray">
            <a:xfrm>
              <a:off x="7799978" y="4216710"/>
              <a:ext cx="673773" cy="863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Text Box 8"/>
            <p:cNvSpPr txBox="1">
              <a:spLocks noChangeArrowheads="1"/>
            </p:cNvSpPr>
            <p:nvPr/>
          </p:nvSpPr>
          <p:spPr bwMode="gray">
            <a:xfrm>
              <a:off x="7710912" y="4996881"/>
              <a:ext cx="914496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>
                <a:spcBef>
                  <a:spcPct val="50000"/>
                </a:spcBef>
                <a:buClr>
                  <a:schemeClr val="accent2"/>
                </a:buClr>
              </a:pPr>
              <a:r>
                <a:rPr kumimoji="0" lang="ko-KR" altLang="en-US" sz="1100" u="none" dirty="0">
                  <a:latin typeface="맑은 고딕" pitchFamily="50" charset="-127"/>
                  <a:ea typeface="맑은 고딕" pitchFamily="50" charset="-127"/>
                </a:rPr>
                <a:t>재무 관리</a:t>
              </a:r>
              <a:endParaRPr kumimoji="0" lang="en-US" altLang="ko-KR" sz="1100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27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gray">
            <a:xfrm>
              <a:off x="7792337" y="5277651"/>
              <a:ext cx="673773" cy="863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" name="Text Box 8"/>
            <p:cNvSpPr txBox="1">
              <a:spLocks noChangeArrowheads="1"/>
            </p:cNvSpPr>
            <p:nvPr/>
          </p:nvSpPr>
          <p:spPr bwMode="gray">
            <a:xfrm>
              <a:off x="7545288" y="6090480"/>
              <a:ext cx="1224511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>
                <a:spcBef>
                  <a:spcPct val="50000"/>
                </a:spcBef>
                <a:buClr>
                  <a:schemeClr val="accent2"/>
                </a:buClr>
              </a:pPr>
              <a:r>
                <a:rPr kumimoji="0" lang="en-US" altLang="ko-KR" sz="1100" u="none" dirty="0">
                  <a:latin typeface="맑은 고딕" pitchFamily="50" charset="-127"/>
                  <a:ea typeface="맑은 고딕" pitchFamily="50" charset="-127"/>
                </a:rPr>
                <a:t>IT </a:t>
              </a:r>
              <a:r>
                <a:rPr kumimoji="0" lang="ko-KR" altLang="en-US" sz="1100" u="none" dirty="0">
                  <a:latin typeface="맑은 고딕" pitchFamily="50" charset="-127"/>
                  <a:ea typeface="맑은 고딕" pitchFamily="50" charset="-127"/>
                </a:rPr>
                <a:t>운영관리</a:t>
              </a:r>
              <a:endParaRPr kumimoji="0" lang="en-US" altLang="ko-KR" sz="1100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6142493" y="2216737"/>
              <a:ext cx="503237" cy="3856038"/>
            </a:xfrm>
            <a:prstGeom prst="rect">
              <a:avLst/>
            </a:prstGeom>
            <a:solidFill>
              <a:srgbClr val="0070C0"/>
            </a:solidFill>
            <a:ln w="9525" algn="ctr">
              <a:noFill/>
              <a:miter lim="800000"/>
              <a:headEnd/>
              <a:tailEnd/>
            </a:ln>
          </p:spPr>
          <p:txBody>
            <a:bodyPr vert="eaVert"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/>
              <a:endParaRPr kumimoji="0" lang="ko-KR" altLang="en-US" u="none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2909317" y="2216737"/>
              <a:ext cx="503238" cy="3856038"/>
            </a:xfrm>
            <a:prstGeom prst="rect">
              <a:avLst/>
            </a:prstGeom>
            <a:solidFill>
              <a:srgbClr val="0070C0"/>
            </a:solidFill>
            <a:ln w="9525" algn="ctr">
              <a:noFill/>
              <a:miter lim="800000"/>
              <a:headEnd/>
              <a:tailEnd/>
            </a:ln>
          </p:spPr>
          <p:txBody>
            <a:bodyPr vert="eaVert"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/>
              <a:endParaRPr kumimoji="0" lang="ko-KR" altLang="en-US" u="none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Rectangle 8"/>
            <p:cNvSpPr>
              <a:spLocks noChangeArrowheads="1"/>
            </p:cNvSpPr>
            <p:nvPr/>
          </p:nvSpPr>
          <p:spPr bwMode="auto">
            <a:xfrm rot="-5400000">
              <a:off x="4687888" y="4231275"/>
              <a:ext cx="385762" cy="3313112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</p:spPr>
          <p:txBody>
            <a:bodyPr vert="eaVert"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/>
              <a:endParaRPr kumimoji="0" lang="en-US" altLang="ko-KR" sz="1200" u="none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AutoShape 2"/>
            <p:cNvSpPr>
              <a:spLocks noChangeArrowheads="1"/>
            </p:cNvSpPr>
            <p:nvPr/>
          </p:nvSpPr>
          <p:spPr bwMode="auto">
            <a:xfrm>
              <a:off x="3507014" y="2561519"/>
              <a:ext cx="2538413" cy="3112567"/>
            </a:xfrm>
            <a:prstGeom prst="roundRect">
              <a:avLst>
                <a:gd name="adj" fmla="val 2051"/>
              </a:avLst>
            </a:prstGeom>
            <a:solidFill>
              <a:srgbClr val="EAEAEA">
                <a:alpha val="50195"/>
              </a:srgbClr>
            </a:solidFill>
            <a:ln w="3175">
              <a:solidFill>
                <a:srgbClr val="969696"/>
              </a:solidFill>
              <a:round/>
              <a:headEnd/>
              <a:tailEnd/>
            </a:ln>
          </p:spPr>
          <p:txBody>
            <a:bodyPr lIns="0" tIns="0" rIns="0" bIns="0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defTabSz="628650" eaLnBrk="0" latinLnBrk="0" hangingPunct="0"/>
              <a:endParaRPr kumimoji="0" lang="ko-KR" altLang="en-US" sz="11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9" name="그룹 32"/>
            <p:cNvGrpSpPr>
              <a:grpSpLocks/>
            </p:cNvGrpSpPr>
            <p:nvPr/>
          </p:nvGrpSpPr>
          <p:grpSpPr bwMode="auto">
            <a:xfrm>
              <a:off x="3714977" y="3929677"/>
              <a:ext cx="2103437" cy="1581152"/>
              <a:chOff x="3399766" y="3528589"/>
              <a:chExt cx="2258179" cy="1137096"/>
            </a:xfrm>
          </p:grpSpPr>
          <p:sp>
            <p:nvSpPr>
              <p:cNvPr id="56" name="Rectangle 3"/>
              <p:cNvSpPr>
                <a:spLocks noChangeArrowheads="1"/>
              </p:cNvSpPr>
              <p:nvPr/>
            </p:nvSpPr>
            <p:spPr bwMode="auto">
              <a:xfrm>
                <a:off x="3399766" y="3762962"/>
                <a:ext cx="2258179" cy="219425"/>
              </a:xfrm>
              <a:prstGeom prst="rect">
                <a:avLst/>
              </a:prstGeom>
              <a:solidFill>
                <a:srgbClr val="E5DFD5"/>
              </a:solidFill>
              <a:ln w="0">
                <a:noFill/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pPr algn="ctr" defTabSz="600075" eaLnBrk="0" latinLnBrk="0" hangingPunct="0">
                  <a:lnSpc>
                    <a:spcPct val="90000"/>
                  </a:lnSpc>
                </a:pPr>
                <a:r>
                  <a:rPr kumimoji="0" lang="en-US" altLang="ko-KR" sz="1100" b="1" u="none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Transaction </a:t>
                </a:r>
                <a:r>
                  <a:rPr kumimoji="0" lang="ko-KR" altLang="en-US" sz="1100" b="1" u="none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처리</a:t>
                </a:r>
                <a:r>
                  <a:rPr kumimoji="0" lang="en-US" altLang="ko-KR" sz="1100" b="1" u="none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(2PC)</a:t>
                </a:r>
                <a:endParaRPr kumimoji="0" lang="ko-KR" altLang="en-US" sz="1100" b="1" u="none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7" name="Rectangle 4"/>
              <p:cNvSpPr>
                <a:spLocks noChangeArrowheads="1"/>
              </p:cNvSpPr>
              <p:nvPr/>
            </p:nvSpPr>
            <p:spPr bwMode="auto">
              <a:xfrm>
                <a:off x="3399766" y="3990147"/>
                <a:ext cx="2258179" cy="217295"/>
              </a:xfrm>
              <a:prstGeom prst="rect">
                <a:avLst/>
              </a:prstGeom>
              <a:solidFill>
                <a:srgbClr val="E5DFD5"/>
              </a:solidFill>
              <a:ln w="0">
                <a:noFill/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pPr algn="ctr" defTabSz="600075" eaLnBrk="0" latinLnBrk="0" hangingPunct="0">
                  <a:lnSpc>
                    <a:spcPct val="90000"/>
                  </a:lnSpc>
                </a:pPr>
                <a:r>
                  <a:rPr kumimoji="0" lang="ko-KR" altLang="en-US" sz="1100" b="1" u="none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에러 처리</a:t>
                </a:r>
              </a:p>
            </p:txBody>
          </p:sp>
          <p:sp>
            <p:nvSpPr>
              <p:cNvPr id="58" name="Rectangle 5"/>
              <p:cNvSpPr>
                <a:spLocks noChangeArrowheads="1"/>
              </p:cNvSpPr>
              <p:nvPr/>
            </p:nvSpPr>
            <p:spPr bwMode="auto">
              <a:xfrm>
                <a:off x="3399766" y="4214323"/>
                <a:ext cx="2254519" cy="217295"/>
              </a:xfrm>
              <a:prstGeom prst="rect">
                <a:avLst/>
              </a:prstGeom>
              <a:solidFill>
                <a:srgbClr val="E5DFD5"/>
              </a:solidFill>
              <a:ln w="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pPr algn="ctr" defTabSz="600075" eaLnBrk="0" latinLnBrk="0" hangingPunct="0">
                  <a:lnSpc>
                    <a:spcPct val="90000"/>
                  </a:lnSpc>
                </a:pPr>
                <a:r>
                  <a:rPr kumimoji="0" lang="ko-KR" altLang="en-US" sz="1100" b="1" u="none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프로세스 로깅</a:t>
                </a:r>
              </a:p>
            </p:txBody>
          </p:sp>
          <p:sp>
            <p:nvSpPr>
              <p:cNvPr id="59" name="Rectangle 6"/>
              <p:cNvSpPr>
                <a:spLocks noChangeArrowheads="1"/>
              </p:cNvSpPr>
              <p:nvPr/>
            </p:nvSpPr>
            <p:spPr bwMode="auto">
              <a:xfrm>
                <a:off x="3399766" y="3528589"/>
                <a:ext cx="2254519" cy="219425"/>
              </a:xfrm>
              <a:prstGeom prst="rect">
                <a:avLst/>
              </a:prstGeom>
              <a:solidFill>
                <a:srgbClr val="E5DFD5"/>
              </a:solidFill>
              <a:ln w="0">
                <a:noFill/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pPr algn="ctr" defTabSz="600075" eaLnBrk="0" latinLnBrk="0" hangingPunct="0">
                  <a:lnSpc>
                    <a:spcPct val="90000"/>
                  </a:lnSpc>
                </a:pPr>
                <a:r>
                  <a:rPr kumimoji="0" lang="ko-KR" altLang="en-US" sz="1100" b="1" u="none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데이터 변환</a:t>
                </a:r>
                <a:r>
                  <a:rPr kumimoji="0" lang="en-US" altLang="ko-KR" sz="1100" b="1" u="none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/</a:t>
                </a:r>
                <a:r>
                  <a:rPr kumimoji="0" lang="ko-KR" altLang="en-US" sz="1100" b="1" u="none" dirty="0" err="1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매핑</a:t>
                </a:r>
                <a:endParaRPr kumimoji="0" lang="ko-KR" altLang="en-US" sz="1100" b="1" u="none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1" name="Rectangle 5"/>
              <p:cNvSpPr>
                <a:spLocks noChangeArrowheads="1"/>
              </p:cNvSpPr>
              <p:nvPr/>
            </p:nvSpPr>
            <p:spPr bwMode="auto">
              <a:xfrm>
                <a:off x="3399767" y="4448390"/>
                <a:ext cx="2248252" cy="217295"/>
              </a:xfrm>
              <a:prstGeom prst="rect">
                <a:avLst/>
              </a:prstGeom>
              <a:solidFill>
                <a:srgbClr val="E5DFD5"/>
              </a:solidFill>
              <a:ln w="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900" b="1" u="sng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pPr algn="ctr" defTabSz="600075" eaLnBrk="0" latinLnBrk="0" hangingPunct="0">
                  <a:lnSpc>
                    <a:spcPct val="90000"/>
                  </a:lnSpc>
                </a:pPr>
                <a:r>
                  <a:rPr kumimoji="0" lang="ko-KR" altLang="en-US" sz="1100" b="1" u="none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메시지 라우팅</a:t>
                </a:r>
              </a:p>
            </p:txBody>
          </p:sp>
        </p:grpSp>
        <p:sp>
          <p:nvSpPr>
            <p:cNvPr id="34" name="오각형 33"/>
            <p:cNvSpPr/>
            <p:nvPr/>
          </p:nvSpPr>
          <p:spPr bwMode="auto">
            <a:xfrm>
              <a:off x="6004613" y="2533933"/>
              <a:ext cx="770359" cy="254496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kumimoji="0" lang="en-US" altLang="ko-KR" sz="1100" b="1" u="none" dirty="0">
                  <a:latin typeface="맑은 고딕" pitchFamily="50" charset="-127"/>
                  <a:ea typeface="맑은 고딕" pitchFamily="50" charset="-127"/>
                  <a:sym typeface="Wingdings" pitchFamily="32" charset="2"/>
                </a:rPr>
                <a:t>TCP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35" name="오각형 34"/>
            <p:cNvSpPr/>
            <p:nvPr/>
          </p:nvSpPr>
          <p:spPr bwMode="auto">
            <a:xfrm rot="10800000">
              <a:off x="2792761" y="2543941"/>
              <a:ext cx="754162" cy="258929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endParaRPr kumimoji="0" lang="ko-KR" altLang="en-US" sz="10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36" name="TextBox 398"/>
            <p:cNvSpPr txBox="1">
              <a:spLocks noChangeArrowheads="1"/>
            </p:cNvSpPr>
            <p:nvPr/>
          </p:nvSpPr>
          <p:spPr bwMode="auto">
            <a:xfrm>
              <a:off x="2997805" y="2557489"/>
              <a:ext cx="41069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/>
              <a:r>
                <a:rPr lang="en-US" altLang="ko-KR" sz="1100" b="1" u="none" dirty="0">
                  <a:latin typeface="맑은 고딕" pitchFamily="50" charset="-127"/>
                  <a:ea typeface="맑은 고딕" pitchFamily="50" charset="-127"/>
                </a:rPr>
                <a:t>EJB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 rot="-5400000">
              <a:off x="4618038" y="577240"/>
              <a:ext cx="330200" cy="3600450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</p:spPr>
          <p:txBody>
            <a:bodyPr vert="eaVert"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/>
              <a:r>
                <a:rPr kumimoji="0" lang="en-US" altLang="ko-KR" sz="1200" b="1" u="none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TIBCO EAI</a:t>
              </a:r>
            </a:p>
          </p:txBody>
        </p:sp>
        <p:sp>
          <p:nvSpPr>
            <p:cNvPr id="38" name="오각형 37"/>
            <p:cNvSpPr/>
            <p:nvPr/>
          </p:nvSpPr>
          <p:spPr bwMode="auto">
            <a:xfrm rot="10800000">
              <a:off x="2792761" y="3113769"/>
              <a:ext cx="754162" cy="258929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endParaRPr kumimoji="0" lang="ko-KR" altLang="en-US" sz="10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39" name="TextBox 398"/>
            <p:cNvSpPr txBox="1">
              <a:spLocks noChangeArrowheads="1"/>
            </p:cNvSpPr>
            <p:nvPr/>
          </p:nvSpPr>
          <p:spPr bwMode="auto">
            <a:xfrm>
              <a:off x="2961271" y="3105545"/>
              <a:ext cx="461986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/>
              <a:r>
                <a:rPr lang="en-US" altLang="ko-KR" sz="1100" b="1" u="none" dirty="0">
                  <a:latin typeface="맑은 고딕" pitchFamily="50" charset="-127"/>
                  <a:ea typeface="맑은 고딕" pitchFamily="50" charset="-127"/>
                </a:rPr>
                <a:t>JMS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0" name="오각형 39"/>
            <p:cNvSpPr/>
            <p:nvPr/>
          </p:nvSpPr>
          <p:spPr bwMode="auto">
            <a:xfrm rot="10800000">
              <a:off x="2792761" y="3689833"/>
              <a:ext cx="754162" cy="258929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endParaRPr kumimoji="0" lang="ko-KR" altLang="en-US" sz="10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41" name="TextBox 398"/>
            <p:cNvSpPr txBox="1">
              <a:spLocks noChangeArrowheads="1"/>
            </p:cNvSpPr>
            <p:nvPr/>
          </p:nvSpPr>
          <p:spPr bwMode="auto">
            <a:xfrm>
              <a:off x="2923267" y="3703381"/>
              <a:ext cx="559769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/>
              <a:r>
                <a:rPr lang="en-US" altLang="ko-KR" sz="1100" b="1" u="none" dirty="0">
                  <a:latin typeface="맑은 고딕" pitchFamily="50" charset="-127"/>
                  <a:ea typeface="맑은 고딕" pitchFamily="50" charset="-127"/>
                </a:rPr>
                <a:t>SOAP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2" name="오각형 41"/>
            <p:cNvSpPr/>
            <p:nvPr/>
          </p:nvSpPr>
          <p:spPr bwMode="auto">
            <a:xfrm rot="10800000">
              <a:off x="2792761" y="4265897"/>
              <a:ext cx="754162" cy="258929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endParaRPr kumimoji="0" lang="ko-KR" altLang="en-US" sz="10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43" name="TextBox 398"/>
            <p:cNvSpPr txBox="1">
              <a:spLocks noChangeArrowheads="1"/>
            </p:cNvSpPr>
            <p:nvPr/>
          </p:nvSpPr>
          <p:spPr bwMode="auto">
            <a:xfrm>
              <a:off x="2937693" y="4279445"/>
              <a:ext cx="530916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/>
              <a:r>
                <a:rPr lang="en-US" altLang="ko-KR" sz="1100" b="1" u="none" dirty="0">
                  <a:latin typeface="맑은 고딕" pitchFamily="50" charset="-127"/>
                  <a:ea typeface="맑은 고딕" pitchFamily="50" charset="-127"/>
                </a:rPr>
                <a:t>JDBC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오각형 43"/>
            <p:cNvSpPr/>
            <p:nvPr/>
          </p:nvSpPr>
          <p:spPr bwMode="auto">
            <a:xfrm rot="10800000">
              <a:off x="2792761" y="4841961"/>
              <a:ext cx="754162" cy="258929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endParaRPr kumimoji="0" lang="ko-KR" altLang="en-US" sz="10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45" name="TextBox 398"/>
            <p:cNvSpPr txBox="1">
              <a:spLocks noChangeArrowheads="1"/>
            </p:cNvSpPr>
            <p:nvPr/>
          </p:nvSpPr>
          <p:spPr bwMode="auto">
            <a:xfrm>
              <a:off x="2931281" y="4855509"/>
              <a:ext cx="543739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/>
              <a:r>
                <a:rPr kumimoji="0" lang="en-US" altLang="ko-KR" sz="1100" u="none" dirty="0"/>
                <a:t>HTTP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오각형 45"/>
            <p:cNvSpPr/>
            <p:nvPr/>
          </p:nvSpPr>
          <p:spPr bwMode="auto">
            <a:xfrm>
              <a:off x="6015542" y="3120883"/>
              <a:ext cx="770359" cy="254496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lang="en-US" altLang="ko-KR" sz="1100" u="none" dirty="0">
                  <a:sym typeface="Wingdings" pitchFamily="32" charset="2"/>
                </a:rPr>
                <a:t>FTP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47" name="오각형 46"/>
            <p:cNvSpPr/>
            <p:nvPr/>
          </p:nvSpPr>
          <p:spPr bwMode="auto">
            <a:xfrm>
              <a:off x="6026428" y="3696947"/>
              <a:ext cx="770359" cy="254496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kumimoji="0" lang="en-US" altLang="ko-KR" sz="1100" b="1" u="none" dirty="0">
                  <a:latin typeface="맑은 고딕" pitchFamily="50" charset="-127"/>
                  <a:ea typeface="맑은 고딕" pitchFamily="50" charset="-127"/>
                  <a:sym typeface="Wingdings" pitchFamily="32" charset="2"/>
                </a:rPr>
                <a:t>SMTP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48" name="오각형 47"/>
            <p:cNvSpPr/>
            <p:nvPr/>
          </p:nvSpPr>
          <p:spPr bwMode="auto">
            <a:xfrm>
              <a:off x="6037271" y="4273011"/>
              <a:ext cx="770359" cy="254496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kumimoji="0" lang="en-US" altLang="ko-KR" sz="1100" b="1" u="none" dirty="0">
                  <a:latin typeface="맑은 고딕" pitchFamily="50" charset="-127"/>
                  <a:ea typeface="맑은 고딕" pitchFamily="50" charset="-127"/>
                  <a:sym typeface="Wingdings" pitchFamily="32" charset="2"/>
                </a:rPr>
                <a:t>File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49" name="오각형 48"/>
            <p:cNvSpPr/>
            <p:nvPr/>
          </p:nvSpPr>
          <p:spPr bwMode="auto">
            <a:xfrm>
              <a:off x="6048200" y="4837311"/>
              <a:ext cx="770359" cy="254496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kumimoji="0" lang="en-US" altLang="ko-KR" sz="1100" b="1" u="none" dirty="0">
                  <a:latin typeface="맑은 고딕" pitchFamily="50" charset="-127"/>
                  <a:ea typeface="맑은 고딕" pitchFamily="50" charset="-127"/>
                  <a:sym typeface="Wingdings" pitchFamily="32" charset="2"/>
                </a:rPr>
                <a:t>SAP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50" name="오각형 49"/>
            <p:cNvSpPr/>
            <p:nvPr/>
          </p:nvSpPr>
          <p:spPr bwMode="auto">
            <a:xfrm rot="10800000">
              <a:off x="2792761" y="5418025"/>
              <a:ext cx="754162" cy="258929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endParaRPr kumimoji="0" lang="ko-KR" altLang="en-US" sz="10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sp>
          <p:nvSpPr>
            <p:cNvPr id="51" name="TextBox 398"/>
            <p:cNvSpPr txBox="1">
              <a:spLocks noChangeArrowheads="1"/>
            </p:cNvSpPr>
            <p:nvPr/>
          </p:nvSpPr>
          <p:spPr bwMode="auto">
            <a:xfrm>
              <a:off x="2929677" y="5431573"/>
              <a:ext cx="546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latinLnBrk="0"/>
              <a:r>
                <a:rPr lang="en-US" altLang="ko-KR" sz="1100" u="none" dirty="0"/>
                <a:t>JSON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오각형 51"/>
            <p:cNvSpPr/>
            <p:nvPr/>
          </p:nvSpPr>
          <p:spPr bwMode="auto">
            <a:xfrm>
              <a:off x="6054849" y="5425139"/>
              <a:ext cx="770359" cy="254496"/>
            </a:xfrm>
            <a:prstGeom prst="homePlat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900" b="1" u="sng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lang="en-US" altLang="ko-KR" sz="1100" b="1" u="none" dirty="0">
                  <a:latin typeface="맑은 고딕" pitchFamily="50" charset="-127"/>
                  <a:ea typeface="맑은 고딕" pitchFamily="50" charset="-127"/>
                  <a:sym typeface="Wingdings" pitchFamily="32" charset="2"/>
                </a:rPr>
                <a:t>RV</a:t>
              </a:r>
              <a:endParaRPr kumimoji="0" lang="ko-KR" altLang="en-US" sz="1100" b="1" u="none" dirty="0">
                <a:latin typeface="맑은 고딕" pitchFamily="50" charset="-127"/>
                <a:ea typeface="맑은 고딕" pitchFamily="50" charset="-127"/>
                <a:sym typeface="Wingdings" pitchFamily="32" charset="2"/>
              </a:endParaRPr>
            </a:p>
          </p:txBody>
        </p:sp>
        <p:pic>
          <p:nvPicPr>
            <p:cNvPr id="53" name="Picture 7" descr="box_02_even_blue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717978" y="3115811"/>
              <a:ext cx="2304256" cy="5040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" name="Picture 7" descr="box_02_even_blue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645970" y="3043803"/>
              <a:ext cx="2304256" cy="5040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5" name="Picture 7" descr="box_02_even_blue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573962" y="2971795"/>
              <a:ext cx="2304256" cy="5040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EAI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란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?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AutoShape 4"/>
          <p:cNvSpPr>
            <a:spLocks noChangeArrowheads="1"/>
          </p:cNvSpPr>
          <p:nvPr/>
        </p:nvSpPr>
        <p:spPr bwMode="auto">
          <a:xfrm rot="5400000">
            <a:off x="4283968" y="2924944"/>
            <a:ext cx="576064" cy="6048672"/>
          </a:xfrm>
          <a:prstGeom prst="can">
            <a:avLst>
              <a:gd name="adj" fmla="val 44123"/>
            </a:avLst>
          </a:prstGeom>
          <a:gradFill rotWithShape="1">
            <a:gsLst>
              <a:gs pos="0">
                <a:schemeClr val="tx2">
                  <a:lumMod val="20000"/>
                  <a:lumOff val="80000"/>
                </a:schemeClr>
              </a:gs>
              <a:gs pos="17999">
                <a:srgbClr val="99CCFF"/>
              </a:gs>
              <a:gs pos="36000">
                <a:schemeClr val="tx2">
                  <a:lumMod val="40000"/>
                  <a:lumOff val="60000"/>
                </a:schemeClr>
              </a:gs>
              <a:gs pos="61000">
                <a:schemeClr val="tx2">
                  <a:lumMod val="60000"/>
                  <a:lumOff val="40000"/>
                </a:schemeClr>
              </a:gs>
              <a:gs pos="82001">
                <a:srgbClr val="99CCFF"/>
              </a:gs>
              <a:gs pos="100000">
                <a:srgbClr val="CCCCFF"/>
              </a:gs>
            </a:gsLst>
            <a:lin ang="0" scaled="0"/>
          </a:gra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rot="10800000" vert="eaVert"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9pPr>
          </a:lstStyle>
          <a:p>
            <a:r>
              <a:rPr lang="en-US" altLang="ko-KR" dirty="0"/>
              <a:t>TIB ( The Information  Bus )</a:t>
            </a:r>
            <a:endParaRPr lang="ko-KR" altLang="en-US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195736" y="4077072"/>
            <a:ext cx="936625" cy="576262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400" dirty="0"/>
              <a:t>RVD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5652120" y="4077072"/>
            <a:ext cx="936625" cy="576262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400" dirty="0"/>
              <a:t>RVD</a:t>
            </a:r>
            <a:endParaRPr lang="ko-KR" altLang="en-US" sz="3200" dirty="0"/>
          </a:p>
        </p:txBody>
      </p:sp>
      <p:sp>
        <p:nvSpPr>
          <p:cNvPr id="12" name="직사각형 11"/>
          <p:cNvSpPr/>
          <p:nvPr/>
        </p:nvSpPr>
        <p:spPr>
          <a:xfrm>
            <a:off x="1763688" y="2420888"/>
            <a:ext cx="1800200" cy="2448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220072" y="2420888"/>
            <a:ext cx="1800200" cy="2448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195736" y="3501008"/>
            <a:ext cx="936625" cy="576262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400" dirty="0"/>
              <a:t>TRA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2195736" y="2924944"/>
            <a:ext cx="936625" cy="576262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400" dirty="0"/>
              <a:t>ADMIN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5652120" y="3501008"/>
            <a:ext cx="936625" cy="576262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400" dirty="0"/>
              <a:t>TRA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5652120" y="2924944"/>
            <a:ext cx="936625" cy="576262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400" dirty="0"/>
              <a:t>ADMIN</a:t>
            </a:r>
          </a:p>
        </p:txBody>
      </p:sp>
      <p:sp>
        <p:nvSpPr>
          <p:cNvPr id="28" name="위쪽/아래쪽 화살표 27"/>
          <p:cNvSpPr/>
          <p:nvPr/>
        </p:nvSpPr>
        <p:spPr>
          <a:xfrm>
            <a:off x="2483768" y="4725144"/>
            <a:ext cx="432048" cy="792088"/>
          </a:xfrm>
          <a:prstGeom prst="up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위쪽/아래쪽 화살표 29"/>
          <p:cNvSpPr/>
          <p:nvPr/>
        </p:nvSpPr>
        <p:spPr>
          <a:xfrm>
            <a:off x="5940152" y="4725144"/>
            <a:ext cx="432048" cy="792088"/>
          </a:xfrm>
          <a:prstGeom prst="up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1763688" y="1916832"/>
            <a:ext cx="1800200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5220072" y="1916832"/>
            <a:ext cx="1800200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2123728" y="1988840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HP Unix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292080" y="1988840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Windows NT</a:t>
            </a:r>
            <a:endParaRPr lang="ko-KR" altLang="en-US" dirty="0"/>
          </a:p>
        </p:txBody>
      </p:sp>
      <p:sp>
        <p:nvSpPr>
          <p:cNvPr id="39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ko-KR" altLang="en-US" sz="1800" b="1" dirty="0">
                <a:ea typeface="굴림" pitchFamily="50" charset="-127"/>
              </a:rPr>
              <a:t>통신 구성도 및 </a:t>
            </a:r>
            <a:r>
              <a:rPr lang="en-US" altLang="ko-KR" sz="1800" b="1" dirty="0" err="1">
                <a:ea typeface="굴림" pitchFamily="50" charset="-127"/>
              </a:rPr>
              <a:t>Tibco</a:t>
            </a:r>
            <a:r>
              <a:rPr lang="en-US" altLang="ko-KR" sz="1800" b="1" dirty="0">
                <a:ea typeface="굴림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시스템 통합과 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MOM 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역할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6" name="Rectangle 3"/>
          <p:cNvSpPr>
            <a:spLocks noGrp="1" noChangeArrowheads="1"/>
          </p:cNvSpPr>
          <p:nvPr/>
        </p:nvSpPr>
        <p:spPr bwMode="auto">
          <a:xfrm>
            <a:off x="107504" y="1052736"/>
            <a:ext cx="8886825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ko-KR" altLang="en-US" sz="1800" dirty="0">
                <a:ea typeface="굴림" pitchFamily="50" charset="-127"/>
              </a:rPr>
              <a:t>이 기종 시스템간 연계를 위해서는 시스템간 공통으로 사용 할 수 있는 표준 프로토콜이 필요</a:t>
            </a:r>
            <a:endParaRPr lang="en-US" altLang="ko-KR" sz="1800" dirty="0">
              <a:ea typeface="굴림" pitchFamily="50" charset="-127"/>
            </a:endParaRPr>
          </a:p>
          <a:p>
            <a:pPr>
              <a:lnSpc>
                <a:spcPct val="80000"/>
              </a:lnSpc>
            </a:pPr>
            <a:r>
              <a:rPr lang="ko-KR" altLang="en-US" sz="1800" dirty="0">
                <a:ea typeface="굴림" pitchFamily="50" charset="-127"/>
              </a:rPr>
              <a:t>이러한 역할은 각 시스템 별 </a:t>
            </a:r>
            <a:r>
              <a:rPr lang="en-US" altLang="ko-KR" sz="1800" dirty="0">
                <a:ea typeface="굴림" pitchFamily="50" charset="-127"/>
              </a:rPr>
              <a:t>API</a:t>
            </a:r>
            <a:r>
              <a:rPr lang="ko-KR" altLang="en-US" sz="1800" dirty="0">
                <a:ea typeface="굴림" pitchFamily="50" charset="-127"/>
              </a:rPr>
              <a:t>를 제공하는 </a:t>
            </a:r>
            <a:r>
              <a:rPr lang="en-US" altLang="ko-KR" sz="1800" dirty="0">
                <a:ea typeface="굴림" pitchFamily="50" charset="-127"/>
              </a:rPr>
              <a:t>MOM</a:t>
            </a:r>
            <a:r>
              <a:rPr lang="ko-KR" altLang="en-US" sz="1800" dirty="0">
                <a:ea typeface="굴림" pitchFamily="50" charset="-127"/>
              </a:rPr>
              <a:t>에 의해 처리 가능</a:t>
            </a:r>
          </a:p>
          <a:p>
            <a:pPr>
              <a:lnSpc>
                <a:spcPct val="80000"/>
              </a:lnSpc>
            </a:pPr>
            <a:r>
              <a:rPr lang="ko-KR" altLang="en-US" sz="1800" dirty="0">
                <a:ea typeface="굴림" pitchFamily="50" charset="-127"/>
              </a:rPr>
              <a:t>각 </a:t>
            </a:r>
            <a:r>
              <a:rPr lang="en-US" altLang="ko-KR" sz="1800" dirty="0">
                <a:ea typeface="굴림" pitchFamily="50" charset="-127"/>
              </a:rPr>
              <a:t>EAI</a:t>
            </a:r>
            <a:r>
              <a:rPr lang="ko-KR" altLang="en-US" sz="1800" dirty="0">
                <a:ea typeface="굴림" pitchFamily="50" charset="-127"/>
              </a:rPr>
              <a:t>벤더는 벤더사의 </a:t>
            </a:r>
            <a:r>
              <a:rPr lang="en-US" altLang="ko-KR" sz="1800" dirty="0">
                <a:ea typeface="굴림" pitchFamily="50" charset="-127"/>
              </a:rPr>
              <a:t>MOM</a:t>
            </a:r>
            <a:r>
              <a:rPr lang="ko-KR" altLang="en-US" sz="1800" dirty="0">
                <a:ea typeface="굴림" pitchFamily="50" charset="-127"/>
              </a:rPr>
              <a:t>과 쉽게 연동 할 수 있도록 다양한 어플리케이션별 </a:t>
            </a:r>
            <a:r>
              <a:rPr lang="ko-KR" altLang="en-US" sz="1800" dirty="0" err="1">
                <a:ea typeface="굴림" pitchFamily="50" charset="-127"/>
              </a:rPr>
              <a:t>어뎁터를</a:t>
            </a:r>
            <a:r>
              <a:rPr lang="ko-KR" altLang="en-US" sz="1800" dirty="0">
                <a:ea typeface="굴림" pitchFamily="50" charset="-127"/>
              </a:rPr>
              <a:t> 제공 해야 함</a:t>
            </a:r>
            <a:endParaRPr lang="en-US" altLang="ko-KR" sz="1800" dirty="0">
              <a:ea typeface="굴림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827584" y="2636912"/>
            <a:ext cx="6781800" cy="2892425"/>
            <a:chOff x="1187450" y="3228975"/>
            <a:chExt cx="6781800" cy="2892425"/>
          </a:xfrm>
        </p:grpSpPr>
        <p:sp>
          <p:nvSpPr>
            <p:cNvPr id="9" name="AutoShape 4"/>
            <p:cNvSpPr>
              <a:spLocks noChangeArrowheads="1"/>
            </p:cNvSpPr>
            <p:nvPr/>
          </p:nvSpPr>
          <p:spPr bwMode="auto">
            <a:xfrm>
              <a:off x="3649663" y="4010025"/>
              <a:ext cx="1817687" cy="1644650"/>
            </a:xfrm>
            <a:prstGeom prst="flowChartProcess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en-US" altLang="ko-KR" sz="1400">
                  <a:latin typeface="HY그래픽M" pitchFamily="18" charset="-127"/>
                  <a:ea typeface="HY그래픽M" pitchFamily="18" charset="-127"/>
                </a:rPr>
                <a:t>MOM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endParaRPr lang="ko-KR" altLang="en-US" sz="1400">
                <a:latin typeface="HY그래픽M" pitchFamily="18" charset="-127"/>
                <a:ea typeface="HY그래픽M" pitchFamily="18" charset="-127"/>
              </a:endParaRPr>
            </a:p>
          </p:txBody>
        </p:sp>
        <p:pic>
          <p:nvPicPr>
            <p:cNvPr id="10" name="Picture 5" descr="j0283272"/>
            <p:cNvPicPr>
              <a:picLocks noChangeAspect="1" noChangeArrowheads="1" noCrop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038600" y="4314825"/>
              <a:ext cx="1036638" cy="863600"/>
            </a:xfrm>
            <a:prstGeom prst="rect">
              <a:avLst/>
            </a:prstGeom>
            <a:noFill/>
          </p:spPr>
        </p:pic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>
              <a:off x="6821488" y="4005263"/>
              <a:ext cx="477837" cy="1649412"/>
            </a:xfrm>
            <a:prstGeom prst="flowChartProces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solidFill>
                    <a:schemeClr val="bg1"/>
                  </a:solidFill>
                  <a:latin typeface="HY그래픽M" pitchFamily="18" charset="-127"/>
                  <a:ea typeface="HY그래픽M" pitchFamily="18" charset="-127"/>
                </a:rPr>
                <a:t>메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solidFill>
                    <a:schemeClr val="bg1"/>
                  </a:solidFill>
                  <a:latin typeface="HY그래픽M" pitchFamily="18" charset="-127"/>
                  <a:ea typeface="HY그래픽M" pitchFamily="18" charset="-127"/>
                </a:rPr>
                <a:t>시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solidFill>
                    <a:schemeClr val="bg1"/>
                  </a:solidFill>
                  <a:latin typeface="HY그래픽M" pitchFamily="18" charset="-127"/>
                  <a:ea typeface="HY그래픽M" pitchFamily="18" charset="-127"/>
                </a:rPr>
                <a:t>징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en-US" altLang="ko-KR" sz="1200">
                  <a:solidFill>
                    <a:schemeClr val="bg1"/>
                  </a:solidFill>
                  <a:latin typeface="HY그래픽M" pitchFamily="18" charset="-127"/>
                  <a:ea typeface="HY그래픽M" pitchFamily="18" charset="-127"/>
                </a:rPr>
                <a:t>API</a:t>
              </a:r>
            </a:p>
          </p:txBody>
        </p:sp>
        <p:sp>
          <p:nvSpPr>
            <p:cNvPr id="12" name="AutoShape 7"/>
            <p:cNvSpPr>
              <a:spLocks noChangeArrowheads="1"/>
            </p:cNvSpPr>
            <p:nvPr/>
          </p:nvSpPr>
          <p:spPr bwMode="auto">
            <a:xfrm>
              <a:off x="7299325" y="4005263"/>
              <a:ext cx="669925" cy="1649412"/>
            </a:xfrm>
            <a:prstGeom prst="flowChartProcess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en-US" altLang="ko-KR" sz="1200">
                  <a:latin typeface="HY그래픽M" pitchFamily="18" charset="-127"/>
                  <a:ea typeface="HY그래픽M" pitchFamily="18" charset="-127"/>
                </a:rPr>
                <a:t>Java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어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플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리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케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이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션</a:t>
              </a:r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auto">
            <a:xfrm>
              <a:off x="6151563" y="4005263"/>
              <a:ext cx="669925" cy="1644650"/>
            </a:xfrm>
            <a:prstGeom prst="flowChartProcess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메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시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지</a:t>
              </a:r>
            </a:p>
          </p:txBody>
        </p:sp>
        <p:sp>
          <p:nvSpPr>
            <p:cNvPr id="14" name="AutoShape 9"/>
            <p:cNvSpPr>
              <a:spLocks noChangeArrowheads="1"/>
            </p:cNvSpPr>
            <p:nvPr/>
          </p:nvSpPr>
          <p:spPr bwMode="auto">
            <a:xfrm>
              <a:off x="1857375" y="4005263"/>
              <a:ext cx="477838" cy="1649412"/>
            </a:xfrm>
            <a:prstGeom prst="flowChartProces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solidFill>
                    <a:schemeClr val="bg1"/>
                  </a:solidFill>
                  <a:latin typeface="HY그래픽M" pitchFamily="18" charset="-127"/>
                  <a:ea typeface="HY그래픽M" pitchFamily="18" charset="-127"/>
                </a:rPr>
                <a:t>메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solidFill>
                    <a:schemeClr val="bg1"/>
                  </a:solidFill>
                  <a:latin typeface="HY그래픽M" pitchFamily="18" charset="-127"/>
                  <a:ea typeface="HY그래픽M" pitchFamily="18" charset="-127"/>
                </a:rPr>
                <a:t>시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solidFill>
                    <a:schemeClr val="bg1"/>
                  </a:solidFill>
                  <a:latin typeface="HY그래픽M" pitchFamily="18" charset="-127"/>
                  <a:ea typeface="HY그래픽M" pitchFamily="18" charset="-127"/>
                </a:rPr>
                <a:t>징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en-US" altLang="ko-KR" sz="1200">
                  <a:solidFill>
                    <a:schemeClr val="bg1"/>
                  </a:solidFill>
                  <a:latin typeface="HY그래픽M" pitchFamily="18" charset="-127"/>
                  <a:ea typeface="HY그래픽M" pitchFamily="18" charset="-127"/>
                </a:rPr>
                <a:t>API</a:t>
              </a:r>
            </a:p>
          </p:txBody>
        </p:sp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>
              <a:off x="2335213" y="4005263"/>
              <a:ext cx="669925" cy="1649412"/>
            </a:xfrm>
            <a:prstGeom prst="flowChartProcess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메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시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지</a:t>
              </a:r>
            </a:p>
          </p:txBody>
        </p:sp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>
              <a:off x="1187450" y="4005263"/>
              <a:ext cx="669925" cy="1644650"/>
            </a:xfrm>
            <a:prstGeom prst="flowChartProcess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en-US" altLang="ko-KR" sz="1200">
                  <a:latin typeface="HY그래픽M" pitchFamily="18" charset="-127"/>
                  <a:ea typeface="HY그래픽M" pitchFamily="18" charset="-127"/>
                </a:rPr>
                <a:t>C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어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플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리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케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이</a:t>
              </a:r>
            </a:p>
            <a:p>
              <a:pPr algn="ctr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</a:pPr>
              <a:r>
                <a:rPr lang="ko-KR" altLang="en-US" sz="1200">
                  <a:latin typeface="HY그래픽M" pitchFamily="18" charset="-127"/>
                  <a:ea typeface="HY그래픽M" pitchFamily="18" charset="-127"/>
                </a:rPr>
                <a:t>션</a:t>
              </a:r>
            </a:p>
          </p:txBody>
        </p:sp>
        <p:sp>
          <p:nvSpPr>
            <p:cNvPr id="17" name="AutoShape 12"/>
            <p:cNvSpPr>
              <a:spLocks noChangeArrowheads="1"/>
            </p:cNvSpPr>
            <p:nvPr/>
          </p:nvSpPr>
          <p:spPr bwMode="auto">
            <a:xfrm>
              <a:off x="3006725" y="4508500"/>
              <a:ext cx="647700" cy="144463"/>
            </a:xfrm>
            <a:prstGeom prst="rightArrow">
              <a:avLst>
                <a:gd name="adj1" fmla="val 50000"/>
                <a:gd name="adj2" fmla="val 112088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8" name="AutoShape 13"/>
            <p:cNvSpPr>
              <a:spLocks noChangeArrowheads="1"/>
            </p:cNvSpPr>
            <p:nvPr/>
          </p:nvSpPr>
          <p:spPr bwMode="auto">
            <a:xfrm>
              <a:off x="5483225" y="4446588"/>
              <a:ext cx="647700" cy="144462"/>
            </a:xfrm>
            <a:prstGeom prst="rightArrow">
              <a:avLst>
                <a:gd name="adj1" fmla="val 50000"/>
                <a:gd name="adj2" fmla="val 112088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endParaRPr lang="ko-KR" altLang="en-US" sz="2000">
                <a:ea typeface="굴림" pitchFamily="50" charset="-127"/>
                <a:sym typeface="Wingdings" pitchFamily="2" charset="2"/>
              </a:endParaRPr>
            </a:p>
          </p:txBody>
        </p:sp>
        <p:sp>
          <p:nvSpPr>
            <p:cNvPr id="19" name="AutoShape 14"/>
            <p:cNvSpPr>
              <a:spLocks noChangeArrowheads="1"/>
            </p:cNvSpPr>
            <p:nvPr/>
          </p:nvSpPr>
          <p:spPr bwMode="auto">
            <a:xfrm rot="10800000">
              <a:off x="2987675" y="4940300"/>
              <a:ext cx="647700" cy="144463"/>
            </a:xfrm>
            <a:prstGeom prst="rightArrow">
              <a:avLst>
                <a:gd name="adj1" fmla="val 50000"/>
                <a:gd name="adj2" fmla="val 112088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endParaRPr lang="ko-KR" altLang="en-US" sz="2000">
                <a:ea typeface="굴림" pitchFamily="50" charset="-127"/>
                <a:sym typeface="Wingdings" pitchFamily="2" charset="2"/>
              </a:endParaRPr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 rot="10800000">
              <a:off x="5464175" y="4878388"/>
              <a:ext cx="647700" cy="144462"/>
            </a:xfrm>
            <a:prstGeom prst="rightArrow">
              <a:avLst>
                <a:gd name="adj1" fmla="val 50000"/>
                <a:gd name="adj2" fmla="val 112088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endParaRPr lang="ko-KR" altLang="en-US" sz="2000">
                <a:ea typeface="굴림" pitchFamily="50" charset="-127"/>
                <a:sym typeface="Wingdings" pitchFamily="2" charset="2"/>
              </a:endParaRP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1835150" y="3860800"/>
              <a:ext cx="1223963" cy="18732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endParaRPr lang="ko-KR" altLang="en-US" sz="2000" b="0">
                <a:ea typeface="굴림" pitchFamily="50" charset="-127"/>
                <a:sym typeface="Wingdings" pitchFamily="2" charset="2"/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6084888" y="3870325"/>
              <a:ext cx="1223962" cy="18732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endParaRPr lang="ko-KR" altLang="en-US" sz="2000">
                <a:ea typeface="굴림" pitchFamily="50" charset="-127"/>
                <a:sym typeface="Wingdings" pitchFamily="2" charset="2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1698625" y="5876925"/>
              <a:ext cx="1577975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ko-KR" sz="1000">
                  <a:solidFill>
                    <a:srgbClr val="FF0000"/>
                  </a:solidFill>
                  <a:ea typeface="굴림" pitchFamily="50" charset="-127"/>
                  <a:sym typeface="Wingdings" pitchFamily="2" charset="2"/>
                </a:rPr>
                <a:t>C </a:t>
              </a:r>
              <a:r>
                <a:rPr lang="ko-KR" altLang="en-US" sz="1000">
                  <a:solidFill>
                    <a:srgbClr val="FF0000"/>
                  </a:solidFill>
                  <a:ea typeface="굴림" pitchFamily="50" charset="-127"/>
                  <a:sym typeface="Wingdings" pitchFamily="2" charset="2"/>
                </a:rPr>
                <a:t>어플리케이션 </a:t>
              </a:r>
              <a:r>
                <a:rPr lang="en-US" altLang="ko-KR" sz="1000">
                  <a:solidFill>
                    <a:srgbClr val="FF0000"/>
                  </a:solidFill>
                  <a:ea typeface="굴림" pitchFamily="50" charset="-127"/>
                  <a:sym typeface="Wingdings" pitchFamily="2" charset="2"/>
                </a:rPr>
                <a:t>Adapter</a:t>
              </a:r>
            </a:p>
          </p:txBody>
        </p:sp>
        <p:sp>
          <p:nvSpPr>
            <p:cNvPr id="24" name="Text Box 19"/>
            <p:cNvSpPr txBox="1">
              <a:spLocks noChangeArrowheads="1"/>
            </p:cNvSpPr>
            <p:nvPr/>
          </p:nvSpPr>
          <p:spPr bwMode="auto">
            <a:xfrm>
              <a:off x="5795963" y="5876925"/>
              <a:ext cx="17653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ko-KR" sz="1000">
                  <a:solidFill>
                    <a:srgbClr val="FF0000"/>
                  </a:solidFill>
                  <a:ea typeface="굴림" pitchFamily="50" charset="-127"/>
                  <a:sym typeface="Wingdings" pitchFamily="2" charset="2"/>
                </a:rPr>
                <a:t>Java</a:t>
              </a:r>
              <a:r>
                <a:rPr lang="en-US" altLang="ko-KR" sz="1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  <a:sym typeface="Wingdings" pitchFamily="2" charset="2"/>
                </a:rPr>
                <a:t> </a:t>
              </a:r>
              <a:r>
                <a:rPr lang="ko-KR" altLang="en-US" sz="1000">
                  <a:solidFill>
                    <a:srgbClr val="FF0000"/>
                  </a:solidFill>
                  <a:ea typeface="굴림" pitchFamily="50" charset="-127"/>
                  <a:sym typeface="Wingdings" pitchFamily="2" charset="2"/>
                </a:rPr>
                <a:t>어플리케이션</a:t>
              </a:r>
              <a:r>
                <a:rPr lang="ko-KR" altLang="en-US" sz="1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  <a:sym typeface="Wingdings" pitchFamily="2" charset="2"/>
                </a:rPr>
                <a:t> </a:t>
              </a:r>
              <a:r>
                <a:rPr lang="en-US" altLang="ko-KR" sz="1000">
                  <a:solidFill>
                    <a:srgbClr val="FF0000"/>
                  </a:solidFill>
                  <a:ea typeface="굴림" pitchFamily="50" charset="-127"/>
                  <a:sym typeface="Wingdings" pitchFamily="2" charset="2"/>
                </a:rPr>
                <a:t>Adapter</a:t>
              </a: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562100" y="3381375"/>
              <a:ext cx="6105525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533525" y="3343275"/>
              <a:ext cx="0" cy="62865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7635875" y="3349625"/>
              <a:ext cx="0" cy="62865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8" name="AutoShape 24"/>
            <p:cNvSpPr>
              <a:spLocks noChangeArrowheads="1"/>
            </p:cNvSpPr>
            <p:nvPr/>
          </p:nvSpPr>
          <p:spPr bwMode="auto">
            <a:xfrm rot="2700000">
              <a:off x="4371975" y="3228975"/>
              <a:ext cx="304800" cy="304800"/>
            </a:xfrm>
            <a:prstGeom prst="plus">
              <a:avLst>
                <a:gd name="adj" fmla="val 40625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3200" b="1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Rendezvous 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필요성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1844824"/>
            <a:ext cx="6143625" cy="27146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67544" y="4653136"/>
            <a:ext cx="7834313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9pPr>
          </a:lstStyle>
          <a:p>
            <a:pPr marL="627063" lvl="1" indent="-169863" algn="l" eaLnBrk="1" hangingPunct="1">
              <a:spcBef>
                <a:spcPct val="35000"/>
              </a:spcBef>
              <a:buClr>
                <a:srgbClr val="CDB655"/>
              </a:buClr>
              <a:buFont typeface="Wingdings" pitchFamily="2" charset="2"/>
              <a:buChar char="§"/>
            </a:pPr>
            <a:r>
              <a:rPr lang="ko-KR" altLang="en-US" sz="1600" b="0" dirty="0">
                <a:solidFill>
                  <a:schemeClr val="tx1"/>
                </a:solidFill>
                <a:ea typeface="굴림" pitchFamily="50" charset="-127"/>
              </a:rPr>
              <a:t>시스템간 메시지를 교환 </a:t>
            </a:r>
            <a:r>
              <a:rPr lang="en-US" altLang="ko-KR" sz="1600" b="0" dirty="0">
                <a:solidFill>
                  <a:schemeClr val="tx1"/>
                </a:solidFill>
                <a:ea typeface="굴림" pitchFamily="50" charset="-127"/>
              </a:rPr>
              <a:t>( Messaging )</a:t>
            </a:r>
          </a:p>
          <a:p>
            <a:pPr marL="627063" lvl="1" indent="-169863" algn="l" eaLnBrk="1" hangingPunct="1">
              <a:spcBef>
                <a:spcPct val="35000"/>
              </a:spcBef>
              <a:buClr>
                <a:srgbClr val="CDB655"/>
              </a:buCl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tx1"/>
                </a:solidFill>
                <a:ea typeface="굴림" pitchFamily="50" charset="-127"/>
              </a:rPr>
              <a:t>Message Oriented Middleware (MOM) </a:t>
            </a:r>
            <a:r>
              <a:rPr lang="ko-KR" altLang="en-US" sz="1600" b="0" dirty="0">
                <a:solidFill>
                  <a:schemeClr val="tx1"/>
                </a:solidFill>
                <a:ea typeface="굴림" pitchFamily="50" charset="-127"/>
              </a:rPr>
              <a:t>의 필요성 대두</a:t>
            </a:r>
          </a:p>
          <a:p>
            <a:pPr marL="627063" lvl="1" indent="-169863" algn="l" eaLnBrk="1" hangingPunct="1">
              <a:spcBef>
                <a:spcPct val="35000"/>
              </a:spcBef>
              <a:buClr>
                <a:srgbClr val="CDB655"/>
              </a:buCl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tx1"/>
                </a:solidFill>
                <a:ea typeface="굴림" pitchFamily="50" charset="-127"/>
              </a:rPr>
              <a:t>RV</a:t>
            </a:r>
            <a:r>
              <a:rPr lang="ko-KR" altLang="en-US" sz="1600" b="0" dirty="0">
                <a:solidFill>
                  <a:schemeClr val="tx1"/>
                </a:solidFill>
                <a:ea typeface="굴림" pitchFamily="50" charset="-127"/>
              </a:rPr>
              <a:t>는 분산환경하의 </a:t>
            </a:r>
            <a:r>
              <a:rPr lang="en-US" altLang="ko-KR" sz="1600" b="0" dirty="0">
                <a:solidFill>
                  <a:schemeClr val="tx1"/>
                </a:solidFill>
                <a:ea typeface="굴림" pitchFamily="50" charset="-127"/>
              </a:rPr>
              <a:t>Application </a:t>
            </a:r>
            <a:r>
              <a:rPr lang="ko-KR" altLang="en-US" sz="1600" b="0" dirty="0">
                <a:solidFill>
                  <a:schemeClr val="tx1"/>
                </a:solidFill>
                <a:ea typeface="굴림" pitchFamily="50" charset="-127"/>
              </a:rPr>
              <a:t>이 네트워크를 통하여 쉽게 정보를 공유하고 교환 할 수 있는 </a:t>
            </a:r>
            <a:r>
              <a:rPr lang="en-US" altLang="ko-KR" sz="1600" b="0" dirty="0">
                <a:solidFill>
                  <a:schemeClr val="tx1"/>
                </a:solidFill>
                <a:ea typeface="굴림" pitchFamily="50" charset="-127"/>
              </a:rPr>
              <a:t>Infra </a:t>
            </a:r>
            <a:r>
              <a:rPr lang="ko-KR" altLang="en-US" sz="1600" b="0" dirty="0">
                <a:solidFill>
                  <a:schemeClr val="tx1"/>
                </a:solidFill>
                <a:ea typeface="굴림" pitchFamily="50" charset="-127"/>
              </a:rPr>
              <a:t>를 제공한다</a:t>
            </a:r>
            <a:r>
              <a:rPr lang="en-US" altLang="ko-KR" sz="1600" b="0" dirty="0">
                <a:solidFill>
                  <a:schemeClr val="tx1"/>
                </a:solidFill>
                <a:ea typeface="굴림" pitchFamily="50" charset="-127"/>
              </a:rPr>
              <a:t>.</a:t>
            </a: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5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7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ko-KR" altLang="en-US" sz="1800" b="1" dirty="0">
                <a:ea typeface="굴림" pitchFamily="50" charset="-127"/>
              </a:rPr>
              <a:t>분산 시스템 간의 통신 필요</a:t>
            </a:r>
            <a:r>
              <a:rPr lang="en-US" altLang="ko-KR" sz="1800" b="1" dirty="0">
                <a:ea typeface="굴림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010432" y="6492899"/>
            <a:ext cx="2133600" cy="365125"/>
          </a:xfrm>
        </p:spPr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9</a:t>
            </a:fld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971600" y="2204864"/>
            <a:ext cx="7000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Rendezvous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31640" y="548680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Rendezvous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란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?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395536" y="1628800"/>
            <a:ext cx="82153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ko-KR" dirty="0"/>
              <a:t> - TIBCO BASE </a:t>
            </a:r>
            <a:r>
              <a:rPr lang="ko-KR" altLang="en-US" dirty="0"/>
              <a:t>제품</a:t>
            </a:r>
            <a:endParaRPr lang="en-US" altLang="ko-KR" dirty="0"/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/>
              <a:t> - TIB(</a:t>
            </a:r>
            <a:r>
              <a:rPr lang="ko-KR" altLang="en-US" dirty="0"/>
              <a:t>정보 버스</a:t>
            </a:r>
            <a:r>
              <a:rPr lang="en-US" altLang="ko-KR" dirty="0"/>
              <a:t>)</a:t>
            </a:r>
            <a:r>
              <a:rPr lang="ko-KR" altLang="en-US" dirty="0"/>
              <a:t>를 이용하여 </a:t>
            </a:r>
            <a:r>
              <a:rPr lang="en-US" altLang="ko-KR" dirty="0"/>
              <a:t>UDP </a:t>
            </a:r>
            <a:r>
              <a:rPr lang="ko-KR" altLang="en-US" dirty="0"/>
              <a:t>통신 기반으로 </a:t>
            </a:r>
            <a:r>
              <a:rPr lang="en-US" altLang="ko-KR" dirty="0"/>
              <a:t>TRDP </a:t>
            </a:r>
            <a:r>
              <a:rPr lang="ko-KR" altLang="en-US" dirty="0"/>
              <a:t>라는 자체 프로토콜을</a:t>
            </a:r>
            <a:endParaRPr lang="en-US" altLang="ko-KR" dirty="0"/>
          </a:p>
          <a:p>
            <a:pPr marL="342900" indent="-342900"/>
            <a:r>
              <a:rPr lang="en-US" altLang="ko-KR" dirty="0"/>
              <a:t>  </a:t>
            </a:r>
            <a:r>
              <a:rPr lang="ko-KR" altLang="en-US" dirty="0"/>
              <a:t> 구현 함</a:t>
            </a:r>
            <a:endParaRPr lang="en-US" altLang="ko-KR" dirty="0"/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/>
              <a:t> - </a:t>
            </a:r>
            <a:r>
              <a:rPr lang="ko-KR" altLang="en-US" dirty="0"/>
              <a:t>별도의 통신을 위한 정보</a:t>
            </a:r>
            <a:r>
              <a:rPr lang="en-US" altLang="ko-KR" dirty="0"/>
              <a:t>(IP, Port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없이 </a:t>
            </a:r>
            <a:r>
              <a:rPr lang="en-US" altLang="ko-KR" dirty="0"/>
              <a:t>Subject</a:t>
            </a:r>
            <a:r>
              <a:rPr lang="ko-KR" altLang="en-US" dirty="0"/>
              <a:t>값</a:t>
            </a:r>
            <a:r>
              <a:rPr lang="en-US" altLang="ko-KR" dirty="0"/>
              <a:t>(</a:t>
            </a:r>
            <a:r>
              <a:rPr lang="ko-KR" altLang="en-US" dirty="0"/>
              <a:t>논리주소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/>
            <a:r>
              <a:rPr lang="en-US" altLang="ko-KR" dirty="0"/>
              <a:t>   </a:t>
            </a:r>
            <a:r>
              <a:rPr lang="ko-KR" altLang="en-US" dirty="0"/>
              <a:t>만으로 통신 가능</a:t>
            </a:r>
            <a:endParaRPr lang="en-US" altLang="ko-KR" dirty="0"/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/>
              <a:t> - MOM </a:t>
            </a:r>
            <a:r>
              <a:rPr lang="ko-KR" altLang="en-US" dirty="0" err="1"/>
              <a:t>미들웨어로</a:t>
            </a:r>
            <a:r>
              <a:rPr lang="ko-KR" altLang="en-US" dirty="0"/>
              <a:t> 버스 방식의 </a:t>
            </a:r>
            <a:r>
              <a:rPr lang="ko-KR" altLang="en-US" dirty="0" err="1"/>
              <a:t>아키텍쳐</a:t>
            </a:r>
            <a:r>
              <a:rPr lang="ko-KR" altLang="en-US" dirty="0"/>
              <a:t> 사용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57158" y="1059404"/>
            <a:ext cx="335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Rectangle 3"/>
          <p:cNvSpPr>
            <a:spLocks noGrp="1" noChangeArrowheads="1"/>
          </p:cNvSpPr>
          <p:nvPr/>
        </p:nvSpPr>
        <p:spPr bwMode="auto">
          <a:xfrm>
            <a:off x="257175" y="1052736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2400" b="1" dirty="0">
                <a:ea typeface="굴림" pitchFamily="50" charset="-127"/>
              </a:rPr>
              <a:t>Rendezvous</a:t>
            </a:r>
            <a:r>
              <a:rPr lang="en-US" altLang="ko-KR" sz="1800" dirty="0">
                <a:ea typeface="굴림" pitchFamily="50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31640" y="548680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Rendezvous 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특징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395536" y="1628800"/>
            <a:ext cx="82153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ko-KR" dirty="0"/>
              <a:t> - DATA </a:t>
            </a:r>
            <a:r>
              <a:rPr lang="ko-KR" altLang="en-US" dirty="0"/>
              <a:t>송수신시 정보를 보장함</a:t>
            </a:r>
            <a:r>
              <a:rPr lang="en-US" altLang="ko-KR" dirty="0"/>
              <a:t>(</a:t>
            </a:r>
            <a:r>
              <a:rPr lang="ko-KR" altLang="en-US" dirty="0"/>
              <a:t>안정성</a:t>
            </a:r>
            <a:r>
              <a:rPr lang="en-US" altLang="ko-KR" dirty="0"/>
              <a:t>)</a:t>
            </a:r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/>
              <a:t> - Local Client</a:t>
            </a:r>
            <a:r>
              <a:rPr lang="ko-KR" altLang="en-US" dirty="0"/>
              <a:t>나 </a:t>
            </a:r>
            <a:r>
              <a:rPr lang="en-US" altLang="ko-KR" dirty="0"/>
              <a:t>Network Address </a:t>
            </a:r>
            <a:r>
              <a:rPr lang="ko-KR" altLang="en-US" dirty="0"/>
              <a:t>가 필요하지 않음 </a:t>
            </a:r>
            <a:r>
              <a:rPr lang="en-US" altLang="ko-KR" dirty="0"/>
              <a:t>(Subject </a:t>
            </a:r>
            <a:r>
              <a:rPr lang="ko-KR" altLang="en-US" dirty="0"/>
              <a:t>기반</a:t>
            </a:r>
            <a:r>
              <a:rPr lang="en-US" altLang="ko-KR" dirty="0"/>
              <a:t>)</a:t>
            </a:r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/>
              <a:t> - </a:t>
            </a:r>
            <a:r>
              <a:rPr lang="ko-KR" altLang="en-US" dirty="0"/>
              <a:t>다양한 통신 방식 지원 </a:t>
            </a:r>
            <a:r>
              <a:rPr lang="en-US" altLang="ko-KR" dirty="0"/>
              <a:t>(1:1, 1:n, n:n)</a:t>
            </a:r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/>
              <a:t> - </a:t>
            </a:r>
            <a:r>
              <a:rPr lang="ko-KR" altLang="en-US" dirty="0"/>
              <a:t>부하분산 메시지 전달 및 </a:t>
            </a:r>
            <a:r>
              <a:rPr lang="en-US" altLang="ko-KR" dirty="0"/>
              <a:t>Fault Tolerance </a:t>
            </a:r>
            <a:r>
              <a:rPr lang="ko-KR" altLang="en-US" dirty="0"/>
              <a:t>가능</a:t>
            </a:r>
            <a:r>
              <a:rPr lang="en-US" altLang="ko-KR" dirty="0"/>
              <a:t> </a:t>
            </a:r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/>
              <a:t> - </a:t>
            </a:r>
            <a:r>
              <a:rPr lang="ko-KR" altLang="en-US" dirty="0"/>
              <a:t>다양한 언어 지원 </a:t>
            </a:r>
            <a:r>
              <a:rPr lang="en-US" altLang="ko-KR" dirty="0"/>
              <a:t>(C, JAVA, </a:t>
            </a:r>
            <a:r>
              <a:rPr lang="en-US" altLang="ko-KR" dirty="0" err="1"/>
              <a:t>DotNet</a:t>
            </a:r>
            <a:r>
              <a:rPr lang="en-US" altLang="ko-KR" dirty="0"/>
              <a:t>, Perl, IPM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57158" y="1059404"/>
            <a:ext cx="335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Rectangle 3"/>
          <p:cNvSpPr>
            <a:spLocks noGrp="1" noChangeArrowheads="1"/>
          </p:cNvSpPr>
          <p:nvPr/>
        </p:nvSpPr>
        <p:spPr bwMode="auto">
          <a:xfrm>
            <a:off x="257175" y="1052736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2400" b="1" dirty="0">
                <a:ea typeface="굴림" pitchFamily="50" charset="-127"/>
              </a:rPr>
              <a:t>Rendezvous </a:t>
            </a:r>
            <a:r>
              <a:rPr lang="ko-KR" altLang="en-US" sz="2400" b="1" dirty="0">
                <a:ea typeface="굴림" pitchFamily="50" charset="-127"/>
              </a:rPr>
              <a:t>특징</a:t>
            </a:r>
            <a:r>
              <a:rPr lang="en-US" altLang="ko-KR" sz="1800" dirty="0">
                <a:ea typeface="굴림" pitchFamily="50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RV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구성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b="1" dirty="0">
                <a:ea typeface="굴림" pitchFamily="50" charset="-127"/>
              </a:rPr>
              <a:t>RV </a:t>
            </a:r>
            <a:r>
              <a:rPr lang="ko-KR" altLang="en-US" b="1" dirty="0">
                <a:ea typeface="굴림" pitchFamily="50" charset="-127"/>
              </a:rPr>
              <a:t>구성</a:t>
            </a:r>
            <a:endParaRPr lang="en-US" altLang="ko-KR" b="1" dirty="0">
              <a:ea typeface="굴림" pitchFamily="50" charset="-127"/>
            </a:endParaRPr>
          </a:p>
        </p:txBody>
      </p:sp>
      <p:pic>
        <p:nvPicPr>
          <p:cNvPr id="8" name="Picture 4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835696" y="1196752"/>
            <a:ext cx="5040560" cy="338437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51520" y="4653136"/>
            <a:ext cx="821537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RV </a:t>
            </a:r>
            <a:r>
              <a:rPr lang="ko-KR" altLang="en-US" dirty="0" err="1"/>
              <a:t>데몬과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로 구성됨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TRDP </a:t>
            </a:r>
            <a:r>
              <a:rPr lang="ko-KR" altLang="en-US" dirty="0"/>
              <a:t>프로토콜을 사용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각 </a:t>
            </a:r>
            <a:r>
              <a:rPr lang="ko-KR" altLang="en-US" dirty="0" err="1"/>
              <a:t>머신마다</a:t>
            </a:r>
            <a:r>
              <a:rPr lang="ko-KR" altLang="en-US" dirty="0"/>
              <a:t> </a:t>
            </a:r>
            <a:r>
              <a:rPr lang="en-US" altLang="ko-KR" dirty="0"/>
              <a:t>RV </a:t>
            </a:r>
            <a:r>
              <a:rPr lang="ko-KR" altLang="en-US" dirty="0" err="1"/>
              <a:t>데몬이</a:t>
            </a:r>
            <a:r>
              <a:rPr lang="ko-KR" altLang="en-US" dirty="0"/>
              <a:t> 필요함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Autofit/>
          </a:bodyPr>
          <a:lstStyle/>
          <a:p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Rendezvous Daemon (</a:t>
            </a: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rvd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b="1" dirty="0">
                <a:ea typeface="굴림" pitchFamily="50" charset="-127"/>
              </a:rPr>
              <a:t>RVD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536" y="1556792"/>
            <a:ext cx="8215370" cy="21698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lvl="1" indent="-342900">
              <a:lnSpc>
                <a:spcPct val="150000"/>
              </a:lnSpc>
            </a:pPr>
            <a:r>
              <a:rPr lang="en-US" altLang="ko-KR" dirty="0"/>
              <a:t> - RV application</a:t>
            </a:r>
            <a:r>
              <a:rPr lang="ko-KR" altLang="en-US" dirty="0"/>
              <a:t>간의 메시지의 전송을 담당</a:t>
            </a:r>
            <a:r>
              <a:rPr lang="en-US" altLang="ko-KR" dirty="0"/>
              <a:t>(Reliable)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altLang="ko-KR" dirty="0">
                <a:ea typeface="맑은 고딕"/>
              </a:rPr>
              <a:t> - Subject Based Addressing </a:t>
            </a:r>
            <a:r>
              <a:rPr lang="ko-KR" altLang="en-US" dirty="0">
                <a:ea typeface="맑은 고딕"/>
              </a:rPr>
              <a:t>기능을 제공</a:t>
            </a:r>
            <a:endParaRPr lang="en-US" altLang="ko-KR" dirty="0">
              <a:ea typeface="맑은 고딕"/>
            </a:endParaRPr>
          </a:p>
          <a:p>
            <a:pPr marL="342900" lvl="1" indent="-342900">
              <a:lnSpc>
                <a:spcPct val="150000"/>
              </a:lnSpc>
            </a:pPr>
            <a:r>
              <a:rPr lang="en-US" altLang="ko-KR" dirty="0"/>
              <a:t> - Multi daemon</a:t>
            </a:r>
            <a:r>
              <a:rPr lang="ko-KR" altLang="en-US" dirty="0"/>
              <a:t>을 이용하는 것은 </a:t>
            </a:r>
            <a:r>
              <a:rPr lang="en-US" altLang="ko-KR" dirty="0"/>
              <a:t>performance </a:t>
            </a:r>
            <a:r>
              <a:rPr lang="ko-KR" altLang="en-US" dirty="0"/>
              <a:t>아무런 영향을 주지 않음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원격으로 </a:t>
            </a:r>
            <a:r>
              <a:rPr lang="ko-KR" altLang="en-US" dirty="0" err="1"/>
              <a:t>데몬에</a:t>
            </a:r>
            <a:r>
              <a:rPr lang="ko-KR" altLang="en-US" dirty="0"/>
              <a:t> 접속할 수 있음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ko-KR" altLang="en-US" dirty="0"/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259632" y="3429000"/>
            <a:ext cx="6238875" cy="315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프로토콜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436510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b="1" dirty="0">
                <a:ea typeface="굴림" pitchFamily="50" charset="-127"/>
              </a:rPr>
              <a:t>PGM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4653136"/>
            <a:ext cx="85689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멀티캐스트만 지원</a:t>
            </a:r>
            <a:r>
              <a:rPr lang="en-US" altLang="ko-KR" dirty="0"/>
              <a:t>, RV</a:t>
            </a:r>
            <a:r>
              <a:rPr lang="ko-KR" altLang="en-US" dirty="0"/>
              <a:t>가 지원됨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RV </a:t>
            </a:r>
            <a:r>
              <a:rPr lang="ko-KR" altLang="en-US" dirty="0"/>
              <a:t>설치 시 </a:t>
            </a:r>
            <a:r>
              <a:rPr lang="en-US" altLang="ko-KR" dirty="0"/>
              <a:t>PGM </a:t>
            </a:r>
            <a:r>
              <a:rPr lang="ko-KR" altLang="en-US" dirty="0"/>
              <a:t>프로토콜과 </a:t>
            </a:r>
            <a:r>
              <a:rPr lang="en-US" altLang="ko-KR" dirty="0"/>
              <a:t>TRDP </a:t>
            </a:r>
            <a:r>
              <a:rPr lang="ko-KR" altLang="en-US" dirty="0"/>
              <a:t>프로토콜 중 하나를 선택하게 됨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기본적으로 </a:t>
            </a:r>
            <a:r>
              <a:rPr lang="en-US" altLang="ko-KR" dirty="0"/>
              <a:t>TRDP </a:t>
            </a:r>
            <a:r>
              <a:rPr lang="ko-KR" altLang="en-US" dirty="0"/>
              <a:t>경우 기본 </a:t>
            </a:r>
            <a:r>
              <a:rPr lang="en-US" altLang="ko-KR" dirty="0"/>
              <a:t>Port</a:t>
            </a:r>
            <a:r>
              <a:rPr lang="ko-KR" altLang="en-US" dirty="0"/>
              <a:t>가 </a:t>
            </a:r>
            <a:r>
              <a:rPr lang="en-US" altLang="ko-KR" dirty="0"/>
              <a:t>7500 </a:t>
            </a:r>
            <a:r>
              <a:rPr lang="ko-KR" altLang="en-US" dirty="0"/>
              <a:t>이며 </a:t>
            </a:r>
            <a:r>
              <a:rPr lang="en-US" altLang="ko-KR" dirty="0"/>
              <a:t>PGM </a:t>
            </a:r>
            <a:r>
              <a:rPr lang="ko-KR" altLang="en-US" dirty="0"/>
              <a:t>경우 기본 </a:t>
            </a:r>
            <a:r>
              <a:rPr lang="en-US" altLang="ko-KR" dirty="0"/>
              <a:t>Port</a:t>
            </a:r>
            <a:r>
              <a:rPr lang="ko-KR" altLang="en-US" dirty="0"/>
              <a:t>가 </a:t>
            </a:r>
            <a:r>
              <a:rPr lang="en-US" altLang="ko-KR" dirty="0"/>
              <a:t>7550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TRDP</a:t>
            </a:r>
            <a:r>
              <a:rPr lang="ko-KR" altLang="en-US" dirty="0"/>
              <a:t>와 동일 네트워크상에서 통신이 불가능하며 </a:t>
            </a:r>
            <a:r>
              <a:rPr lang="en-US" altLang="ko-KR" dirty="0"/>
              <a:t>RVRD</a:t>
            </a:r>
            <a:r>
              <a:rPr lang="ko-KR" altLang="en-US" dirty="0"/>
              <a:t>에 의해 통신할수 있음</a:t>
            </a:r>
          </a:p>
        </p:txBody>
      </p:sp>
      <p:sp>
        <p:nvSpPr>
          <p:cNvPr id="11" name="Rectangle 3"/>
          <p:cNvSpPr>
            <a:spLocks noGrp="1" noChangeArrowheads="1"/>
          </p:cNvSpPr>
          <p:nvPr/>
        </p:nvSpPr>
        <p:spPr bwMode="auto">
          <a:xfrm>
            <a:off x="257175" y="1052736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b="1" dirty="0">
                <a:ea typeface="굴림" pitchFamily="50" charset="-127"/>
              </a:rPr>
              <a:t>TCP/IP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536" y="1340768"/>
            <a:ext cx="821537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Point-to-Point (1:1 </a:t>
            </a:r>
            <a:r>
              <a:rPr lang="ko-KR" altLang="en-US" dirty="0"/>
              <a:t>접속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통신을 할 때마다 </a:t>
            </a:r>
            <a:r>
              <a:rPr lang="en-US" altLang="ko-KR" dirty="0"/>
              <a:t>connection</a:t>
            </a:r>
            <a:r>
              <a:rPr lang="ko-KR" altLang="en-US" dirty="0"/>
              <a:t>을 맺으며 통신중에 계속 유지함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접속된 </a:t>
            </a:r>
            <a:r>
              <a:rPr lang="ko-KR" altLang="en-US" dirty="0" err="1"/>
              <a:t>노드가</a:t>
            </a:r>
            <a:r>
              <a:rPr lang="ko-KR" altLang="en-US" dirty="0"/>
              <a:t> 많을수록 부하가 심하나 </a:t>
            </a:r>
            <a:r>
              <a:rPr lang="en-US" altLang="ko-KR" dirty="0"/>
              <a:t>Data </a:t>
            </a:r>
            <a:r>
              <a:rPr lang="ko-KR" altLang="en-US" dirty="0"/>
              <a:t>손실이 없이 안정적으로 전송</a:t>
            </a:r>
            <a:endParaRPr lang="en-US" altLang="ko-KR" dirty="0"/>
          </a:p>
        </p:txBody>
      </p:sp>
      <p:sp>
        <p:nvSpPr>
          <p:cNvPr id="13" name="Rectangle 3"/>
          <p:cNvSpPr>
            <a:spLocks noGrp="1" noChangeArrowheads="1"/>
          </p:cNvSpPr>
          <p:nvPr/>
        </p:nvSpPr>
        <p:spPr bwMode="auto">
          <a:xfrm>
            <a:off x="257175" y="2708920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b="1" dirty="0">
                <a:ea typeface="굴림" pitchFamily="50" charset="-127"/>
              </a:rPr>
              <a:t>UDP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536" y="2996952"/>
            <a:ext cx="821537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 err="1"/>
              <a:t>브로드캐스트</a:t>
            </a:r>
            <a:r>
              <a:rPr lang="en-US" altLang="ko-KR" dirty="0"/>
              <a:t>(1:n, n:n</a:t>
            </a:r>
            <a:r>
              <a:rPr lang="ko-KR" altLang="en-US" dirty="0"/>
              <a:t> 방식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접속된 </a:t>
            </a:r>
            <a:r>
              <a:rPr lang="ko-KR" altLang="en-US" dirty="0" err="1"/>
              <a:t>노드</a:t>
            </a:r>
            <a:r>
              <a:rPr lang="ko-KR" altLang="en-US" dirty="0"/>
              <a:t> 수에 구애 받지 않고 메시지 전송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다량의 데이터 전송에 용의하나 </a:t>
            </a:r>
            <a:r>
              <a:rPr lang="en-US" altLang="ko-KR" dirty="0"/>
              <a:t>Data </a:t>
            </a:r>
            <a:r>
              <a:rPr lang="ko-KR" altLang="en-US" dirty="0"/>
              <a:t>손실이 있을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프로토콜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b="1" dirty="0">
                <a:ea typeface="굴림" pitchFamily="50" charset="-127"/>
              </a:rPr>
              <a:t>TRDP </a:t>
            </a:r>
            <a:r>
              <a:rPr lang="en-US" altLang="ko-KR" dirty="0"/>
              <a:t>( TIBCO Reliable Data Protocol )</a:t>
            </a:r>
            <a:endParaRPr lang="en-US" altLang="ko-KR" b="1" dirty="0">
              <a:ea typeface="굴림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1556792"/>
            <a:ext cx="821537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UDP</a:t>
            </a:r>
            <a:r>
              <a:rPr lang="ko-KR" altLang="en-US" dirty="0"/>
              <a:t>를 이용하는 </a:t>
            </a:r>
            <a:r>
              <a:rPr lang="en-US" altLang="ko-KR" dirty="0"/>
              <a:t>broadcast/multicast </a:t>
            </a:r>
            <a:r>
              <a:rPr lang="ko-KR" altLang="en-US" dirty="0"/>
              <a:t>프로토콜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TCP</a:t>
            </a:r>
            <a:r>
              <a:rPr lang="ko-KR" altLang="en-US" dirty="0"/>
              <a:t>와 </a:t>
            </a:r>
            <a:r>
              <a:rPr lang="en-US" altLang="ko-KR" dirty="0"/>
              <a:t>UDP</a:t>
            </a:r>
            <a:r>
              <a:rPr lang="ko-KR" altLang="en-US" dirty="0"/>
              <a:t>의 장점을 통합</a:t>
            </a:r>
            <a:r>
              <a:rPr lang="en-US" altLang="ko-KR" dirty="0"/>
              <a:t>(</a:t>
            </a:r>
            <a:r>
              <a:rPr lang="ko-KR" altLang="en-US" dirty="0"/>
              <a:t>신뢰성</a:t>
            </a:r>
            <a:r>
              <a:rPr lang="en-US" altLang="ko-KR" dirty="0"/>
              <a:t>, </a:t>
            </a:r>
            <a:r>
              <a:rPr lang="ko-KR" altLang="en-US" dirty="0"/>
              <a:t>다량의 데이터 전송 등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Subject </a:t>
            </a:r>
            <a:r>
              <a:rPr lang="ko-KR" altLang="en-US" dirty="0"/>
              <a:t>주소 기반</a:t>
            </a:r>
            <a:r>
              <a:rPr lang="en-US" altLang="ko-KR" dirty="0"/>
              <a:t>, </a:t>
            </a:r>
            <a:r>
              <a:rPr lang="ko-KR" altLang="en-US" dirty="0"/>
              <a:t>메시지 순차적 전송</a:t>
            </a:r>
            <a:r>
              <a:rPr lang="en-US" altLang="ko-KR" dirty="0"/>
              <a:t>, </a:t>
            </a:r>
            <a:r>
              <a:rPr lang="ko-KR" altLang="en-US" dirty="0"/>
              <a:t>응답처리 및 재전송</a:t>
            </a:r>
            <a:endParaRPr lang="en-US" altLang="ko-KR" dirty="0"/>
          </a:p>
        </p:txBody>
      </p:sp>
      <p:pic>
        <p:nvPicPr>
          <p:cNvPr id="9" name="Picture 4" descr="CAP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99592" y="3212976"/>
            <a:ext cx="2736304" cy="2842552"/>
          </a:xfrm>
          <a:prstGeom prst="rect">
            <a:avLst/>
          </a:prstGeom>
          <a:noFill/>
        </p:spPr>
      </p:pic>
      <p:pic>
        <p:nvPicPr>
          <p:cNvPr id="10" name="Picture 5" descr="CAP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499992" y="3212976"/>
            <a:ext cx="3551157" cy="25824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RV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브로드캐스팅과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멀티캐스팅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>
                <a:ea typeface="굴림" pitchFamily="50" charset="-127"/>
              </a:rPr>
              <a:t>RV </a:t>
            </a:r>
            <a:r>
              <a:rPr lang="ko-KR" altLang="en-US" sz="1800" b="1" dirty="0" err="1">
                <a:ea typeface="굴림" pitchFamily="50" charset="-127"/>
              </a:rPr>
              <a:t>브로드</a:t>
            </a:r>
            <a:r>
              <a:rPr lang="ko-KR" altLang="en-US" sz="1800" b="1" dirty="0">
                <a:ea typeface="굴림" pitchFamily="50" charset="-127"/>
              </a:rPr>
              <a:t> 캐스팅</a:t>
            </a:r>
            <a:endParaRPr lang="en-US" altLang="ko-KR" sz="1800" b="1" dirty="0">
              <a:ea typeface="굴림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1556792"/>
            <a:ext cx="8215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동일 </a:t>
            </a:r>
            <a:r>
              <a:rPr lang="en-US" altLang="ko-KR" dirty="0"/>
              <a:t>subnet </a:t>
            </a:r>
            <a:r>
              <a:rPr lang="ko-KR" altLang="en-US" dirty="0"/>
              <a:t>상에 있는 모든 </a:t>
            </a:r>
            <a:r>
              <a:rPr lang="en-US" altLang="ko-KR" dirty="0"/>
              <a:t>host</a:t>
            </a:r>
            <a:r>
              <a:rPr lang="ko-KR" altLang="en-US" dirty="0"/>
              <a:t>에 데이터 전송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각 </a:t>
            </a:r>
            <a:r>
              <a:rPr lang="en-US" altLang="ko-KR" dirty="0"/>
              <a:t>host</a:t>
            </a:r>
            <a:r>
              <a:rPr lang="ko-KR" altLang="en-US" dirty="0"/>
              <a:t>는 데이터를 수신한 후 불 필요한 경우 폐기함</a:t>
            </a:r>
            <a:r>
              <a:rPr lang="en-US" altLang="ko-KR" dirty="0"/>
              <a:t>.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1520" y="2780928"/>
            <a:ext cx="5840412" cy="311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Object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92020" y="2852366"/>
            <a:ext cx="2055812" cy="2857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RV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브로드캐스팅과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멀티캐스팅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>
                <a:ea typeface="굴림" pitchFamily="50" charset="-127"/>
              </a:rPr>
              <a:t>RV </a:t>
            </a:r>
            <a:r>
              <a:rPr lang="ko-KR" altLang="en-US" sz="1800" b="1" dirty="0">
                <a:ea typeface="굴림" pitchFamily="50" charset="-127"/>
              </a:rPr>
              <a:t>멀티 </a:t>
            </a:r>
            <a:r>
              <a:rPr lang="ko-KR" altLang="en-US" sz="1800" b="1" dirty="0" err="1">
                <a:ea typeface="굴림" pitchFamily="50" charset="-127"/>
              </a:rPr>
              <a:t>캐시팅</a:t>
            </a:r>
            <a:endParaRPr lang="en-US" altLang="ko-KR" sz="1800" b="1" dirty="0">
              <a:ea typeface="굴림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1556792"/>
            <a:ext cx="8215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동일 </a:t>
            </a:r>
            <a:r>
              <a:rPr lang="en-US" altLang="ko-KR" dirty="0"/>
              <a:t>subnet </a:t>
            </a:r>
            <a:r>
              <a:rPr lang="ko-KR" altLang="en-US" dirty="0"/>
              <a:t>상에 특정 </a:t>
            </a:r>
            <a:r>
              <a:rPr lang="en-US" altLang="ko-KR" dirty="0"/>
              <a:t>host </a:t>
            </a:r>
            <a:r>
              <a:rPr lang="ko-KR" altLang="en-US" dirty="0"/>
              <a:t>그룹에 데이터 전송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멀티캐스팅 그룹에 </a:t>
            </a:r>
            <a:r>
              <a:rPr lang="en-US" altLang="ko-KR" dirty="0"/>
              <a:t>join</a:t>
            </a:r>
            <a:r>
              <a:rPr lang="ko-KR" altLang="en-US" dirty="0"/>
              <a:t>하지 않는 </a:t>
            </a:r>
            <a:r>
              <a:rPr lang="en-US" altLang="ko-KR" dirty="0"/>
              <a:t>Host</a:t>
            </a:r>
            <a:r>
              <a:rPr lang="ko-KR" altLang="en-US" dirty="0"/>
              <a:t>는 별도에 데이터 폐기가 필요치 않음</a:t>
            </a:r>
            <a:r>
              <a:rPr lang="en-US" altLang="ko-KR" dirty="0"/>
              <a:t>.</a:t>
            </a: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1520" y="2636912"/>
            <a:ext cx="5532438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Object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91995" y="2787724"/>
            <a:ext cx="2057400" cy="2857500"/>
          </a:xfrm>
          <a:prstGeom prst="rect">
            <a:avLst/>
          </a:prstGeom>
          <a:noFill/>
        </p:spPr>
      </p:pic>
      <p:sp>
        <p:nvSpPr>
          <p:cNvPr id="12" name="직사각형 11"/>
          <p:cNvSpPr/>
          <p:nvPr/>
        </p:nvSpPr>
        <p:spPr>
          <a:xfrm>
            <a:off x="7452320" y="4077072"/>
            <a:ext cx="86409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RV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브로드캐스팅과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멀티캐스팅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ko-KR" altLang="en-US" sz="1800" b="1" dirty="0">
                <a:ea typeface="굴림" pitchFamily="50" charset="-127"/>
              </a:rPr>
              <a:t>차이점</a:t>
            </a:r>
            <a:endParaRPr lang="en-US" altLang="ko-KR" sz="1800" b="1" dirty="0">
              <a:ea typeface="굴림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1484784"/>
            <a:ext cx="828092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하나의 </a:t>
            </a:r>
            <a:r>
              <a:rPr lang="ko-KR" altLang="en-US" dirty="0" err="1"/>
              <a:t>패킷을</a:t>
            </a:r>
            <a:r>
              <a:rPr lang="ko-KR" altLang="en-US" dirty="0"/>
              <a:t> 여러 개의 수신자에 동시에 보내기 위한 기술이 </a:t>
            </a:r>
            <a:r>
              <a:rPr lang="ko-KR" altLang="en-US" dirty="0" err="1"/>
              <a:t>브로드캐스팅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불필요한 </a:t>
            </a:r>
            <a:r>
              <a:rPr lang="ko-KR" altLang="en-US" dirty="0" err="1"/>
              <a:t>패킷을</a:t>
            </a:r>
            <a:r>
              <a:rPr lang="ko-KR" altLang="en-US" dirty="0"/>
              <a:t> 받은 호스트는 삭제를 </a:t>
            </a:r>
            <a:r>
              <a:rPr lang="ko-KR" altLang="en-US" dirty="0" err="1"/>
              <a:t>해야하는데</a:t>
            </a:r>
            <a:r>
              <a:rPr lang="ko-KR" altLang="en-US" dirty="0"/>
              <a:t> 이때 자원을 사용함</a:t>
            </a:r>
            <a:r>
              <a:rPr lang="en-US" altLang="ko-KR" dirty="0"/>
              <a:t>.(</a:t>
            </a:r>
            <a:r>
              <a:rPr lang="ko-KR" altLang="en-US" dirty="0"/>
              <a:t>단점</a:t>
            </a:r>
            <a:r>
              <a:rPr lang="en-US" altLang="ko-KR" dirty="0"/>
              <a:t>) =&gt; </a:t>
            </a:r>
            <a:r>
              <a:rPr lang="ko-KR" altLang="en-US" dirty="0"/>
              <a:t>이를 해결하기위해 멀티캐스팅 기술이 등장함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멀티캐스팅은 </a:t>
            </a:r>
            <a:r>
              <a:rPr lang="en-US" altLang="ko-KR" dirty="0"/>
              <a:t>D class IP </a:t>
            </a:r>
            <a:r>
              <a:rPr lang="ko-KR" altLang="en-US" dirty="0"/>
              <a:t>주소를 사용하여 통신함</a:t>
            </a:r>
            <a:r>
              <a:rPr lang="en-US" altLang="ko-KR" dirty="0"/>
              <a:t>. </a:t>
            </a:r>
            <a:r>
              <a:rPr lang="ko-KR" altLang="en-US" dirty="0"/>
              <a:t>불필요한 </a:t>
            </a:r>
            <a:r>
              <a:rPr lang="ko-KR" altLang="en-US" dirty="0" err="1"/>
              <a:t>패킷</a:t>
            </a:r>
            <a:r>
              <a:rPr lang="ko-KR" altLang="en-US" dirty="0"/>
              <a:t> 전송이 없기 때문에 자원소모가 없음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RV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가지 모두 지원하며 </a:t>
            </a:r>
            <a:r>
              <a:rPr lang="en-US" altLang="ko-KR" dirty="0"/>
              <a:t>Default</a:t>
            </a:r>
            <a:r>
              <a:rPr lang="ko-KR" altLang="en-US" dirty="0"/>
              <a:t>로 </a:t>
            </a:r>
            <a:r>
              <a:rPr lang="ko-KR" altLang="en-US" dirty="0" err="1"/>
              <a:t>브로드캐스팅을</a:t>
            </a:r>
            <a:r>
              <a:rPr lang="ko-KR" altLang="en-US" dirty="0"/>
              <a:t> 함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네트워크 </a:t>
            </a:r>
            <a:r>
              <a:rPr lang="ko-KR" altLang="en-US" dirty="0" err="1"/>
              <a:t>파라미터에</a:t>
            </a:r>
            <a:r>
              <a:rPr lang="ko-KR" altLang="en-US" dirty="0"/>
              <a:t> 멀티캐스팅 어드레스를 지정하여 멀티캐스팅 방식을 사용할 수 있음</a:t>
            </a:r>
            <a:endParaRPr lang="en-US" altLang="ko-KR" dirty="0"/>
          </a:p>
          <a:p>
            <a:pPr marL="342900" indent="-342900">
              <a:lnSpc>
                <a:spcPct val="150000"/>
              </a:lnSpc>
            </a:pPr>
            <a:r>
              <a:rPr lang="en-US" altLang="ko-KR" dirty="0"/>
              <a:t>  ex) </a:t>
            </a:r>
            <a:r>
              <a:rPr lang="en-US" altLang="ko-KR" dirty="0" err="1"/>
              <a:t>tibrvlisten</a:t>
            </a:r>
            <a:r>
              <a:rPr lang="en-US" altLang="ko-KR" dirty="0"/>
              <a:t> –daemon 7500 –service 21000 </a:t>
            </a:r>
            <a:r>
              <a:rPr lang="en-US" altLang="ko-KR" dirty="0">
                <a:solidFill>
                  <a:srgbClr val="FF0000"/>
                </a:solidFill>
              </a:rPr>
              <a:t>–network “;224.1.1.1;”</a:t>
            </a:r>
            <a:r>
              <a:rPr lang="en-US" altLang="ko-KR" dirty="0"/>
              <a:t> “test”</a:t>
            </a:r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데이터 전송 방법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980728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en-US" altLang="ko-KR" sz="1800" b="1" dirty="0">
                <a:latin typeface="굴림" pitchFamily="50" charset="-127"/>
                <a:ea typeface="굴림" pitchFamily="50" charset="-127"/>
              </a:rPr>
              <a:t>Request/Reply</a:t>
            </a:r>
            <a:endParaRPr lang="en-US" altLang="ko-KR" sz="1800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gray">
          <a:xfrm>
            <a:off x="539552" y="4149080"/>
            <a:ext cx="7920880" cy="188051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800" dirty="0"/>
              <a:t>-  </a:t>
            </a:r>
            <a:r>
              <a:rPr lang="en-US" altLang="ko-KR" sz="1800" dirty="0" err="1"/>
              <a:t>Request는</a:t>
            </a:r>
            <a:r>
              <a:rPr lang="en-US" altLang="ko-KR" sz="1800" dirty="0"/>
              <a:t> Multicast </a:t>
            </a:r>
            <a:r>
              <a:rPr lang="en-US" altLang="ko-KR" sz="1800" dirty="0" err="1"/>
              <a:t>방식이며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Reply는</a:t>
            </a:r>
            <a:r>
              <a:rPr lang="en-US" altLang="ko-KR" sz="1800" dirty="0"/>
              <a:t> Point-to-Point </a:t>
            </a:r>
            <a:r>
              <a:rPr lang="en-US" altLang="ko-KR" sz="1800" dirty="0" err="1"/>
              <a:t>방식</a:t>
            </a:r>
            <a:endParaRPr lang="en-US" altLang="ko-KR" sz="1800" dirty="0"/>
          </a:p>
          <a:p>
            <a:pPr>
              <a:spcBef>
                <a:spcPct val="50000"/>
              </a:spcBef>
            </a:pPr>
            <a:r>
              <a:rPr lang="en-US" altLang="ko-KR" sz="1800" dirty="0"/>
              <a:t>-  Server </a:t>
            </a:r>
            <a:r>
              <a:rPr lang="en-US" altLang="ko-KR" sz="1800" dirty="0" err="1"/>
              <a:t>A,B,C중에서</a:t>
            </a:r>
            <a:r>
              <a:rPr lang="en-US" altLang="ko-KR" sz="1800" dirty="0"/>
              <a:t> </a:t>
            </a:r>
            <a:r>
              <a:rPr lang="en-US" altLang="ko-KR" sz="1800" dirty="0" err="1"/>
              <a:t>한군데에서만</a:t>
            </a:r>
            <a:r>
              <a:rPr lang="en-US" altLang="ko-KR" sz="1800" dirty="0"/>
              <a:t> </a:t>
            </a:r>
            <a:r>
              <a:rPr lang="en-US" altLang="ko-KR" sz="1800" dirty="0" err="1"/>
              <a:t>Reply가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오면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정상처리됨</a:t>
            </a:r>
            <a:endParaRPr lang="en-US" altLang="ko-KR" sz="1800" dirty="0"/>
          </a:p>
          <a:p>
            <a:pPr>
              <a:spcBef>
                <a:spcPct val="50000"/>
              </a:spcBef>
            </a:pPr>
            <a:r>
              <a:rPr lang="en-US" altLang="ko-KR" sz="1800" dirty="0"/>
              <a:t>-  Server </a:t>
            </a:r>
            <a:r>
              <a:rPr lang="en-US" altLang="ko-KR" sz="1800" dirty="0" err="1"/>
              <a:t>A,B,C는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전부</a:t>
            </a:r>
            <a:r>
              <a:rPr lang="en-US" altLang="ko-KR" sz="1800" dirty="0"/>
              <a:t> </a:t>
            </a:r>
            <a:r>
              <a:rPr lang="en-US" altLang="ko-KR" sz="1800" dirty="0" err="1"/>
              <a:t>동일한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역할은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수행</a:t>
            </a:r>
            <a:endParaRPr lang="en-US" altLang="ko-KR" sz="1800" dirty="0"/>
          </a:p>
          <a:p>
            <a:pPr>
              <a:spcBef>
                <a:spcPct val="50000"/>
              </a:spcBef>
            </a:pPr>
            <a:r>
              <a:rPr lang="en-US" altLang="ko-KR" sz="1800" dirty="0"/>
              <a:t>-  </a:t>
            </a:r>
            <a:r>
              <a:rPr lang="ko-KR" altLang="en-US" sz="1800" dirty="0"/>
              <a:t>동기화 방식</a:t>
            </a:r>
            <a:endParaRPr lang="en-US" altLang="ko-KR" sz="1800" dirty="0"/>
          </a:p>
          <a:p>
            <a:pPr>
              <a:spcBef>
                <a:spcPct val="50000"/>
              </a:spcBef>
            </a:pPr>
            <a:endParaRPr lang="en-US" altLang="ko-KR" sz="1000" b="1" dirty="0"/>
          </a:p>
        </p:txBody>
      </p:sp>
      <p:pic>
        <p:nvPicPr>
          <p:cNvPr id="8" name="Picture 6" descr="multireqreply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7544" y="1340768"/>
            <a:ext cx="8064896" cy="30339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데이터 전송 방법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980728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en-US" altLang="ko-KR" sz="1800" b="1" dirty="0">
                <a:latin typeface="돋움" pitchFamily="50" charset="-127"/>
              </a:rPr>
              <a:t>Publish/Subscribe</a:t>
            </a:r>
            <a:endParaRPr lang="en-US" altLang="ko-KR" sz="1800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gray">
          <a:xfrm>
            <a:off x="467544" y="3573016"/>
            <a:ext cx="7920880" cy="224369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800" dirty="0"/>
              <a:t>- Rendezvous</a:t>
            </a:r>
            <a:r>
              <a:rPr lang="ko-KR" altLang="en-US" sz="1800" dirty="0"/>
              <a:t>의 기본적인 방식</a:t>
            </a:r>
          </a:p>
          <a:p>
            <a:pPr>
              <a:spcBef>
                <a:spcPct val="50000"/>
              </a:spcBef>
            </a:pPr>
            <a:r>
              <a:rPr lang="en-US" altLang="ko-KR" sz="1800" dirty="0"/>
              <a:t>- </a:t>
            </a:r>
            <a:r>
              <a:rPr lang="en-US" altLang="ko-KR" sz="1800" dirty="0" err="1"/>
              <a:t>Rvd</a:t>
            </a:r>
            <a:r>
              <a:rPr lang="en-US" altLang="ko-KR" sz="1800" dirty="0"/>
              <a:t> </a:t>
            </a:r>
            <a:r>
              <a:rPr lang="ko-KR" altLang="en-US" sz="1800" dirty="0"/>
              <a:t>데몬 연결 후 생성</a:t>
            </a:r>
            <a:r>
              <a:rPr lang="en-US" altLang="ko-KR" sz="1800" dirty="0"/>
              <a:t>, publish</a:t>
            </a:r>
            <a:r>
              <a:rPr lang="ko-KR" altLang="en-US" sz="1800" dirty="0"/>
              <a:t>는 단순히 </a:t>
            </a:r>
            <a:r>
              <a:rPr lang="en-US" altLang="ko-KR" sz="1800" dirty="0"/>
              <a:t>TIB</a:t>
            </a:r>
            <a:r>
              <a:rPr lang="ko-KR" altLang="en-US" sz="1800" dirty="0"/>
              <a:t>에 메시지를 송신함</a:t>
            </a:r>
            <a:r>
              <a:rPr lang="en-US" altLang="ko-KR" sz="1800" dirty="0"/>
              <a:t>, Subscribe</a:t>
            </a:r>
            <a:r>
              <a:rPr lang="ko-KR" altLang="en-US" sz="1800" dirty="0"/>
              <a:t>는 </a:t>
            </a:r>
            <a:r>
              <a:rPr lang="en-US" altLang="ko-KR" sz="1800" dirty="0"/>
              <a:t>TIB</a:t>
            </a:r>
            <a:r>
              <a:rPr lang="ko-KR" altLang="en-US" sz="1800" dirty="0"/>
              <a:t>에 떠있는 메시지를 수신한다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Subscriber </a:t>
            </a:r>
            <a:r>
              <a:rPr lang="ko-KR" altLang="en-US" sz="1800" dirty="0"/>
              <a:t>경우</a:t>
            </a:r>
            <a:r>
              <a:rPr lang="en-US" altLang="ko-KR" sz="1800" dirty="0"/>
              <a:t> Queue</a:t>
            </a:r>
            <a:r>
              <a:rPr lang="ko-KR" altLang="en-US" sz="1800" dirty="0"/>
              <a:t>를 생성하고 </a:t>
            </a:r>
            <a:r>
              <a:rPr lang="en-US" altLang="ko-KR" sz="1800" dirty="0"/>
              <a:t>Listener</a:t>
            </a:r>
            <a:r>
              <a:rPr lang="ko-KR" altLang="en-US" sz="1800" dirty="0"/>
              <a:t>를 등록하면</a:t>
            </a:r>
            <a:r>
              <a:rPr lang="en-US" altLang="ko-KR" sz="1800" dirty="0"/>
              <a:t>, Event Manager</a:t>
            </a:r>
            <a:r>
              <a:rPr lang="ko-KR" altLang="en-US" sz="1800" dirty="0"/>
              <a:t>가 </a:t>
            </a:r>
            <a:r>
              <a:rPr lang="en-US" altLang="ko-KR" sz="1800" dirty="0"/>
              <a:t>Queue</a:t>
            </a:r>
            <a:r>
              <a:rPr lang="ko-KR" altLang="en-US" sz="1800" dirty="0"/>
              <a:t>로 들어온 </a:t>
            </a:r>
            <a:r>
              <a:rPr lang="en-US" altLang="ko-KR" sz="1800" dirty="0"/>
              <a:t>Message</a:t>
            </a:r>
            <a:r>
              <a:rPr lang="ko-KR" altLang="en-US" sz="1800" dirty="0"/>
              <a:t>를  </a:t>
            </a:r>
            <a:r>
              <a:rPr lang="en-US" altLang="ko-KR" sz="1800" dirty="0" err="1"/>
              <a:t>CallBack</a:t>
            </a:r>
            <a:r>
              <a:rPr lang="en-US" altLang="ko-KR" sz="1800" dirty="0"/>
              <a:t> Function</a:t>
            </a:r>
            <a:r>
              <a:rPr lang="ko-KR" altLang="en-US" sz="1800" dirty="0"/>
              <a:t>으로 </a:t>
            </a:r>
            <a:r>
              <a:rPr lang="en-US" altLang="ko-KR" sz="1800" dirty="0"/>
              <a:t>Dispatch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Event-Driven </a:t>
            </a:r>
            <a:r>
              <a:rPr lang="ko-KR" altLang="en-US" sz="1800" dirty="0" err="1"/>
              <a:t>비동기식</a:t>
            </a:r>
            <a:r>
              <a:rPr lang="en-US" altLang="ko-KR" sz="1800" dirty="0"/>
              <a:t>(Asynchronous) Message </a:t>
            </a:r>
            <a:r>
              <a:rPr lang="ko-KR" altLang="en-US" sz="1800" dirty="0"/>
              <a:t>전송</a:t>
            </a:r>
          </a:p>
        </p:txBody>
      </p:sp>
      <p:pic>
        <p:nvPicPr>
          <p:cNvPr id="9" name="Picture 6" descr="pubsub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5576" y="1124744"/>
            <a:ext cx="7704856" cy="27229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RM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통신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>
                <a:ea typeface="굴림" pitchFamily="50" charset="-127"/>
              </a:rPr>
              <a:t>Reliable Messages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259632" y="1628800"/>
            <a:ext cx="5811837" cy="2852738"/>
            <a:chOff x="1414463" y="1762125"/>
            <a:chExt cx="5811837" cy="2852738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676400" y="1766888"/>
              <a:ext cx="1055688" cy="6556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sz="1400" dirty="0">
                  <a:solidFill>
                    <a:srgbClr val="000000"/>
                  </a:solidFill>
                  <a:ea typeface="굴림" pitchFamily="50" charset="-127"/>
                </a:rPr>
                <a:t>Producer</a:t>
              </a:r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>
              <a:off x="1616075" y="4252913"/>
              <a:ext cx="561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1616075" y="4600575"/>
              <a:ext cx="4651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4095750" y="4248150"/>
              <a:ext cx="539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800" b="0">
                  <a:solidFill>
                    <a:schemeClr val="tx1"/>
                  </a:solidFill>
                  <a:ea typeface="굴림" pitchFamily="50" charset="-127"/>
                </a:rPr>
                <a:t>TIB</a:t>
              </a:r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 flipV="1">
              <a:off x="5557838" y="3663950"/>
              <a:ext cx="0" cy="588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3" name="Line 19"/>
            <p:cNvSpPr>
              <a:spLocks noChangeShapeType="1"/>
            </p:cNvSpPr>
            <p:nvPr/>
          </p:nvSpPr>
          <p:spPr bwMode="auto">
            <a:xfrm flipV="1">
              <a:off x="5461000" y="2422525"/>
              <a:ext cx="0" cy="677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>
              <a:off x="5710238" y="2422525"/>
              <a:ext cx="0" cy="677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5" name="Text Box 22"/>
            <p:cNvSpPr txBox="1">
              <a:spLocks noChangeArrowheads="1"/>
            </p:cNvSpPr>
            <p:nvPr/>
          </p:nvSpPr>
          <p:spPr bwMode="auto">
            <a:xfrm>
              <a:off x="4489450" y="2735263"/>
              <a:ext cx="569913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NAK</a:t>
              </a:r>
            </a:p>
          </p:txBody>
        </p:sp>
        <p:sp>
          <p:nvSpPr>
            <p:cNvPr id="16" name="Text Box 23"/>
            <p:cNvSpPr txBox="1">
              <a:spLocks noChangeArrowheads="1"/>
            </p:cNvSpPr>
            <p:nvPr/>
          </p:nvSpPr>
          <p:spPr bwMode="auto">
            <a:xfrm>
              <a:off x="2071688" y="4254500"/>
              <a:ext cx="306387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3</a:t>
              </a:r>
            </a:p>
          </p:txBody>
        </p:sp>
        <p:sp>
          <p:nvSpPr>
            <p:cNvPr id="17" name="Text Box 25"/>
            <p:cNvSpPr txBox="1">
              <a:spLocks noChangeArrowheads="1"/>
            </p:cNvSpPr>
            <p:nvPr/>
          </p:nvSpPr>
          <p:spPr bwMode="auto">
            <a:xfrm>
              <a:off x="5703888" y="3875088"/>
              <a:ext cx="304800" cy="3444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3</a:t>
              </a:r>
            </a:p>
          </p:txBody>
        </p:sp>
        <p:sp>
          <p:nvSpPr>
            <p:cNvPr id="18" name="Text Box 26"/>
            <p:cNvSpPr txBox="1">
              <a:spLocks noChangeArrowheads="1"/>
            </p:cNvSpPr>
            <p:nvPr/>
          </p:nvSpPr>
          <p:spPr bwMode="auto">
            <a:xfrm>
              <a:off x="2432050" y="4254500"/>
              <a:ext cx="306388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2</a:t>
              </a:r>
            </a:p>
          </p:txBody>
        </p: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2792413" y="4254500"/>
              <a:ext cx="306387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1</a:t>
              </a:r>
            </a:p>
          </p:txBody>
        </p:sp>
        <p:sp>
          <p:nvSpPr>
            <p:cNvPr id="20" name="Text Box 28"/>
            <p:cNvSpPr txBox="1">
              <a:spLocks noChangeArrowheads="1"/>
            </p:cNvSpPr>
            <p:nvPr/>
          </p:nvSpPr>
          <p:spPr bwMode="auto">
            <a:xfrm>
              <a:off x="6261100" y="4254500"/>
              <a:ext cx="306388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2</a:t>
              </a:r>
            </a:p>
          </p:txBody>
        </p:sp>
        <p:sp>
          <p:nvSpPr>
            <p:cNvPr id="21" name="Text Box 33"/>
            <p:cNvSpPr txBox="1">
              <a:spLocks noChangeArrowheads="1"/>
            </p:cNvSpPr>
            <p:nvPr/>
          </p:nvSpPr>
          <p:spPr bwMode="auto">
            <a:xfrm>
              <a:off x="4576763" y="3013075"/>
              <a:ext cx="419100" cy="3476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2?</a:t>
              </a:r>
            </a:p>
          </p:txBody>
        </p:sp>
        <p:sp>
          <p:nvSpPr>
            <p:cNvPr id="22" name="Text Box 34"/>
            <p:cNvSpPr txBox="1">
              <a:spLocks noChangeArrowheads="1"/>
            </p:cNvSpPr>
            <p:nvPr/>
          </p:nvSpPr>
          <p:spPr bwMode="auto">
            <a:xfrm>
              <a:off x="1447800" y="2511425"/>
              <a:ext cx="7747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1 / 2 / 3</a:t>
              </a:r>
            </a:p>
          </p:txBody>
        </p:sp>
        <p:sp>
          <p:nvSpPr>
            <p:cNvPr id="23" name="Rectangle 35"/>
            <p:cNvSpPr>
              <a:spLocks noChangeArrowheads="1"/>
            </p:cNvSpPr>
            <p:nvPr/>
          </p:nvSpPr>
          <p:spPr bwMode="auto">
            <a:xfrm>
              <a:off x="5006975" y="1762125"/>
              <a:ext cx="1052513" cy="67786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sz="1400" dirty="0">
                  <a:solidFill>
                    <a:srgbClr val="000000"/>
                  </a:solidFill>
                  <a:ea typeface="굴림" pitchFamily="50" charset="-127"/>
                </a:rPr>
                <a:t>Consumer</a:t>
              </a:r>
            </a:p>
          </p:txBody>
        </p:sp>
        <p:sp>
          <p:nvSpPr>
            <p:cNvPr id="24" name="Text Box 37"/>
            <p:cNvSpPr txBox="1">
              <a:spLocks noChangeArrowheads="1"/>
            </p:cNvSpPr>
            <p:nvPr/>
          </p:nvSpPr>
          <p:spPr bwMode="auto">
            <a:xfrm>
              <a:off x="2263775" y="2525713"/>
              <a:ext cx="1166813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>
                  <a:solidFill>
                    <a:schemeClr val="tx1"/>
                  </a:solidFill>
                  <a:ea typeface="굴림" pitchFamily="50" charset="-127"/>
                </a:rPr>
                <a:t>XY.ORD.NEW</a:t>
              </a:r>
            </a:p>
          </p:txBody>
        </p:sp>
        <p:sp>
          <p:nvSpPr>
            <p:cNvPr id="25" name="Text Box 38"/>
            <p:cNvSpPr txBox="1">
              <a:spLocks noChangeArrowheads="1"/>
            </p:cNvSpPr>
            <p:nvPr/>
          </p:nvSpPr>
          <p:spPr bwMode="auto">
            <a:xfrm>
              <a:off x="5780088" y="2538413"/>
              <a:ext cx="900112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>
                  <a:solidFill>
                    <a:schemeClr val="tx1"/>
                  </a:solidFill>
                  <a:ea typeface="굴림" pitchFamily="50" charset="-127"/>
                </a:rPr>
                <a:t>XY.ORD.&gt;</a:t>
              </a:r>
            </a:p>
          </p:txBody>
        </p:sp>
        <p:sp>
          <p:nvSpPr>
            <p:cNvPr id="26" name="Line 41"/>
            <p:cNvSpPr>
              <a:spLocks noChangeShapeType="1"/>
            </p:cNvSpPr>
            <p:nvPr/>
          </p:nvSpPr>
          <p:spPr bwMode="auto">
            <a:xfrm>
              <a:off x="1612900" y="4605338"/>
              <a:ext cx="561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7" name="Text Box 42"/>
            <p:cNvSpPr txBox="1">
              <a:spLocks noChangeArrowheads="1"/>
            </p:cNvSpPr>
            <p:nvPr/>
          </p:nvSpPr>
          <p:spPr bwMode="auto">
            <a:xfrm>
              <a:off x="5700713" y="3494088"/>
              <a:ext cx="306387" cy="3460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1</a:t>
              </a:r>
            </a:p>
          </p:txBody>
        </p:sp>
        <p:sp>
          <p:nvSpPr>
            <p:cNvPr id="28" name="Rectangle 44"/>
            <p:cNvSpPr>
              <a:spLocks noChangeArrowheads="1"/>
            </p:cNvSpPr>
            <p:nvPr/>
          </p:nvSpPr>
          <p:spPr bwMode="auto">
            <a:xfrm>
              <a:off x="1414463" y="3292475"/>
              <a:ext cx="709612" cy="4889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1 / 2 / 3</a:t>
              </a:r>
            </a:p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Buffer</a:t>
              </a:r>
            </a:p>
          </p:txBody>
        </p:sp>
        <p:sp>
          <p:nvSpPr>
            <p:cNvPr id="29" name="Line 16"/>
            <p:cNvSpPr>
              <a:spLocks noChangeShapeType="1"/>
            </p:cNvSpPr>
            <p:nvPr/>
          </p:nvSpPr>
          <p:spPr bwMode="auto">
            <a:xfrm>
              <a:off x="2235200" y="2433638"/>
              <a:ext cx="0" cy="666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0" name="Line 17"/>
            <p:cNvSpPr>
              <a:spLocks noChangeShapeType="1"/>
            </p:cNvSpPr>
            <p:nvPr/>
          </p:nvSpPr>
          <p:spPr bwMode="auto">
            <a:xfrm>
              <a:off x="2235200" y="3452813"/>
              <a:ext cx="0" cy="811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1" name="Line 21"/>
            <p:cNvSpPr>
              <a:spLocks noChangeShapeType="1"/>
            </p:cNvSpPr>
            <p:nvPr/>
          </p:nvSpPr>
          <p:spPr bwMode="auto">
            <a:xfrm flipH="1">
              <a:off x="2379663" y="3394075"/>
              <a:ext cx="3021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2" name="AutoShape 45"/>
            <p:cNvSpPr>
              <a:spLocks noChangeArrowheads="1"/>
            </p:cNvSpPr>
            <p:nvPr/>
          </p:nvSpPr>
          <p:spPr bwMode="auto">
            <a:xfrm rot="10800000">
              <a:off x="1895475" y="3100388"/>
              <a:ext cx="677863" cy="5794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33" name="AutoShape 46"/>
            <p:cNvSpPr>
              <a:spLocks noChangeArrowheads="1"/>
            </p:cNvSpPr>
            <p:nvPr/>
          </p:nvSpPr>
          <p:spPr bwMode="auto">
            <a:xfrm rot="10800000">
              <a:off x="5214938" y="3086100"/>
              <a:ext cx="677862" cy="579438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 flipH="1">
              <a:off x="6311900" y="4314825"/>
              <a:ext cx="222250" cy="23495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>
              <a:off x="6311900" y="4325938"/>
              <a:ext cx="200025" cy="201612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</p:grpSp>
      <p:sp>
        <p:nvSpPr>
          <p:cNvPr id="36" name="Text Box 5"/>
          <p:cNvSpPr txBox="1">
            <a:spLocks noChangeArrowheads="1"/>
          </p:cNvSpPr>
          <p:nvPr/>
        </p:nvSpPr>
        <p:spPr bwMode="gray">
          <a:xfrm>
            <a:off x="683568" y="4581128"/>
            <a:ext cx="7920880" cy="180049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800" dirty="0"/>
              <a:t>- </a:t>
            </a:r>
            <a:r>
              <a:rPr lang="ko-KR" altLang="en-US" sz="1800" dirty="0"/>
              <a:t>메시지를 </a:t>
            </a:r>
            <a:r>
              <a:rPr lang="en-US" altLang="ko-KR" sz="1800" dirty="0"/>
              <a:t>60</a:t>
            </a:r>
            <a:r>
              <a:rPr lang="ko-KR" altLang="en-US" sz="1800" dirty="0"/>
              <a:t>초간 보관</a:t>
            </a:r>
            <a:r>
              <a:rPr lang="en-US" altLang="ko-KR" sz="1800" dirty="0"/>
              <a:t>(Memory)</a:t>
            </a:r>
            <a:r>
              <a:rPr lang="ko-KR" altLang="en-US" sz="1800" dirty="0"/>
              <a:t>하고 </a:t>
            </a:r>
            <a:r>
              <a:rPr lang="en-US" altLang="ko-KR" sz="1800" dirty="0"/>
              <a:t>Loss</a:t>
            </a:r>
            <a:r>
              <a:rPr lang="ko-KR" altLang="en-US" sz="1800" dirty="0"/>
              <a:t>가 생기면 </a:t>
            </a:r>
            <a:r>
              <a:rPr lang="en-US" altLang="ko-KR" sz="1800" dirty="0"/>
              <a:t>Subscriber</a:t>
            </a:r>
            <a:r>
              <a:rPr lang="ko-KR" altLang="en-US" sz="1800" dirty="0"/>
              <a:t>가 </a:t>
            </a:r>
            <a:r>
              <a:rPr lang="en-US" altLang="ko-KR" sz="1800" dirty="0"/>
              <a:t>Publisher</a:t>
            </a:r>
            <a:r>
              <a:rPr lang="ko-KR" altLang="en-US" sz="1800" dirty="0"/>
              <a:t>에게 메시지를 요청하여 재전송</a:t>
            </a:r>
          </a:p>
          <a:p>
            <a:pPr>
              <a:spcBef>
                <a:spcPct val="50000"/>
              </a:spcBef>
            </a:pPr>
            <a:r>
              <a:rPr lang="en-US" altLang="ko-KR" sz="1800" dirty="0"/>
              <a:t>- </a:t>
            </a:r>
            <a:r>
              <a:rPr lang="ko-KR" altLang="en-US" sz="1800" dirty="0"/>
              <a:t> </a:t>
            </a:r>
            <a:r>
              <a:rPr lang="en-US" altLang="ko-KR" sz="1800" dirty="0"/>
              <a:t>RVD Daemon </a:t>
            </a:r>
            <a:r>
              <a:rPr lang="ko-KR" altLang="en-US" sz="1800" dirty="0"/>
              <a:t>실행 시 옵션 </a:t>
            </a:r>
            <a:r>
              <a:rPr lang="en-US" altLang="ko-KR" sz="1800" dirty="0"/>
              <a:t>(-reliability) </a:t>
            </a:r>
            <a:r>
              <a:rPr lang="ko-KR" altLang="en-US" sz="1800" dirty="0"/>
              <a:t>을 이용해서 변경이 가능함 </a:t>
            </a:r>
            <a:r>
              <a:rPr lang="en-US" altLang="ko-KR" sz="1800" dirty="0"/>
              <a:t>- Default 60</a:t>
            </a:r>
            <a:r>
              <a:rPr lang="ko-KR" altLang="en-US" sz="1800" dirty="0"/>
              <a:t>초</a:t>
            </a:r>
          </a:p>
          <a:p>
            <a:pPr>
              <a:spcBef>
                <a:spcPct val="50000"/>
              </a:spcBef>
            </a:pPr>
            <a:r>
              <a:rPr lang="en-US" altLang="ko-KR" sz="1800" dirty="0"/>
              <a:t>- </a:t>
            </a:r>
            <a:r>
              <a:rPr lang="ko-KR" altLang="en-US" sz="1800" dirty="0"/>
              <a:t> </a:t>
            </a:r>
            <a:r>
              <a:rPr lang="en-US" altLang="ko-KR" sz="1800" dirty="0"/>
              <a:t>Application</a:t>
            </a:r>
            <a:r>
              <a:rPr lang="ko-KR" altLang="en-US" sz="1800" dirty="0"/>
              <a:t>측에서는 반드시 메시지는 보낸 순서대로 수신하게 됨</a:t>
            </a:r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CM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통신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>
                <a:ea typeface="굴림" pitchFamily="50" charset="-127"/>
              </a:rPr>
              <a:t>Certified Messages</a:t>
            </a: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gray">
          <a:xfrm>
            <a:off x="683568" y="4581128"/>
            <a:ext cx="7920880" cy="180049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800" dirty="0"/>
              <a:t>- </a:t>
            </a:r>
            <a:r>
              <a:rPr lang="ko-KR" altLang="en-US" sz="1800" dirty="0"/>
              <a:t>영구히 메시지의 신뢰성을 보장하며 저장장소로 메모리나 파일을 사용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ko-KR" altLang="en-US" sz="1800" dirty="0"/>
              <a:t> </a:t>
            </a:r>
            <a:r>
              <a:rPr lang="ko-KR" altLang="en-US" sz="1800" dirty="0" err="1"/>
              <a:t>송신측에서</a:t>
            </a:r>
            <a:r>
              <a:rPr lang="ko-KR" altLang="en-US" sz="1800" dirty="0"/>
              <a:t> </a:t>
            </a:r>
            <a:r>
              <a:rPr lang="en-US" altLang="ko-KR" sz="1800" dirty="0"/>
              <a:t>Data </a:t>
            </a:r>
            <a:r>
              <a:rPr lang="ko-KR" altLang="en-US" sz="1800" dirty="0" err="1"/>
              <a:t>전송전에</a:t>
            </a:r>
            <a:r>
              <a:rPr lang="ko-KR" altLang="en-US" sz="1800" dirty="0"/>
              <a:t> 저장소에 메시지를 보관하고 </a:t>
            </a:r>
            <a:r>
              <a:rPr lang="en-US" altLang="ko-KR" sz="1800" dirty="0"/>
              <a:t>Data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손실시</a:t>
            </a:r>
            <a:r>
              <a:rPr lang="ko-KR" altLang="en-US" sz="1800" dirty="0"/>
              <a:t> 저장소의 </a:t>
            </a:r>
            <a:r>
              <a:rPr lang="en-US" altLang="ko-KR" sz="1800" dirty="0"/>
              <a:t>Data</a:t>
            </a:r>
            <a:r>
              <a:rPr lang="ko-KR" altLang="en-US" sz="1800" dirty="0"/>
              <a:t>를 재전송</a:t>
            </a:r>
            <a:r>
              <a:rPr lang="en-US" altLang="ko-KR" sz="1800" dirty="0"/>
              <a:t>. (</a:t>
            </a:r>
            <a:r>
              <a:rPr lang="ko-KR" altLang="en-US" sz="1800" dirty="0"/>
              <a:t>저장소를 </a:t>
            </a:r>
            <a:r>
              <a:rPr lang="en-US" altLang="ko-KR" sz="1800" dirty="0"/>
              <a:t>Ledger</a:t>
            </a:r>
            <a:r>
              <a:rPr lang="ko-KR" altLang="en-US" sz="1800" dirty="0"/>
              <a:t>라고 함</a:t>
            </a:r>
            <a:r>
              <a:rPr lang="en-US" altLang="ko-KR" sz="1800" dirty="0"/>
              <a:t>)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</a:t>
            </a:r>
            <a:r>
              <a:rPr lang="ko-KR" altLang="en-US" sz="1800" dirty="0" err="1"/>
              <a:t>수신측에서</a:t>
            </a:r>
            <a:r>
              <a:rPr lang="ko-KR" altLang="en-US" sz="1800" dirty="0"/>
              <a:t> 메시지를 받으면 </a:t>
            </a:r>
            <a:r>
              <a:rPr lang="en-US" altLang="ko-KR" sz="1800" dirty="0"/>
              <a:t>Confirm</a:t>
            </a:r>
            <a:r>
              <a:rPr lang="ko-KR" altLang="en-US" sz="1800" dirty="0"/>
              <a:t>메시지를 전송하여 </a:t>
            </a:r>
            <a:r>
              <a:rPr lang="ko-KR" altLang="en-US" sz="1800" dirty="0" err="1"/>
              <a:t>송신측</a:t>
            </a:r>
            <a:r>
              <a:rPr lang="ko-KR" altLang="en-US" sz="1800" dirty="0"/>
              <a:t> 저장소에서 내용을 삭제하는 방식</a:t>
            </a:r>
            <a:r>
              <a:rPr lang="en-US" altLang="ko-KR" sz="1800" dirty="0"/>
              <a:t>.</a:t>
            </a:r>
          </a:p>
        </p:txBody>
      </p:sp>
      <p:pic>
        <p:nvPicPr>
          <p:cNvPr id="37" name="Picture 6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23728" y="1484784"/>
            <a:ext cx="4886325" cy="29622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RV Transport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>
                <a:ea typeface="굴림" pitchFamily="50" charset="-127"/>
              </a:rPr>
              <a:t>3</a:t>
            </a:r>
            <a:r>
              <a:rPr lang="ko-KR" altLang="en-US" sz="1800" b="1" dirty="0">
                <a:ea typeface="굴림" pitchFamily="50" charset="-127"/>
              </a:rPr>
              <a:t>가지 </a:t>
            </a:r>
            <a:r>
              <a:rPr lang="ko-KR" altLang="en-US" sz="1800" b="1" dirty="0" err="1">
                <a:ea typeface="굴림" pitchFamily="50" charset="-127"/>
              </a:rPr>
              <a:t>파라메터에</a:t>
            </a:r>
            <a:r>
              <a:rPr lang="ko-KR" altLang="en-US" sz="1800" b="1" dirty="0">
                <a:ea typeface="굴림" pitchFamily="50" charset="-127"/>
              </a:rPr>
              <a:t> 의해 정의</a:t>
            </a:r>
            <a:endParaRPr lang="en-US" altLang="ko-KR" sz="1800" b="1" dirty="0">
              <a:ea typeface="굴림" pitchFamily="50" charset="-127"/>
            </a:endParaRP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gray">
          <a:xfrm>
            <a:off x="683568" y="4581128"/>
            <a:ext cx="7920880" cy="119109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App</a:t>
            </a:r>
            <a:r>
              <a:rPr lang="ko-KR" altLang="en-US" sz="1800" dirty="0"/>
              <a:t>가 </a:t>
            </a:r>
            <a:r>
              <a:rPr lang="en-US" altLang="ko-KR" sz="1800" dirty="0" err="1"/>
              <a:t>rvd</a:t>
            </a:r>
            <a:r>
              <a:rPr lang="ko-KR" altLang="en-US" sz="1800" dirty="0"/>
              <a:t>를 통해 </a:t>
            </a:r>
            <a:r>
              <a:rPr lang="en-US" altLang="ko-KR" sz="1800" dirty="0"/>
              <a:t>data</a:t>
            </a:r>
            <a:r>
              <a:rPr lang="ko-KR" altLang="en-US" sz="1800" dirty="0"/>
              <a:t>를 송수신 할 수 있는 채널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</a:t>
            </a:r>
            <a:r>
              <a:rPr lang="ko-KR" altLang="en-US" sz="1800" dirty="0"/>
              <a:t>여러 개의 </a:t>
            </a:r>
            <a:r>
              <a:rPr lang="en-US" altLang="ko-KR" sz="1800" dirty="0"/>
              <a:t>Transport </a:t>
            </a:r>
            <a:r>
              <a:rPr lang="ko-KR" altLang="en-US" sz="1800" dirty="0"/>
              <a:t>생성 가능</a:t>
            </a:r>
            <a:endParaRPr lang="en-US" altLang="ko-KR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-daemon, -service, -network.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1547664" y="1412776"/>
            <a:ext cx="5613400" cy="3024188"/>
            <a:chOff x="1101725" y="1746250"/>
            <a:chExt cx="5613400" cy="3024188"/>
          </a:xfrm>
        </p:grpSpPr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1104900" y="4408488"/>
              <a:ext cx="561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1104900" y="4756150"/>
              <a:ext cx="4651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584575" y="4403725"/>
              <a:ext cx="539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800" b="0">
                  <a:solidFill>
                    <a:schemeClr val="tx1"/>
                  </a:solidFill>
                  <a:ea typeface="굴림" pitchFamily="50" charset="-127"/>
                </a:rPr>
                <a:t>TIB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V="1">
              <a:off x="5557838" y="3819525"/>
              <a:ext cx="0" cy="588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5554663" y="2578100"/>
              <a:ext cx="0" cy="677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4" name="Line 23"/>
            <p:cNvSpPr>
              <a:spLocks noChangeShapeType="1"/>
            </p:cNvSpPr>
            <p:nvPr/>
          </p:nvSpPr>
          <p:spPr bwMode="auto">
            <a:xfrm>
              <a:off x="1101725" y="4760913"/>
              <a:ext cx="561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>
              <a:off x="2235200" y="2589213"/>
              <a:ext cx="0" cy="666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>
              <a:off x="2235200" y="3608388"/>
              <a:ext cx="0" cy="811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7" name="AutoShape 29"/>
            <p:cNvSpPr>
              <a:spLocks noChangeArrowheads="1"/>
            </p:cNvSpPr>
            <p:nvPr/>
          </p:nvSpPr>
          <p:spPr bwMode="auto">
            <a:xfrm rot="10800000">
              <a:off x="1895475" y="3255963"/>
              <a:ext cx="677863" cy="5794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18" name="AutoShape 30"/>
            <p:cNvSpPr>
              <a:spLocks noChangeArrowheads="1"/>
            </p:cNvSpPr>
            <p:nvPr/>
          </p:nvSpPr>
          <p:spPr bwMode="auto">
            <a:xfrm rot="10800000">
              <a:off x="5214938" y="3241675"/>
              <a:ext cx="677862" cy="579438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19" name="Line 33"/>
            <p:cNvSpPr>
              <a:spLocks noChangeShapeType="1"/>
            </p:cNvSpPr>
            <p:nvPr/>
          </p:nvSpPr>
          <p:spPr bwMode="auto">
            <a:xfrm flipH="1">
              <a:off x="2386013" y="2597150"/>
              <a:ext cx="2933700" cy="9255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0" name="Text Box 34"/>
            <p:cNvSpPr txBox="1">
              <a:spLocks noChangeArrowheads="1"/>
            </p:cNvSpPr>
            <p:nvPr/>
          </p:nvSpPr>
          <p:spPr bwMode="auto">
            <a:xfrm>
              <a:off x="2154238" y="2725738"/>
              <a:ext cx="928687" cy="42703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 dirty="0">
                  <a:solidFill>
                    <a:srgbClr val="000000"/>
                  </a:solidFill>
                  <a:ea typeface="굴림" pitchFamily="50" charset="-127"/>
                </a:rPr>
                <a:t>-daemon</a:t>
              </a:r>
              <a:endParaRPr lang="en-US" altLang="ko-KR" dirty="0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 dirty="0">
                  <a:solidFill>
                    <a:srgbClr val="000000"/>
                  </a:solidFill>
                  <a:ea typeface="굴림" pitchFamily="50" charset="-127"/>
                </a:rPr>
                <a:t>7500</a:t>
              </a:r>
            </a:p>
          </p:txBody>
        </p:sp>
        <p:sp>
          <p:nvSpPr>
            <p:cNvPr id="21" name="Rectangle 35"/>
            <p:cNvSpPr>
              <a:spLocks noChangeArrowheads="1"/>
            </p:cNvSpPr>
            <p:nvPr/>
          </p:nvSpPr>
          <p:spPr bwMode="auto">
            <a:xfrm>
              <a:off x="1271588" y="1749425"/>
              <a:ext cx="1973262" cy="2095500"/>
            </a:xfrm>
            <a:prstGeom prst="rect">
              <a:avLst/>
            </a:prstGeom>
            <a:noFill/>
            <a:ln w="12700" algn="ctr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2" name="Rectangle 36"/>
            <p:cNvSpPr>
              <a:spLocks noChangeArrowheads="1"/>
            </p:cNvSpPr>
            <p:nvPr/>
          </p:nvSpPr>
          <p:spPr bwMode="auto">
            <a:xfrm>
              <a:off x="4535488" y="1746250"/>
              <a:ext cx="1973262" cy="2062163"/>
            </a:xfrm>
            <a:prstGeom prst="rect">
              <a:avLst/>
            </a:prstGeom>
            <a:noFill/>
            <a:ln w="12700" algn="ctr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3" name="Text Box 37"/>
            <p:cNvSpPr txBox="1">
              <a:spLocks noChangeArrowheads="1"/>
            </p:cNvSpPr>
            <p:nvPr/>
          </p:nvSpPr>
          <p:spPr bwMode="auto">
            <a:xfrm>
              <a:off x="3487738" y="2520950"/>
              <a:ext cx="1028700" cy="4270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-daemon</a:t>
              </a:r>
              <a:endParaRPr lang="en-US" altLang="ko-KR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10.1.1.1:7500</a:t>
              </a:r>
            </a:p>
          </p:txBody>
        </p:sp>
        <p:sp>
          <p:nvSpPr>
            <p:cNvPr id="24" name="Rectangle 5"/>
            <p:cNvSpPr>
              <a:spLocks noChangeArrowheads="1"/>
            </p:cNvSpPr>
            <p:nvPr/>
          </p:nvSpPr>
          <p:spPr bwMode="auto">
            <a:xfrm>
              <a:off x="1676400" y="2078038"/>
              <a:ext cx="1055688" cy="6556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sz="1400">
                  <a:solidFill>
                    <a:srgbClr val="000000"/>
                  </a:solidFill>
                  <a:ea typeface="굴림" pitchFamily="50" charset="-127"/>
                </a:rPr>
                <a:t>Producer</a:t>
              </a:r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5006975" y="2062163"/>
              <a:ext cx="1052513" cy="67786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sz="1400">
                  <a:solidFill>
                    <a:srgbClr val="000000"/>
                  </a:solidFill>
                  <a:ea typeface="굴림" pitchFamily="50" charset="-127"/>
                </a:rPr>
                <a:t>Consumer</a:t>
              </a:r>
            </a:p>
          </p:txBody>
        </p:sp>
        <p:sp>
          <p:nvSpPr>
            <p:cNvPr id="26" name="Text Box 39"/>
            <p:cNvSpPr txBox="1">
              <a:spLocks noChangeArrowheads="1"/>
            </p:cNvSpPr>
            <p:nvPr/>
          </p:nvSpPr>
          <p:spPr bwMode="auto">
            <a:xfrm>
              <a:off x="1538288" y="1762125"/>
              <a:ext cx="1463675" cy="2746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Host A : 10.1.1.1</a:t>
              </a:r>
              <a:endParaRPr lang="en-US" altLang="ko-KR" b="0">
                <a:solidFill>
                  <a:srgbClr val="000000"/>
                </a:solidFill>
                <a:ea typeface="굴림" pitchFamily="50" charset="-127"/>
              </a:endParaRPr>
            </a:p>
          </p:txBody>
        </p:sp>
        <p:sp>
          <p:nvSpPr>
            <p:cNvPr id="27" name="Text Box 40"/>
            <p:cNvSpPr txBox="1">
              <a:spLocks noChangeArrowheads="1"/>
            </p:cNvSpPr>
            <p:nvPr/>
          </p:nvSpPr>
          <p:spPr bwMode="auto">
            <a:xfrm>
              <a:off x="4802188" y="1758950"/>
              <a:ext cx="1463675" cy="2746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Host B : 10.1.1.2</a:t>
              </a:r>
              <a:endParaRPr lang="en-US" altLang="ko-KR" b="0">
                <a:solidFill>
                  <a:srgbClr val="000000"/>
                </a:solidFill>
                <a:ea typeface="굴림" pitchFamily="50" charset="-127"/>
              </a:endParaRPr>
            </a:p>
          </p:txBody>
        </p:sp>
        <p:sp>
          <p:nvSpPr>
            <p:cNvPr id="28" name="Text Box 41"/>
            <p:cNvSpPr txBox="1">
              <a:spLocks noChangeArrowheads="1"/>
            </p:cNvSpPr>
            <p:nvPr/>
          </p:nvSpPr>
          <p:spPr bwMode="auto">
            <a:xfrm>
              <a:off x="2127250" y="3792538"/>
              <a:ext cx="928688" cy="42703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-service</a:t>
              </a:r>
              <a:endParaRPr lang="en-US" altLang="ko-KR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7500</a:t>
              </a:r>
            </a:p>
          </p:txBody>
        </p:sp>
        <p:sp>
          <p:nvSpPr>
            <p:cNvPr id="29" name="Text Box 42"/>
            <p:cNvSpPr txBox="1">
              <a:spLocks noChangeArrowheads="1"/>
            </p:cNvSpPr>
            <p:nvPr/>
          </p:nvSpPr>
          <p:spPr bwMode="auto">
            <a:xfrm>
              <a:off x="1382713" y="4022725"/>
              <a:ext cx="928687" cy="4270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-network</a:t>
              </a: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;224.5.5.5</a:t>
              </a:r>
            </a:p>
          </p:txBody>
        </p:sp>
        <p:sp>
          <p:nvSpPr>
            <p:cNvPr id="30" name="Text Box 43"/>
            <p:cNvSpPr txBox="1">
              <a:spLocks noChangeArrowheads="1"/>
            </p:cNvSpPr>
            <p:nvPr/>
          </p:nvSpPr>
          <p:spPr bwMode="auto">
            <a:xfrm>
              <a:off x="5484813" y="2711450"/>
              <a:ext cx="928687" cy="4270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-daemon</a:t>
              </a:r>
              <a:endParaRPr lang="en-US" altLang="ko-KR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7700</a:t>
              </a:r>
            </a:p>
          </p:txBody>
        </p:sp>
        <p:sp>
          <p:nvSpPr>
            <p:cNvPr id="31" name="Text Box 44"/>
            <p:cNvSpPr txBox="1">
              <a:spLocks noChangeArrowheads="1"/>
            </p:cNvSpPr>
            <p:nvPr/>
          </p:nvSpPr>
          <p:spPr bwMode="auto">
            <a:xfrm>
              <a:off x="5457825" y="3778250"/>
              <a:ext cx="928688" cy="4270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-service</a:t>
              </a:r>
              <a:endParaRPr lang="en-US" altLang="ko-KR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7500</a:t>
              </a:r>
            </a:p>
          </p:txBody>
        </p:sp>
        <p:sp>
          <p:nvSpPr>
            <p:cNvPr id="32" name="Text Box 45"/>
            <p:cNvSpPr txBox="1">
              <a:spLocks noChangeArrowheads="1"/>
            </p:cNvSpPr>
            <p:nvPr/>
          </p:nvSpPr>
          <p:spPr bwMode="auto">
            <a:xfrm>
              <a:off x="4724400" y="4008438"/>
              <a:ext cx="928688" cy="42703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-network</a:t>
              </a: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;224.5.5.5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RV Transport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>
                <a:ea typeface="굴림" pitchFamily="50" charset="-127"/>
              </a:rPr>
              <a:t>-daemon </a:t>
            </a:r>
            <a:r>
              <a:rPr lang="ko-KR" altLang="en-US" sz="1800" b="1" dirty="0" err="1">
                <a:ea typeface="굴림" pitchFamily="50" charset="-127"/>
              </a:rPr>
              <a:t>파라미터</a:t>
            </a:r>
            <a:endParaRPr lang="en-US" altLang="ko-KR" sz="1800" b="1" dirty="0">
              <a:ea typeface="굴림" pitchFamily="50" charset="-127"/>
            </a:endParaRP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gray">
          <a:xfrm>
            <a:off x="611560" y="1484784"/>
            <a:ext cx="7920880" cy="163429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App</a:t>
            </a:r>
            <a:r>
              <a:rPr lang="ko-KR" altLang="en-US" sz="1800" dirty="0"/>
              <a:t>은 </a:t>
            </a:r>
            <a:r>
              <a:rPr lang="en-US" altLang="ko-KR" sz="1800" dirty="0"/>
              <a:t>TCP </a:t>
            </a:r>
            <a:r>
              <a:rPr lang="ko-KR" altLang="en-US" sz="1800" dirty="0"/>
              <a:t>프로토콜을 이용하여 </a:t>
            </a:r>
            <a:r>
              <a:rPr lang="en-US" altLang="ko-KR" sz="1800" dirty="0"/>
              <a:t>RVD</a:t>
            </a:r>
            <a:r>
              <a:rPr lang="ko-KR" altLang="en-US" sz="1800" dirty="0"/>
              <a:t>에 접속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TCP </a:t>
            </a:r>
            <a:r>
              <a:rPr lang="ko-KR" altLang="en-US" sz="1800" dirty="0"/>
              <a:t>프로토콜을 정의하기 위한 값</a:t>
            </a:r>
            <a:endParaRPr lang="en-US" altLang="ko-KR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App</a:t>
            </a:r>
            <a:r>
              <a:rPr lang="ko-KR" altLang="en-US" sz="1800" dirty="0" err="1"/>
              <a:t>기동시</a:t>
            </a:r>
            <a:r>
              <a:rPr lang="ko-KR" altLang="en-US" sz="1800" dirty="0"/>
              <a:t> </a:t>
            </a:r>
            <a:r>
              <a:rPr lang="en-US" altLang="ko-KR" sz="1800" dirty="0"/>
              <a:t>RVD</a:t>
            </a:r>
            <a:r>
              <a:rPr lang="ko-KR" altLang="en-US" sz="1800" dirty="0"/>
              <a:t>가 살아 있지 않다면 자동으로 </a:t>
            </a:r>
            <a:r>
              <a:rPr lang="en-US" altLang="ko-KR" sz="1800" dirty="0"/>
              <a:t>RVD </a:t>
            </a:r>
            <a:r>
              <a:rPr lang="ko-KR" altLang="en-US" sz="1800" dirty="0"/>
              <a:t>구동</a:t>
            </a:r>
            <a:endParaRPr lang="en-US" altLang="ko-KR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</a:t>
            </a:r>
            <a:r>
              <a:rPr lang="ko-KR" altLang="en-US" sz="1800" dirty="0"/>
              <a:t>하나 이상의 </a:t>
            </a:r>
            <a:r>
              <a:rPr lang="en-US" altLang="ko-KR" sz="1800" dirty="0"/>
              <a:t>RVD </a:t>
            </a:r>
            <a:r>
              <a:rPr lang="ko-KR" altLang="en-US" sz="1800" dirty="0" err="1"/>
              <a:t>데몬을</a:t>
            </a:r>
            <a:r>
              <a:rPr lang="ko-KR" altLang="en-US" sz="1800" dirty="0"/>
              <a:t> 한 호스트에서 수행 가능</a:t>
            </a:r>
            <a:endParaRPr lang="en-US" altLang="ko-KR" sz="1800" dirty="0"/>
          </a:p>
        </p:txBody>
      </p:sp>
      <p:sp>
        <p:nvSpPr>
          <p:cNvPr id="34" name="타원 33"/>
          <p:cNvSpPr/>
          <p:nvPr/>
        </p:nvSpPr>
        <p:spPr>
          <a:xfrm>
            <a:off x="1619672" y="4941168"/>
            <a:ext cx="720080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/>
          <p:cNvGrpSpPr/>
          <p:nvPr/>
        </p:nvGrpSpPr>
        <p:grpSpPr>
          <a:xfrm>
            <a:off x="1259632" y="3212976"/>
            <a:ext cx="6840760" cy="3111745"/>
            <a:chOff x="1259632" y="3573016"/>
            <a:chExt cx="6840760" cy="3111745"/>
          </a:xfrm>
        </p:grpSpPr>
        <p:pic>
          <p:nvPicPr>
            <p:cNvPr id="33" name="그림 32" descr="rvd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9632" y="3573016"/>
              <a:ext cx="1512168" cy="3111745"/>
            </a:xfrm>
            <a:prstGeom prst="rect">
              <a:avLst/>
            </a:prstGeom>
          </p:spPr>
        </p:pic>
        <p:cxnSp>
          <p:nvCxnSpPr>
            <p:cNvPr id="37" name="직선 연결선 36"/>
            <p:cNvCxnSpPr>
              <a:stCxn id="34" idx="6"/>
            </p:cNvCxnSpPr>
            <p:nvPr/>
          </p:nvCxnSpPr>
          <p:spPr>
            <a:xfrm flipV="1">
              <a:off x="2339752" y="4437112"/>
              <a:ext cx="1944216" cy="86409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/>
            <p:cNvSpPr/>
            <p:nvPr/>
          </p:nvSpPr>
          <p:spPr>
            <a:xfrm>
              <a:off x="4283968" y="4149080"/>
              <a:ext cx="3816424" cy="12241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499992" y="3933056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TCP </a:t>
            </a:r>
            <a:r>
              <a:rPr lang="ko-KR" altLang="en-US" dirty="0"/>
              <a:t>프로토콜 사용</a:t>
            </a:r>
            <a:endParaRPr lang="en-US" altLang="ko-KR" dirty="0"/>
          </a:p>
          <a:p>
            <a:r>
              <a:rPr lang="en-US" altLang="ko-KR" dirty="0"/>
              <a:t>RV</a:t>
            </a:r>
            <a:r>
              <a:rPr lang="ko-KR" altLang="en-US" dirty="0"/>
              <a:t>는 </a:t>
            </a:r>
            <a:r>
              <a:rPr lang="en-US" altLang="ko-KR" dirty="0"/>
              <a:t>Default</a:t>
            </a:r>
            <a:r>
              <a:rPr lang="ko-KR" altLang="en-US" dirty="0"/>
              <a:t>로 </a:t>
            </a:r>
            <a:r>
              <a:rPr lang="en-US" altLang="ko-KR" dirty="0"/>
              <a:t>7500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en-US" altLang="ko-KR" dirty="0"/>
              <a:t>Hawk</a:t>
            </a:r>
            <a:r>
              <a:rPr lang="ko-KR" altLang="en-US" dirty="0"/>
              <a:t>는 </a:t>
            </a:r>
            <a:r>
              <a:rPr lang="en-US" altLang="ko-KR" dirty="0"/>
              <a:t>Default</a:t>
            </a:r>
            <a:r>
              <a:rPr lang="ko-KR" altLang="en-US" dirty="0"/>
              <a:t>로 </a:t>
            </a:r>
            <a:r>
              <a:rPr lang="en-US" altLang="ko-KR" dirty="0"/>
              <a:t>7474 </a:t>
            </a:r>
            <a:r>
              <a:rPr lang="ko-KR" altLang="en-US" dirty="0"/>
              <a:t>사용</a:t>
            </a:r>
          </a:p>
        </p:txBody>
      </p:sp>
      <p:sp>
        <p:nvSpPr>
          <p:cNvPr id="41" name="타원 40"/>
          <p:cNvSpPr/>
          <p:nvPr/>
        </p:nvSpPr>
        <p:spPr>
          <a:xfrm>
            <a:off x="1619672" y="4653136"/>
            <a:ext cx="720080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RV Transport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>
                <a:ea typeface="굴림" pitchFamily="50" charset="-127"/>
              </a:rPr>
              <a:t>- service </a:t>
            </a:r>
            <a:r>
              <a:rPr lang="ko-KR" altLang="en-US" sz="1800" b="1" dirty="0" err="1">
                <a:ea typeface="굴림" pitchFamily="50" charset="-127"/>
              </a:rPr>
              <a:t>파라미터</a:t>
            </a:r>
            <a:endParaRPr lang="en-US" altLang="ko-KR" sz="1800" b="1" dirty="0">
              <a:ea typeface="굴림" pitchFamily="50" charset="-127"/>
            </a:endParaRP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gray">
          <a:xfrm>
            <a:off x="611560" y="1484784"/>
            <a:ext cx="7920880" cy="163429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</a:t>
            </a:r>
            <a:r>
              <a:rPr lang="en-US" altLang="ko-KR" sz="1800" dirty="0" err="1"/>
              <a:t>Rvd</a:t>
            </a:r>
            <a:r>
              <a:rPr lang="ko-KR" altLang="en-US" sz="1800" dirty="0"/>
              <a:t>가 네트워크를 통하여 통신하기 위한 </a:t>
            </a:r>
            <a:r>
              <a:rPr lang="en-US" altLang="ko-KR" sz="1800" dirty="0"/>
              <a:t>UDP port</a:t>
            </a:r>
            <a:endParaRPr lang="ko-KR" altLang="en-US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</a:t>
            </a:r>
            <a:r>
              <a:rPr lang="ko-KR" altLang="en-US" sz="1800" dirty="0"/>
              <a:t>각 </a:t>
            </a:r>
            <a:r>
              <a:rPr lang="en-US" altLang="ko-KR" sz="1800" dirty="0"/>
              <a:t>Transport</a:t>
            </a:r>
            <a:r>
              <a:rPr lang="ko-KR" altLang="en-US" sz="1800" dirty="0"/>
              <a:t>는 하나의 </a:t>
            </a:r>
            <a:r>
              <a:rPr lang="en-US" altLang="ko-KR" sz="1800" dirty="0"/>
              <a:t>service </a:t>
            </a:r>
            <a:r>
              <a:rPr lang="ko-KR" altLang="en-US" sz="1800" dirty="0"/>
              <a:t>포트를 통해 </a:t>
            </a:r>
            <a:r>
              <a:rPr lang="en-US" altLang="ko-KR" sz="1800" dirty="0"/>
              <a:t>data </a:t>
            </a:r>
            <a:r>
              <a:rPr lang="ko-KR" altLang="en-US" sz="1800" dirty="0"/>
              <a:t>송수신</a:t>
            </a:r>
            <a:endParaRPr lang="en-US" altLang="ko-KR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</a:t>
            </a:r>
            <a:r>
              <a:rPr lang="ko-KR" altLang="en-US" sz="1800" dirty="0"/>
              <a:t>하나의 </a:t>
            </a:r>
            <a:r>
              <a:rPr lang="en-US" altLang="ko-KR" sz="1800" dirty="0" err="1"/>
              <a:t>rv</a:t>
            </a:r>
            <a:r>
              <a:rPr lang="en-US" altLang="ko-KR" sz="1800" dirty="0"/>
              <a:t> </a:t>
            </a:r>
            <a:r>
              <a:rPr lang="ko-KR" altLang="en-US" sz="1800" dirty="0" err="1"/>
              <a:t>데몬만이</a:t>
            </a:r>
            <a:r>
              <a:rPr lang="ko-KR" altLang="en-US" sz="1800" dirty="0"/>
              <a:t> 하나의 </a:t>
            </a:r>
            <a:r>
              <a:rPr lang="en-US" altLang="ko-KR" sz="1800" dirty="0"/>
              <a:t>service </a:t>
            </a:r>
            <a:r>
              <a:rPr lang="ko-KR" altLang="en-US" sz="1800" dirty="0"/>
              <a:t>포트를 점유</a:t>
            </a:r>
            <a:endParaRPr lang="en-US" altLang="ko-KR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</a:t>
            </a:r>
            <a:r>
              <a:rPr lang="en-US" altLang="ko-KR" sz="1800" dirty="0" err="1"/>
              <a:t>rv</a:t>
            </a:r>
            <a:r>
              <a:rPr lang="en-US" altLang="ko-KR" sz="1800" dirty="0"/>
              <a:t> </a:t>
            </a:r>
            <a:r>
              <a:rPr lang="ko-KR" altLang="en-US" sz="1800" dirty="0" err="1"/>
              <a:t>데몬은</a:t>
            </a:r>
            <a:r>
              <a:rPr lang="ko-KR" altLang="en-US" sz="1800" dirty="0"/>
              <a:t> 여러 </a:t>
            </a:r>
            <a:r>
              <a:rPr lang="en-US" altLang="ko-KR" sz="1800" dirty="0"/>
              <a:t>service </a:t>
            </a:r>
            <a:r>
              <a:rPr lang="ko-KR" altLang="en-US" sz="1800" dirty="0"/>
              <a:t>포토 사용 가능</a:t>
            </a:r>
            <a:endParaRPr lang="en-US" altLang="ko-KR" sz="1800" dirty="0"/>
          </a:p>
        </p:txBody>
      </p:sp>
      <p:sp>
        <p:nvSpPr>
          <p:cNvPr id="34" name="타원 33"/>
          <p:cNvSpPr/>
          <p:nvPr/>
        </p:nvSpPr>
        <p:spPr>
          <a:xfrm>
            <a:off x="1619672" y="4941168"/>
            <a:ext cx="720080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39"/>
          <p:cNvGrpSpPr/>
          <p:nvPr/>
        </p:nvGrpSpPr>
        <p:grpSpPr>
          <a:xfrm>
            <a:off x="1259632" y="3212976"/>
            <a:ext cx="6840760" cy="3111745"/>
            <a:chOff x="1259632" y="3573016"/>
            <a:chExt cx="6840760" cy="3111745"/>
          </a:xfrm>
        </p:grpSpPr>
        <p:pic>
          <p:nvPicPr>
            <p:cNvPr id="33" name="그림 32" descr="rvd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9632" y="3573016"/>
              <a:ext cx="1512168" cy="3111745"/>
            </a:xfrm>
            <a:prstGeom prst="rect">
              <a:avLst/>
            </a:prstGeom>
          </p:spPr>
        </p:pic>
        <p:cxnSp>
          <p:nvCxnSpPr>
            <p:cNvPr id="37" name="직선 연결선 36"/>
            <p:cNvCxnSpPr/>
            <p:nvPr/>
          </p:nvCxnSpPr>
          <p:spPr>
            <a:xfrm flipV="1">
              <a:off x="2339752" y="5157192"/>
              <a:ext cx="1944216" cy="86409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/>
            <p:cNvSpPr/>
            <p:nvPr/>
          </p:nvSpPr>
          <p:spPr>
            <a:xfrm>
              <a:off x="4283968" y="4869160"/>
              <a:ext cx="3816424" cy="12241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572000" y="4653136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TCP </a:t>
            </a:r>
            <a:r>
              <a:rPr lang="ko-KR" altLang="en-US" dirty="0"/>
              <a:t>프로토콜 사용</a:t>
            </a:r>
            <a:endParaRPr lang="en-US" altLang="ko-KR" dirty="0"/>
          </a:p>
          <a:p>
            <a:r>
              <a:rPr lang="en-US" altLang="ko-KR" dirty="0"/>
              <a:t>RV</a:t>
            </a:r>
            <a:r>
              <a:rPr lang="ko-KR" altLang="en-US" dirty="0"/>
              <a:t>는 </a:t>
            </a:r>
            <a:r>
              <a:rPr lang="en-US" altLang="ko-KR" dirty="0"/>
              <a:t>Default</a:t>
            </a:r>
            <a:r>
              <a:rPr lang="ko-KR" altLang="en-US" dirty="0"/>
              <a:t>로 </a:t>
            </a:r>
            <a:r>
              <a:rPr lang="en-US" altLang="ko-KR" dirty="0"/>
              <a:t>7500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en-US" altLang="ko-KR" dirty="0"/>
              <a:t>Hawk</a:t>
            </a:r>
            <a:r>
              <a:rPr lang="ko-KR" altLang="en-US" dirty="0"/>
              <a:t>는 </a:t>
            </a:r>
            <a:r>
              <a:rPr lang="en-US" altLang="ko-KR" dirty="0"/>
              <a:t>Default</a:t>
            </a:r>
            <a:r>
              <a:rPr lang="ko-KR" altLang="en-US" dirty="0"/>
              <a:t>로 </a:t>
            </a:r>
            <a:r>
              <a:rPr lang="en-US" altLang="ko-KR" dirty="0"/>
              <a:t>7474 </a:t>
            </a:r>
            <a:r>
              <a:rPr lang="ko-KR" altLang="en-US" dirty="0"/>
              <a:t>사용</a:t>
            </a:r>
          </a:p>
        </p:txBody>
      </p:sp>
      <p:sp>
        <p:nvSpPr>
          <p:cNvPr id="13" name="타원 12"/>
          <p:cNvSpPr/>
          <p:nvPr/>
        </p:nvSpPr>
        <p:spPr>
          <a:xfrm>
            <a:off x="1619672" y="5517232"/>
            <a:ext cx="720080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RV Transport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>
                <a:ea typeface="굴림" pitchFamily="50" charset="-127"/>
              </a:rPr>
              <a:t>- network </a:t>
            </a:r>
            <a:r>
              <a:rPr lang="ko-KR" altLang="en-US" sz="1800" b="1" dirty="0" err="1">
                <a:ea typeface="굴림" pitchFamily="50" charset="-127"/>
              </a:rPr>
              <a:t>파라미터</a:t>
            </a:r>
            <a:endParaRPr lang="en-US" altLang="ko-KR" sz="1800" b="1" dirty="0">
              <a:ea typeface="굴림" pitchFamily="50" charset="-127"/>
            </a:endParaRP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gray">
          <a:xfrm>
            <a:off x="611560" y="1484784"/>
            <a:ext cx="7920880" cy="207749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Broadcast, Multicast</a:t>
            </a:r>
            <a:r>
              <a:rPr lang="ko-KR" altLang="en-US" sz="1800" dirty="0"/>
              <a:t>를 결정하는 </a:t>
            </a:r>
            <a:r>
              <a:rPr lang="ko-KR" altLang="en-US" sz="1800" dirty="0" err="1"/>
              <a:t>파라미터</a:t>
            </a:r>
            <a:endParaRPr lang="ko-KR" altLang="en-US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3</a:t>
            </a:r>
            <a:r>
              <a:rPr lang="ko-KR" altLang="en-US" sz="1800" dirty="0"/>
              <a:t>개의 </a:t>
            </a:r>
            <a:r>
              <a:rPr lang="en-US" altLang="ko-KR" sz="1800" dirty="0"/>
              <a:t>part</a:t>
            </a:r>
            <a:r>
              <a:rPr lang="ko-KR" altLang="en-US" sz="1800" dirty="0"/>
              <a:t>로 구성됨</a:t>
            </a:r>
            <a:r>
              <a:rPr lang="en-US" altLang="ko-KR" sz="1800" dirty="0"/>
              <a:t>. ( part1;part2;part3)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default </a:t>
            </a:r>
            <a:r>
              <a:rPr lang="ko-KR" altLang="en-US" sz="1800" dirty="0"/>
              <a:t>설정은 </a:t>
            </a:r>
            <a:r>
              <a:rPr lang="en-US" altLang="ko-KR" sz="1800" dirty="0"/>
              <a:t>Broadcast.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800" dirty="0"/>
              <a:t>  Multicast</a:t>
            </a:r>
            <a:r>
              <a:rPr lang="ko-KR" altLang="en-US" sz="1800" dirty="0"/>
              <a:t>를 수행하기 위해서 </a:t>
            </a:r>
            <a:r>
              <a:rPr lang="en-US" altLang="ko-KR" sz="1800" dirty="0"/>
              <a:t>part2</a:t>
            </a:r>
            <a:r>
              <a:rPr lang="ko-KR" altLang="en-US" sz="1800" dirty="0"/>
              <a:t>에 </a:t>
            </a:r>
            <a:r>
              <a:rPr lang="en-US" altLang="ko-KR" sz="1800" dirty="0"/>
              <a:t>IP</a:t>
            </a:r>
            <a:r>
              <a:rPr lang="ko-KR" altLang="en-US" sz="1800" dirty="0"/>
              <a:t>지정</a:t>
            </a:r>
            <a:endParaRPr lang="en-US" altLang="ko-KR" sz="18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ko-KR" altLang="en-US" sz="1800" dirty="0"/>
              <a:t> </a:t>
            </a:r>
            <a:r>
              <a:rPr lang="en-US" altLang="ko-KR" sz="1800" dirty="0"/>
              <a:t>( ;239.5.1.2; )</a:t>
            </a:r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RV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구성 예제</a:t>
            </a:r>
            <a:endParaRPr lang="ko-KR" altLang="ko-KR" sz="20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>
                <a:ea typeface="굴림" pitchFamily="50" charset="-127"/>
              </a:rPr>
              <a:t>RV </a:t>
            </a:r>
            <a:r>
              <a:rPr lang="ko-KR" altLang="en-US" sz="1800" b="1" dirty="0">
                <a:ea typeface="굴림" pitchFamily="50" charset="-127"/>
              </a:rPr>
              <a:t>구성 예제</a:t>
            </a:r>
            <a:endParaRPr lang="en-US" altLang="ko-KR" sz="1800" b="1" dirty="0">
              <a:ea typeface="굴림" pitchFamily="50" charset="-127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467544" y="1772816"/>
            <a:ext cx="8286750" cy="4335463"/>
            <a:chOff x="428625" y="1261269"/>
            <a:chExt cx="8286750" cy="4335463"/>
          </a:xfrm>
        </p:grpSpPr>
        <p:grpSp>
          <p:nvGrpSpPr>
            <p:cNvPr id="8" name="Group 4"/>
            <p:cNvGrpSpPr>
              <a:grpSpLocks/>
            </p:cNvGrpSpPr>
            <p:nvPr/>
          </p:nvGrpSpPr>
          <p:grpSpPr bwMode="auto">
            <a:xfrm>
              <a:off x="428625" y="4798219"/>
              <a:ext cx="8286750" cy="785813"/>
              <a:chOff x="1197" y="2009"/>
              <a:chExt cx="3498" cy="432"/>
            </a:xfrm>
          </p:grpSpPr>
          <p:sp>
            <p:nvSpPr>
              <p:cNvPr id="82" name="Rectangle 5"/>
              <p:cNvSpPr>
                <a:spLocks noChangeArrowheads="1"/>
              </p:cNvSpPr>
              <p:nvPr/>
            </p:nvSpPr>
            <p:spPr bwMode="auto">
              <a:xfrm>
                <a:off x="1272" y="2009"/>
                <a:ext cx="3360" cy="432"/>
              </a:xfrm>
              <a:prstGeom prst="rect">
                <a:avLst/>
              </a:prstGeom>
              <a:gradFill rotWithShape="0">
                <a:gsLst>
                  <a:gs pos="0">
                    <a:srgbClr val="FFCC00"/>
                  </a:gs>
                  <a:gs pos="50000">
                    <a:srgbClr val="FFCC00">
                      <a:gamma/>
                      <a:tint val="0"/>
                      <a:invGamma/>
                    </a:srgbClr>
                  </a:gs>
                  <a:gs pos="100000">
                    <a:srgbClr val="FFCC00"/>
                  </a:gs>
                </a:gsLst>
                <a:lin ang="5400000" scaled="1"/>
              </a:gra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 anchorCtr="1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83" name="Oval 6"/>
              <p:cNvSpPr>
                <a:spLocks noChangeArrowheads="1"/>
              </p:cNvSpPr>
              <p:nvPr/>
            </p:nvSpPr>
            <p:spPr bwMode="auto">
              <a:xfrm>
                <a:off x="1197" y="2009"/>
                <a:ext cx="144" cy="432"/>
              </a:xfrm>
              <a:prstGeom prst="ellipse">
                <a:avLst/>
              </a:prstGeom>
              <a:solidFill>
                <a:srgbClr val="CC9900"/>
              </a:solidFill>
              <a:ln w="38100">
                <a:noFill/>
                <a:round/>
                <a:headEnd/>
                <a:tailEnd/>
              </a:ln>
              <a:effectLst/>
            </p:spPr>
            <p:txBody>
              <a:bodyPr wrap="none" anchor="ctr" anchorCtr="1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84" name="Oval 7"/>
              <p:cNvSpPr>
                <a:spLocks noChangeArrowheads="1"/>
              </p:cNvSpPr>
              <p:nvPr/>
            </p:nvSpPr>
            <p:spPr bwMode="auto">
              <a:xfrm>
                <a:off x="4551" y="2009"/>
                <a:ext cx="144" cy="432"/>
              </a:xfrm>
              <a:prstGeom prst="ellipse">
                <a:avLst/>
              </a:prstGeom>
              <a:gradFill rotWithShape="0">
                <a:gsLst>
                  <a:gs pos="0">
                    <a:srgbClr val="FFCC00"/>
                  </a:gs>
                  <a:gs pos="50000">
                    <a:srgbClr val="FFCC00">
                      <a:gamma/>
                      <a:tint val="0"/>
                      <a:invGamma/>
                    </a:srgbClr>
                  </a:gs>
                  <a:gs pos="100000">
                    <a:srgbClr val="FFCC00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  <a:effectLst/>
            </p:spPr>
            <p:txBody>
              <a:bodyPr wrap="none" anchor="ctr" anchorCtr="1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</p:grp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800100" y="1266032"/>
              <a:ext cx="5373688" cy="289242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430963" y="1261269"/>
              <a:ext cx="2101850" cy="291147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grpSp>
          <p:nvGrpSpPr>
            <p:cNvPr id="11" name="Group 75"/>
            <p:cNvGrpSpPr>
              <a:grpSpLocks/>
            </p:cNvGrpSpPr>
            <p:nvPr/>
          </p:nvGrpSpPr>
          <p:grpSpPr bwMode="auto">
            <a:xfrm>
              <a:off x="1038225" y="1962944"/>
              <a:ext cx="933450" cy="782638"/>
              <a:chOff x="639" y="1570"/>
              <a:chExt cx="588" cy="493"/>
            </a:xfrm>
          </p:grpSpPr>
          <p:sp>
            <p:nvSpPr>
              <p:cNvPr id="78" name="Rectangle 10"/>
              <p:cNvSpPr>
                <a:spLocks noChangeArrowheads="1"/>
              </p:cNvSpPr>
              <p:nvPr/>
            </p:nvSpPr>
            <p:spPr bwMode="auto">
              <a:xfrm>
                <a:off x="639" y="1570"/>
                <a:ext cx="588" cy="284"/>
              </a:xfrm>
              <a:prstGeom prst="rect">
                <a:avLst/>
              </a:prstGeom>
              <a:solidFill>
                <a:srgbClr val="DDDDDD">
                  <a:alpha val="85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9" name="Rectangle 11"/>
              <p:cNvSpPr>
                <a:spLocks noChangeArrowheads="1"/>
              </p:cNvSpPr>
              <p:nvPr/>
            </p:nvSpPr>
            <p:spPr bwMode="auto">
              <a:xfrm>
                <a:off x="639" y="1852"/>
                <a:ext cx="588" cy="211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80" name="Text Box 14"/>
              <p:cNvSpPr txBox="1">
                <a:spLocks noChangeArrowheads="1"/>
              </p:cNvSpPr>
              <p:nvPr/>
            </p:nvSpPr>
            <p:spPr bwMode="auto">
              <a:xfrm>
                <a:off x="687" y="1611"/>
                <a:ext cx="49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>
                    <a:solidFill>
                      <a:srgbClr val="000000"/>
                    </a:solidFill>
                    <a:ea typeface="굴림" pitchFamily="50" charset="-127"/>
                  </a:rPr>
                  <a:t>Sender</a:t>
                </a:r>
              </a:p>
            </p:txBody>
          </p:sp>
          <p:sp>
            <p:nvSpPr>
              <p:cNvPr id="81" name="Text Box 16"/>
              <p:cNvSpPr txBox="1">
                <a:spLocks noChangeArrowheads="1"/>
              </p:cNvSpPr>
              <p:nvPr/>
            </p:nvSpPr>
            <p:spPr bwMode="auto">
              <a:xfrm>
                <a:off x="678" y="1868"/>
                <a:ext cx="49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 i="1">
                    <a:solidFill>
                      <a:schemeClr val="tx1"/>
                    </a:solidFill>
                    <a:ea typeface="굴림" pitchFamily="50" charset="-127"/>
                  </a:rPr>
                  <a:t>RV API</a:t>
                </a:r>
              </a:p>
            </p:txBody>
          </p:sp>
        </p:grp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>
              <a:off x="1503363" y="2751932"/>
              <a:ext cx="655637" cy="738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3" name="Line 19"/>
            <p:cNvSpPr>
              <a:spLocks noChangeShapeType="1"/>
            </p:cNvSpPr>
            <p:nvPr/>
          </p:nvSpPr>
          <p:spPr bwMode="auto">
            <a:xfrm>
              <a:off x="4156075" y="2753519"/>
              <a:ext cx="0" cy="7508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4" name="Text Box 20"/>
            <p:cNvSpPr txBox="1">
              <a:spLocks noChangeArrowheads="1"/>
            </p:cNvSpPr>
            <p:nvPr/>
          </p:nvSpPr>
          <p:spPr bwMode="auto">
            <a:xfrm>
              <a:off x="1033463" y="2980532"/>
              <a:ext cx="80010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tcp:7500</a:t>
              </a:r>
            </a:p>
          </p:txBody>
        </p:sp>
        <p:sp>
          <p:nvSpPr>
            <p:cNvPr id="15" name="Text Box 21"/>
            <p:cNvSpPr txBox="1">
              <a:spLocks noChangeArrowheads="1"/>
            </p:cNvSpPr>
            <p:nvPr/>
          </p:nvSpPr>
          <p:spPr bwMode="auto">
            <a:xfrm>
              <a:off x="3765550" y="2972594"/>
              <a:ext cx="800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tcp:7600</a:t>
              </a:r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>
              <a:off x="1684338" y="4928394"/>
              <a:ext cx="6710362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7" name="Line 23"/>
            <p:cNvSpPr>
              <a:spLocks noChangeShapeType="1"/>
            </p:cNvSpPr>
            <p:nvPr/>
          </p:nvSpPr>
          <p:spPr bwMode="auto">
            <a:xfrm>
              <a:off x="1695450" y="5437982"/>
              <a:ext cx="6710363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8" name="Text Box 24"/>
            <p:cNvSpPr txBox="1">
              <a:spLocks noChangeArrowheads="1"/>
            </p:cNvSpPr>
            <p:nvPr/>
          </p:nvSpPr>
          <p:spPr bwMode="auto">
            <a:xfrm>
              <a:off x="746125" y="4795044"/>
              <a:ext cx="96043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udp:7500</a:t>
              </a:r>
            </a:p>
          </p:txBody>
        </p:sp>
        <p:sp>
          <p:nvSpPr>
            <p:cNvPr id="19" name="Text Box 25"/>
            <p:cNvSpPr txBox="1">
              <a:spLocks noChangeArrowheads="1"/>
            </p:cNvSpPr>
            <p:nvPr/>
          </p:nvSpPr>
          <p:spPr bwMode="auto">
            <a:xfrm>
              <a:off x="742950" y="5291932"/>
              <a:ext cx="96043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udp:8500</a:t>
              </a:r>
            </a:p>
          </p:txBody>
        </p:sp>
        <p:sp>
          <p:nvSpPr>
            <p:cNvPr id="20" name="Line 26"/>
            <p:cNvSpPr>
              <a:spLocks noChangeShapeType="1"/>
            </p:cNvSpPr>
            <p:nvPr/>
          </p:nvSpPr>
          <p:spPr bwMode="auto">
            <a:xfrm>
              <a:off x="2092325" y="3888582"/>
              <a:ext cx="0" cy="10017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1" name="Line 27"/>
            <p:cNvSpPr>
              <a:spLocks noChangeShapeType="1"/>
            </p:cNvSpPr>
            <p:nvPr/>
          </p:nvSpPr>
          <p:spPr bwMode="auto">
            <a:xfrm>
              <a:off x="4156075" y="4058444"/>
              <a:ext cx="0" cy="1157288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2" name="Line 28"/>
            <p:cNvSpPr>
              <a:spLocks noChangeShapeType="1"/>
            </p:cNvSpPr>
            <p:nvPr/>
          </p:nvSpPr>
          <p:spPr bwMode="auto">
            <a:xfrm>
              <a:off x="7612063" y="4069557"/>
              <a:ext cx="0" cy="138430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3" name="AutoShape 29"/>
            <p:cNvSpPr>
              <a:spLocks noChangeArrowheads="1"/>
            </p:cNvSpPr>
            <p:nvPr/>
          </p:nvSpPr>
          <p:spPr bwMode="auto">
            <a:xfrm flipV="1">
              <a:off x="1868488" y="3504407"/>
              <a:ext cx="679450" cy="5667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4" name="Text Box 30"/>
            <p:cNvSpPr txBox="1">
              <a:spLocks noChangeArrowheads="1"/>
            </p:cNvSpPr>
            <p:nvPr/>
          </p:nvSpPr>
          <p:spPr bwMode="auto">
            <a:xfrm>
              <a:off x="1924050" y="3504407"/>
              <a:ext cx="56038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25" name="Text Box 33"/>
            <p:cNvSpPr txBox="1">
              <a:spLocks noChangeArrowheads="1"/>
            </p:cNvSpPr>
            <p:nvPr/>
          </p:nvSpPr>
          <p:spPr bwMode="auto">
            <a:xfrm>
              <a:off x="860425" y="1453357"/>
              <a:ext cx="1185863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7500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7500</a:t>
              </a:r>
            </a:p>
          </p:txBody>
        </p:sp>
        <p:sp>
          <p:nvSpPr>
            <p:cNvPr id="26" name="Line 38"/>
            <p:cNvSpPr>
              <a:spLocks noChangeShapeType="1"/>
            </p:cNvSpPr>
            <p:nvPr/>
          </p:nvSpPr>
          <p:spPr bwMode="auto">
            <a:xfrm flipH="1">
              <a:off x="2190750" y="2747169"/>
              <a:ext cx="655638" cy="768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7" name="Text Box 39"/>
            <p:cNvSpPr txBox="1">
              <a:spLocks noChangeArrowheads="1"/>
            </p:cNvSpPr>
            <p:nvPr/>
          </p:nvSpPr>
          <p:spPr bwMode="auto">
            <a:xfrm>
              <a:off x="2517775" y="2975769"/>
              <a:ext cx="800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tcp:7500</a:t>
              </a:r>
            </a:p>
          </p:txBody>
        </p:sp>
        <p:sp>
          <p:nvSpPr>
            <p:cNvPr id="28" name="Line 40"/>
            <p:cNvSpPr>
              <a:spLocks noChangeShapeType="1"/>
            </p:cNvSpPr>
            <p:nvPr/>
          </p:nvSpPr>
          <p:spPr bwMode="auto">
            <a:xfrm>
              <a:off x="1695450" y="5188744"/>
              <a:ext cx="6710363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9" name="Oval 41"/>
            <p:cNvSpPr>
              <a:spLocks noChangeArrowheads="1"/>
            </p:cNvSpPr>
            <p:nvPr/>
          </p:nvSpPr>
          <p:spPr bwMode="auto">
            <a:xfrm>
              <a:off x="2005013" y="4826794"/>
              <a:ext cx="142875" cy="155575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0" name="Line 42"/>
            <p:cNvSpPr>
              <a:spLocks noChangeShapeType="1"/>
            </p:cNvSpPr>
            <p:nvPr/>
          </p:nvSpPr>
          <p:spPr bwMode="auto">
            <a:xfrm>
              <a:off x="2332038" y="3877469"/>
              <a:ext cx="0" cy="1330325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1" name="Text Box 43"/>
            <p:cNvSpPr txBox="1">
              <a:spLocks noChangeArrowheads="1"/>
            </p:cNvSpPr>
            <p:nvPr/>
          </p:nvSpPr>
          <p:spPr bwMode="auto">
            <a:xfrm>
              <a:off x="2214563" y="1458119"/>
              <a:ext cx="1185862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7500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8000</a:t>
              </a:r>
            </a:p>
          </p:txBody>
        </p:sp>
        <p:sp>
          <p:nvSpPr>
            <p:cNvPr id="32" name="Text Box 44"/>
            <p:cNvSpPr txBox="1">
              <a:spLocks noChangeArrowheads="1"/>
            </p:cNvSpPr>
            <p:nvPr/>
          </p:nvSpPr>
          <p:spPr bwMode="auto">
            <a:xfrm>
              <a:off x="747713" y="5045869"/>
              <a:ext cx="96043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udp:8000</a:t>
              </a:r>
            </a:p>
          </p:txBody>
        </p:sp>
        <p:sp>
          <p:nvSpPr>
            <p:cNvPr id="33" name="Oval 45"/>
            <p:cNvSpPr>
              <a:spLocks noChangeArrowheads="1"/>
            </p:cNvSpPr>
            <p:nvPr/>
          </p:nvSpPr>
          <p:spPr bwMode="auto">
            <a:xfrm>
              <a:off x="2254250" y="5099844"/>
              <a:ext cx="141288" cy="15557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4" name="Text Box 46"/>
            <p:cNvSpPr txBox="1">
              <a:spLocks noChangeArrowheads="1"/>
            </p:cNvSpPr>
            <p:nvPr/>
          </p:nvSpPr>
          <p:spPr bwMode="auto">
            <a:xfrm>
              <a:off x="3549650" y="1461294"/>
              <a:ext cx="1185863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7600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8000</a:t>
              </a:r>
            </a:p>
          </p:txBody>
        </p:sp>
        <p:sp>
          <p:nvSpPr>
            <p:cNvPr id="35" name="Oval 47"/>
            <p:cNvSpPr>
              <a:spLocks noChangeArrowheads="1"/>
            </p:cNvSpPr>
            <p:nvPr/>
          </p:nvSpPr>
          <p:spPr bwMode="auto">
            <a:xfrm>
              <a:off x="4079875" y="5098257"/>
              <a:ext cx="142875" cy="15557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grpSp>
          <p:nvGrpSpPr>
            <p:cNvPr id="37" name="Group 48"/>
            <p:cNvGrpSpPr>
              <a:grpSpLocks/>
            </p:cNvGrpSpPr>
            <p:nvPr/>
          </p:nvGrpSpPr>
          <p:grpSpPr bwMode="auto">
            <a:xfrm>
              <a:off x="4041775" y="4371182"/>
              <a:ext cx="222250" cy="217487"/>
              <a:chOff x="3164" y="2949"/>
              <a:chExt cx="197" cy="172"/>
            </a:xfrm>
          </p:grpSpPr>
          <p:sp>
            <p:nvSpPr>
              <p:cNvPr id="76" name="Line 49"/>
              <p:cNvSpPr>
                <a:spLocks noChangeShapeType="1"/>
              </p:cNvSpPr>
              <p:nvPr/>
            </p:nvSpPr>
            <p:spPr bwMode="auto">
              <a:xfrm flipH="1">
                <a:off x="3172" y="2949"/>
                <a:ext cx="181" cy="1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7" name="Line 50"/>
              <p:cNvSpPr>
                <a:spLocks noChangeShapeType="1"/>
              </p:cNvSpPr>
              <p:nvPr/>
            </p:nvSpPr>
            <p:spPr bwMode="auto">
              <a:xfrm>
                <a:off x="3164" y="2957"/>
                <a:ext cx="197" cy="16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</p:grpSp>
        <p:sp>
          <p:nvSpPr>
            <p:cNvPr id="38" name="Line 55"/>
            <p:cNvSpPr>
              <a:spLocks noChangeShapeType="1"/>
            </p:cNvSpPr>
            <p:nvPr/>
          </p:nvSpPr>
          <p:spPr bwMode="auto">
            <a:xfrm>
              <a:off x="5475288" y="2740819"/>
              <a:ext cx="0" cy="7508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9" name="Text Box 56"/>
            <p:cNvSpPr txBox="1">
              <a:spLocks noChangeArrowheads="1"/>
            </p:cNvSpPr>
            <p:nvPr/>
          </p:nvSpPr>
          <p:spPr bwMode="auto">
            <a:xfrm>
              <a:off x="5084763" y="2982119"/>
              <a:ext cx="800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tcp:7600</a:t>
              </a:r>
            </a:p>
          </p:txBody>
        </p:sp>
        <p:sp>
          <p:nvSpPr>
            <p:cNvPr id="40" name="Text Box 59"/>
            <p:cNvSpPr txBox="1">
              <a:spLocks noChangeArrowheads="1"/>
            </p:cNvSpPr>
            <p:nvPr/>
          </p:nvSpPr>
          <p:spPr bwMode="auto">
            <a:xfrm>
              <a:off x="4846638" y="1459707"/>
              <a:ext cx="1185862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7600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8500</a:t>
              </a:r>
            </a:p>
          </p:txBody>
        </p:sp>
        <p:sp>
          <p:nvSpPr>
            <p:cNvPr id="41" name="Line 60"/>
            <p:cNvSpPr>
              <a:spLocks noChangeShapeType="1"/>
            </p:cNvSpPr>
            <p:nvPr/>
          </p:nvSpPr>
          <p:spPr bwMode="auto">
            <a:xfrm>
              <a:off x="5478463" y="4060032"/>
              <a:ext cx="0" cy="1366837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2" name="Oval 61"/>
            <p:cNvSpPr>
              <a:spLocks noChangeArrowheads="1"/>
            </p:cNvSpPr>
            <p:nvPr/>
          </p:nvSpPr>
          <p:spPr bwMode="auto">
            <a:xfrm>
              <a:off x="5399088" y="5350669"/>
              <a:ext cx="142875" cy="155575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3" name="Text Box 62"/>
            <p:cNvSpPr txBox="1">
              <a:spLocks noChangeArrowheads="1"/>
            </p:cNvSpPr>
            <p:nvPr/>
          </p:nvSpPr>
          <p:spPr bwMode="auto">
            <a:xfrm>
              <a:off x="877888" y="3896519"/>
              <a:ext cx="1230312" cy="260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rvd –listen 7500</a:t>
              </a:r>
            </a:p>
          </p:txBody>
        </p:sp>
        <p:sp>
          <p:nvSpPr>
            <p:cNvPr id="44" name="Text Box 63"/>
            <p:cNvSpPr txBox="1">
              <a:spLocks noChangeArrowheads="1"/>
            </p:cNvSpPr>
            <p:nvPr/>
          </p:nvSpPr>
          <p:spPr bwMode="auto">
            <a:xfrm>
              <a:off x="2886075" y="3898107"/>
              <a:ext cx="1230313" cy="260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rvd –listen 7600</a:t>
              </a:r>
            </a:p>
          </p:txBody>
        </p:sp>
        <p:sp>
          <p:nvSpPr>
            <p:cNvPr id="45" name="Text Box 64"/>
            <p:cNvSpPr txBox="1">
              <a:spLocks noChangeArrowheads="1"/>
            </p:cNvSpPr>
            <p:nvPr/>
          </p:nvSpPr>
          <p:spPr bwMode="auto">
            <a:xfrm>
              <a:off x="4246563" y="3883819"/>
              <a:ext cx="1230312" cy="260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rvd –listen 7600</a:t>
              </a:r>
            </a:p>
          </p:txBody>
        </p:sp>
        <p:sp>
          <p:nvSpPr>
            <p:cNvPr id="46" name="Line 69"/>
            <p:cNvSpPr>
              <a:spLocks noChangeShapeType="1"/>
            </p:cNvSpPr>
            <p:nvPr/>
          </p:nvSpPr>
          <p:spPr bwMode="auto">
            <a:xfrm>
              <a:off x="7605713" y="2793207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7" name="Text Box 70"/>
            <p:cNvSpPr txBox="1">
              <a:spLocks noChangeArrowheads="1"/>
            </p:cNvSpPr>
            <p:nvPr/>
          </p:nvSpPr>
          <p:spPr bwMode="auto">
            <a:xfrm>
              <a:off x="7215188" y="2978944"/>
              <a:ext cx="800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tcp:7700</a:t>
              </a:r>
            </a:p>
          </p:txBody>
        </p:sp>
        <p:sp>
          <p:nvSpPr>
            <p:cNvPr id="48" name="Text Box 73"/>
            <p:cNvSpPr txBox="1">
              <a:spLocks noChangeArrowheads="1"/>
            </p:cNvSpPr>
            <p:nvPr/>
          </p:nvSpPr>
          <p:spPr bwMode="auto">
            <a:xfrm>
              <a:off x="6977063" y="1478757"/>
              <a:ext cx="1185862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7700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8500</a:t>
              </a:r>
            </a:p>
          </p:txBody>
        </p:sp>
        <p:sp>
          <p:nvSpPr>
            <p:cNvPr id="49" name="Oval 74"/>
            <p:cNvSpPr>
              <a:spLocks noChangeArrowheads="1"/>
            </p:cNvSpPr>
            <p:nvPr/>
          </p:nvSpPr>
          <p:spPr bwMode="auto">
            <a:xfrm>
              <a:off x="7540625" y="5357019"/>
              <a:ext cx="142875" cy="155575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grpSp>
          <p:nvGrpSpPr>
            <p:cNvPr id="50" name="Group 76"/>
            <p:cNvGrpSpPr>
              <a:grpSpLocks/>
            </p:cNvGrpSpPr>
            <p:nvPr/>
          </p:nvGrpSpPr>
          <p:grpSpPr bwMode="auto">
            <a:xfrm>
              <a:off x="2368550" y="1959769"/>
              <a:ext cx="933450" cy="782638"/>
              <a:chOff x="639" y="1570"/>
              <a:chExt cx="588" cy="493"/>
            </a:xfrm>
          </p:grpSpPr>
          <p:sp>
            <p:nvSpPr>
              <p:cNvPr id="72" name="Rectangle 77"/>
              <p:cNvSpPr>
                <a:spLocks noChangeArrowheads="1"/>
              </p:cNvSpPr>
              <p:nvPr/>
            </p:nvSpPr>
            <p:spPr bwMode="auto">
              <a:xfrm>
                <a:off x="639" y="1570"/>
                <a:ext cx="588" cy="284"/>
              </a:xfrm>
              <a:prstGeom prst="rect">
                <a:avLst/>
              </a:prstGeom>
              <a:solidFill>
                <a:srgbClr val="DDDDDD">
                  <a:alpha val="85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3" name="Rectangle 78"/>
              <p:cNvSpPr>
                <a:spLocks noChangeArrowheads="1"/>
              </p:cNvSpPr>
              <p:nvPr/>
            </p:nvSpPr>
            <p:spPr bwMode="auto">
              <a:xfrm>
                <a:off x="639" y="1852"/>
                <a:ext cx="588" cy="211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4" name="Text Box 79"/>
              <p:cNvSpPr txBox="1">
                <a:spLocks noChangeArrowheads="1"/>
              </p:cNvSpPr>
              <p:nvPr/>
            </p:nvSpPr>
            <p:spPr bwMode="auto">
              <a:xfrm>
                <a:off x="687" y="1611"/>
                <a:ext cx="49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>
                    <a:solidFill>
                      <a:srgbClr val="000000"/>
                    </a:solidFill>
                    <a:ea typeface="굴림" pitchFamily="50" charset="-127"/>
                  </a:rPr>
                  <a:t>Sender</a:t>
                </a:r>
              </a:p>
            </p:txBody>
          </p:sp>
          <p:sp>
            <p:nvSpPr>
              <p:cNvPr id="75" name="Text Box 80"/>
              <p:cNvSpPr txBox="1">
                <a:spLocks noChangeArrowheads="1"/>
              </p:cNvSpPr>
              <p:nvPr/>
            </p:nvSpPr>
            <p:spPr bwMode="auto">
              <a:xfrm>
                <a:off x="678" y="1868"/>
                <a:ext cx="49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 i="1">
                    <a:solidFill>
                      <a:schemeClr val="tx1"/>
                    </a:solidFill>
                    <a:ea typeface="굴림" pitchFamily="50" charset="-127"/>
                  </a:rPr>
                  <a:t>RV API</a:t>
                </a:r>
              </a:p>
            </p:txBody>
          </p:sp>
        </p:grpSp>
        <p:sp>
          <p:nvSpPr>
            <p:cNvPr id="51" name="AutoShape 81"/>
            <p:cNvSpPr>
              <a:spLocks noChangeArrowheads="1"/>
            </p:cNvSpPr>
            <p:nvPr/>
          </p:nvSpPr>
          <p:spPr bwMode="auto">
            <a:xfrm flipV="1">
              <a:off x="3814763" y="3501232"/>
              <a:ext cx="679450" cy="5667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2" name="Text Box 82"/>
            <p:cNvSpPr txBox="1">
              <a:spLocks noChangeArrowheads="1"/>
            </p:cNvSpPr>
            <p:nvPr/>
          </p:nvSpPr>
          <p:spPr bwMode="auto">
            <a:xfrm>
              <a:off x="3870325" y="3501232"/>
              <a:ext cx="56038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53" name="AutoShape 83"/>
            <p:cNvSpPr>
              <a:spLocks noChangeArrowheads="1"/>
            </p:cNvSpPr>
            <p:nvPr/>
          </p:nvSpPr>
          <p:spPr bwMode="auto">
            <a:xfrm flipV="1">
              <a:off x="5140325" y="3496469"/>
              <a:ext cx="679450" cy="566738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4" name="Text Box 84"/>
            <p:cNvSpPr txBox="1">
              <a:spLocks noChangeArrowheads="1"/>
            </p:cNvSpPr>
            <p:nvPr/>
          </p:nvSpPr>
          <p:spPr bwMode="auto">
            <a:xfrm>
              <a:off x="5195888" y="3496469"/>
              <a:ext cx="56038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55" name="AutoShape 85"/>
            <p:cNvSpPr>
              <a:spLocks noChangeArrowheads="1"/>
            </p:cNvSpPr>
            <p:nvPr/>
          </p:nvSpPr>
          <p:spPr bwMode="auto">
            <a:xfrm flipV="1">
              <a:off x="7267575" y="3504407"/>
              <a:ext cx="679450" cy="5667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6" name="Text Box 86"/>
            <p:cNvSpPr txBox="1">
              <a:spLocks noChangeArrowheads="1"/>
            </p:cNvSpPr>
            <p:nvPr/>
          </p:nvSpPr>
          <p:spPr bwMode="auto">
            <a:xfrm>
              <a:off x="7323138" y="3504407"/>
              <a:ext cx="56038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57" name="Text Box 87"/>
            <p:cNvSpPr txBox="1">
              <a:spLocks noChangeArrowheads="1"/>
            </p:cNvSpPr>
            <p:nvPr/>
          </p:nvSpPr>
          <p:spPr bwMode="auto">
            <a:xfrm>
              <a:off x="6373813" y="3890169"/>
              <a:ext cx="1230312" cy="260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rvd –listen 7600</a:t>
              </a:r>
            </a:p>
          </p:txBody>
        </p:sp>
        <p:sp>
          <p:nvSpPr>
            <p:cNvPr id="58" name="Rectangle 89"/>
            <p:cNvSpPr>
              <a:spLocks noChangeArrowheads="1"/>
            </p:cNvSpPr>
            <p:nvPr/>
          </p:nvSpPr>
          <p:spPr bwMode="auto">
            <a:xfrm>
              <a:off x="3681413" y="1966119"/>
              <a:ext cx="933450" cy="450850"/>
            </a:xfrm>
            <a:prstGeom prst="rect">
              <a:avLst/>
            </a:prstGeom>
            <a:solidFill>
              <a:srgbClr val="008080">
                <a:alpha val="7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9" name="Rectangle 90"/>
            <p:cNvSpPr>
              <a:spLocks noChangeArrowheads="1"/>
            </p:cNvSpPr>
            <p:nvPr/>
          </p:nvSpPr>
          <p:spPr bwMode="auto">
            <a:xfrm>
              <a:off x="3681413" y="2413794"/>
              <a:ext cx="933450" cy="33496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1" name="Text Box 91"/>
            <p:cNvSpPr txBox="1">
              <a:spLocks noChangeArrowheads="1"/>
            </p:cNvSpPr>
            <p:nvPr/>
          </p:nvSpPr>
          <p:spPr bwMode="auto">
            <a:xfrm>
              <a:off x="3746500" y="2031207"/>
              <a:ext cx="8731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rgbClr val="000000"/>
                  </a:solidFill>
                  <a:ea typeface="굴림" pitchFamily="50" charset="-127"/>
                </a:rPr>
                <a:t>Listener</a:t>
              </a:r>
            </a:p>
          </p:txBody>
        </p:sp>
        <p:sp>
          <p:nvSpPr>
            <p:cNvPr id="62" name="Text Box 92"/>
            <p:cNvSpPr txBox="1">
              <a:spLocks noChangeArrowheads="1"/>
            </p:cNvSpPr>
            <p:nvPr/>
          </p:nvSpPr>
          <p:spPr bwMode="auto">
            <a:xfrm>
              <a:off x="3776663" y="2439194"/>
              <a:ext cx="7778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 i="1">
                  <a:solidFill>
                    <a:schemeClr val="tx1"/>
                  </a:solidFill>
                  <a:ea typeface="굴림" pitchFamily="50" charset="-127"/>
                </a:rPr>
                <a:t>RV API</a:t>
              </a:r>
            </a:p>
          </p:txBody>
        </p:sp>
        <p:grpSp>
          <p:nvGrpSpPr>
            <p:cNvPr id="63" name="Group 98"/>
            <p:cNvGrpSpPr>
              <a:grpSpLocks/>
            </p:cNvGrpSpPr>
            <p:nvPr/>
          </p:nvGrpSpPr>
          <p:grpSpPr bwMode="auto">
            <a:xfrm>
              <a:off x="7131050" y="1961361"/>
              <a:ext cx="933450" cy="782638"/>
              <a:chOff x="639" y="1570"/>
              <a:chExt cx="588" cy="493"/>
            </a:xfrm>
          </p:grpSpPr>
          <p:sp>
            <p:nvSpPr>
              <p:cNvPr id="68" name="Rectangle 99"/>
              <p:cNvSpPr>
                <a:spLocks noChangeArrowheads="1"/>
              </p:cNvSpPr>
              <p:nvPr/>
            </p:nvSpPr>
            <p:spPr bwMode="auto">
              <a:xfrm>
                <a:off x="639" y="1570"/>
                <a:ext cx="588" cy="284"/>
              </a:xfrm>
              <a:prstGeom prst="rect">
                <a:avLst/>
              </a:prstGeom>
              <a:solidFill>
                <a:srgbClr val="DDDDDD">
                  <a:alpha val="85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69" name="Rectangle 100"/>
              <p:cNvSpPr>
                <a:spLocks noChangeArrowheads="1"/>
              </p:cNvSpPr>
              <p:nvPr/>
            </p:nvSpPr>
            <p:spPr bwMode="auto">
              <a:xfrm>
                <a:off x="639" y="1852"/>
                <a:ext cx="588" cy="211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0" name="Text Box 101"/>
              <p:cNvSpPr txBox="1">
                <a:spLocks noChangeArrowheads="1"/>
              </p:cNvSpPr>
              <p:nvPr/>
            </p:nvSpPr>
            <p:spPr bwMode="auto">
              <a:xfrm>
                <a:off x="687" y="1611"/>
                <a:ext cx="49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>
                    <a:solidFill>
                      <a:srgbClr val="000000"/>
                    </a:solidFill>
                    <a:ea typeface="굴림" pitchFamily="50" charset="-127"/>
                  </a:rPr>
                  <a:t>Sender</a:t>
                </a:r>
              </a:p>
            </p:txBody>
          </p:sp>
          <p:sp>
            <p:nvSpPr>
              <p:cNvPr id="71" name="Text Box 102"/>
              <p:cNvSpPr txBox="1">
                <a:spLocks noChangeArrowheads="1"/>
              </p:cNvSpPr>
              <p:nvPr/>
            </p:nvSpPr>
            <p:spPr bwMode="auto">
              <a:xfrm>
                <a:off x="678" y="1868"/>
                <a:ext cx="49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 i="1">
                    <a:solidFill>
                      <a:schemeClr val="tx1"/>
                    </a:solidFill>
                    <a:ea typeface="굴림" pitchFamily="50" charset="-127"/>
                  </a:rPr>
                  <a:t>RV API</a:t>
                </a:r>
              </a:p>
            </p:txBody>
          </p:sp>
        </p:grpSp>
        <p:sp>
          <p:nvSpPr>
            <p:cNvPr id="64" name="Rectangle 103"/>
            <p:cNvSpPr>
              <a:spLocks noChangeArrowheads="1"/>
            </p:cNvSpPr>
            <p:nvPr/>
          </p:nvSpPr>
          <p:spPr bwMode="auto">
            <a:xfrm>
              <a:off x="4989513" y="1962944"/>
              <a:ext cx="933450" cy="450850"/>
            </a:xfrm>
            <a:prstGeom prst="rect">
              <a:avLst/>
            </a:prstGeom>
            <a:solidFill>
              <a:srgbClr val="008080">
                <a:alpha val="7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5" name="Rectangle 104"/>
            <p:cNvSpPr>
              <a:spLocks noChangeArrowheads="1"/>
            </p:cNvSpPr>
            <p:nvPr/>
          </p:nvSpPr>
          <p:spPr bwMode="auto">
            <a:xfrm>
              <a:off x="4989513" y="2410619"/>
              <a:ext cx="933450" cy="33496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6" name="Text Box 105"/>
            <p:cNvSpPr txBox="1">
              <a:spLocks noChangeArrowheads="1"/>
            </p:cNvSpPr>
            <p:nvPr/>
          </p:nvSpPr>
          <p:spPr bwMode="auto">
            <a:xfrm>
              <a:off x="5021263" y="2028032"/>
              <a:ext cx="8731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rgbClr val="000000"/>
                  </a:solidFill>
                  <a:ea typeface="굴림" pitchFamily="50" charset="-127"/>
                </a:rPr>
                <a:t>Listener</a:t>
              </a:r>
            </a:p>
          </p:txBody>
        </p:sp>
        <p:sp>
          <p:nvSpPr>
            <p:cNvPr id="67" name="Text Box 106"/>
            <p:cNvSpPr txBox="1">
              <a:spLocks noChangeArrowheads="1"/>
            </p:cNvSpPr>
            <p:nvPr/>
          </p:nvSpPr>
          <p:spPr bwMode="auto">
            <a:xfrm>
              <a:off x="5051425" y="2436019"/>
              <a:ext cx="7778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 i="1">
                  <a:solidFill>
                    <a:schemeClr val="tx1"/>
                  </a:solidFill>
                  <a:ea typeface="굴림" pitchFamily="50" charset="-127"/>
                </a:rPr>
                <a:t>RV API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2500298" y="2857496"/>
            <a:ext cx="38331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/>
              <a:t>감사합니다</a:t>
            </a:r>
            <a:r>
              <a:rPr lang="en-US" altLang="ko-KR" sz="6600" dirty="0"/>
              <a:t>.</a:t>
            </a:r>
            <a:endParaRPr lang="ko-KR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289474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57d717-e82a-4e32-a46f-a1da56d84073" xsi:nil="true"/>
    <_xb9c1__xd06c_ xmlns="099969a0-a67b-4e72-9436-fcdf9fe95d6f">
      <Url xsi:nil="true"/>
      <Description xsi:nil="true"/>
    </_xb9c1__xd06c_>
    <lcf76f155ced4ddcb4097134ff3c332f xmlns="099969a0-a67b-4e72-9436-fcdf9fe95d6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1AB31AD1524274CA67EF487220B3624" ma:contentTypeVersion="16" ma:contentTypeDescription="새 문서를 만듭니다." ma:contentTypeScope="" ma:versionID="03f38e87ddbb59d5b2a79c464b550d19">
  <xsd:schema xmlns:xsd="http://www.w3.org/2001/XMLSchema" xmlns:xs="http://www.w3.org/2001/XMLSchema" xmlns:p="http://schemas.microsoft.com/office/2006/metadata/properties" xmlns:ns2="099969a0-a67b-4e72-9436-fcdf9fe95d6f" xmlns:ns3="1257d717-e82a-4e32-a46f-a1da56d84073" targetNamespace="http://schemas.microsoft.com/office/2006/metadata/properties" ma:root="true" ma:fieldsID="ce71bbbe06a304ad0ac6d0d487ff5c82" ns2:_="" ns3:_="">
    <xsd:import namespace="099969a0-a67b-4e72-9436-fcdf9fe95d6f"/>
    <xsd:import namespace="1257d717-e82a-4e32-a46f-a1da56d840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xb9c1__xd06c_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969a0-a67b-4e72-9436-fcdf9fe95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이미지 태그" ma:readOnly="false" ma:fieldId="{5cf76f15-5ced-4ddc-b409-7134ff3c332f}" ma:taxonomyMulti="true" ma:sspId="eeef45f1-0559-4220-940d-6395fa324f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xb9c1__xd06c_" ma:index="21" nillable="true" ma:displayName="링크" ma:format="Hyperlink" ma:internalName="_xb9c1__xd06c_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57d717-e82a-4e32-a46f-a1da56d8407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aaadfb2-541b-4fa0-9f04-06305f547df5}" ma:internalName="TaxCatchAll" ma:showField="CatchAllData" ma:web="1257d717-e82a-4e32-a46f-a1da56d840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927434-7573-4F18-A278-2B2760C20B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3212AC-D993-41AC-999B-519A816595F5}">
  <ds:schemaRefs>
    <ds:schemaRef ds:uri="http://schemas.microsoft.com/office/2006/metadata/properties"/>
    <ds:schemaRef ds:uri="http://schemas.microsoft.com/office/infopath/2007/PartnerControls"/>
    <ds:schemaRef ds:uri="1257d717-e82a-4e32-a46f-a1da56d84073"/>
    <ds:schemaRef ds:uri="099969a0-a67b-4e72-9436-fcdf9fe95d6f"/>
  </ds:schemaRefs>
</ds:datastoreItem>
</file>

<file path=customXml/itemProps3.xml><?xml version="1.0" encoding="utf-8"?>
<ds:datastoreItem xmlns:ds="http://schemas.openxmlformats.org/officeDocument/2006/customXml" ds:itemID="{4C0A63F3-808B-494E-BC3A-876989E642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9969a0-a67b-4e72-9436-fcdf9fe95d6f"/>
    <ds:schemaRef ds:uri="1257d717-e82a-4e32-a46f-a1da56d840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1295</Words>
  <Application>Microsoft Office PowerPoint</Application>
  <PresentationFormat>화면 슬라이드 쇼(4:3)</PresentationFormat>
  <Paragraphs>323</Paragraphs>
  <Slides>28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29" baseType="lpstr">
      <vt:lpstr>Office 테마</vt:lpstr>
      <vt:lpstr>PowerPoint 프레젠테이션</vt:lpstr>
      <vt:lpstr>PowerPoint 프레젠테이션</vt:lpstr>
      <vt:lpstr>PowerPoint 프레젠테이션</vt:lpstr>
      <vt:lpstr>EAI 란?</vt:lpstr>
      <vt:lpstr>EAI 사용 예</vt:lpstr>
      <vt:lpstr>EAI 란?</vt:lpstr>
      <vt:lpstr>시스템 통합과 MOM 역할</vt:lpstr>
      <vt:lpstr>Rendezvous 필요성</vt:lpstr>
      <vt:lpstr>PowerPoint 프레젠테이션</vt:lpstr>
      <vt:lpstr>Rendezvous 란?</vt:lpstr>
      <vt:lpstr>Rendezvous  특징</vt:lpstr>
      <vt:lpstr>RV 구성</vt:lpstr>
      <vt:lpstr>Rendezvous Daemon (rvd)</vt:lpstr>
      <vt:lpstr>프로토콜</vt:lpstr>
      <vt:lpstr>프로토콜</vt:lpstr>
      <vt:lpstr>RV 브로드캐스팅과 멀티캐스팅</vt:lpstr>
      <vt:lpstr>RV 브로드캐스팅과 멀티캐스팅</vt:lpstr>
      <vt:lpstr>RV 브로드캐스팅과 멀티캐스팅</vt:lpstr>
      <vt:lpstr>데이터 전송 방법</vt:lpstr>
      <vt:lpstr>데이터 전송 방법</vt:lpstr>
      <vt:lpstr>RM 통신</vt:lpstr>
      <vt:lpstr>CM 통신</vt:lpstr>
      <vt:lpstr>RV Transport</vt:lpstr>
      <vt:lpstr>RV Transport</vt:lpstr>
      <vt:lpstr>RV Transport</vt:lpstr>
      <vt:lpstr>RV Transport</vt:lpstr>
      <vt:lpstr>RV 구성 예제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hojin</dc:creator>
  <cp:lastModifiedBy>Joon</cp:lastModifiedBy>
  <cp:revision>119</cp:revision>
  <dcterms:created xsi:type="dcterms:W3CDTF">2014-08-27T08:44:47Z</dcterms:created>
  <dcterms:modified xsi:type="dcterms:W3CDTF">2023-09-25T07:38:10Z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0x01010071AB31AD1524274CA67EF487220B3624</vt:lpwstr>
  </property>
  <property fmtid="{D5CDD505-2E9C-101B-9397-08002B2CF9AE}" pid="3" name="MediaServiceImageTags">
    <vt:lpwstr/>
  </property>
</Properties>
</file>